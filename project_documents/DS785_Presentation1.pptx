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0"/>
    <p:restoredTop sz="60071"/>
  </p:normalViewPr>
  <p:slideViewPr>
    <p:cSldViewPr snapToGrid="0">
      <p:cViewPr varScale="1">
        <p:scale>
          <a:sx n="70" d="100"/>
          <a:sy n="70" d="100"/>
        </p:scale>
        <p:origin x="2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47FE88-6C30-4992-9049-61940BC934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783F8D-00D4-4439-8F64-DFFB7533C346}">
      <dgm:prSet/>
      <dgm:spPr/>
      <dgm:t>
        <a:bodyPr/>
        <a:lstStyle/>
        <a:p>
          <a:r>
            <a:rPr lang="en-US" b="1"/>
            <a:t>The Challenge</a:t>
          </a:r>
          <a:endParaRPr lang="en-US"/>
        </a:p>
      </dgm:t>
    </dgm:pt>
    <dgm:pt modelId="{C87B5ED6-76F2-4A7E-87A5-19AA36944895}" type="parTrans" cxnId="{D18AA8A2-ECB1-4B3D-8AA6-09D86C20297A}">
      <dgm:prSet/>
      <dgm:spPr/>
      <dgm:t>
        <a:bodyPr/>
        <a:lstStyle/>
        <a:p>
          <a:endParaRPr lang="en-US"/>
        </a:p>
      </dgm:t>
    </dgm:pt>
    <dgm:pt modelId="{EFF4B8AB-4E57-4828-9571-B8631629A1B9}" type="sibTrans" cxnId="{D18AA8A2-ECB1-4B3D-8AA6-09D86C20297A}">
      <dgm:prSet/>
      <dgm:spPr/>
      <dgm:t>
        <a:bodyPr/>
        <a:lstStyle/>
        <a:p>
          <a:endParaRPr lang="en-US"/>
        </a:p>
      </dgm:t>
    </dgm:pt>
    <dgm:pt modelId="{C0B233DF-8441-4D49-A8A7-FF2E71888447}">
      <dgm:prSet/>
      <dgm:spPr/>
      <dgm:t>
        <a:bodyPr/>
        <a:lstStyle/>
        <a:p>
          <a:r>
            <a:rPr lang="en-US" dirty="0"/>
            <a:t>Valuable product feedback exists primarily as unstructured text</a:t>
          </a:r>
        </a:p>
      </dgm:t>
    </dgm:pt>
    <dgm:pt modelId="{E3468B90-3168-47B5-8BEC-7332307EC28D}" type="parTrans" cxnId="{67D8A971-9F19-4BBD-871A-2D50AB841A7D}">
      <dgm:prSet/>
      <dgm:spPr/>
      <dgm:t>
        <a:bodyPr/>
        <a:lstStyle/>
        <a:p>
          <a:endParaRPr lang="en-US"/>
        </a:p>
      </dgm:t>
    </dgm:pt>
    <dgm:pt modelId="{D3BCDC87-50C6-4805-9B02-77D40EC09BF8}" type="sibTrans" cxnId="{67D8A971-9F19-4BBD-871A-2D50AB841A7D}">
      <dgm:prSet/>
      <dgm:spPr/>
      <dgm:t>
        <a:bodyPr/>
        <a:lstStyle/>
        <a:p>
          <a:endParaRPr lang="en-US"/>
        </a:p>
      </dgm:t>
    </dgm:pt>
    <dgm:pt modelId="{5F2C1A97-55F8-4C8A-8C10-05ECA23AD8AD}">
      <dgm:prSet/>
      <dgm:spPr/>
      <dgm:t>
        <a:bodyPr/>
        <a:lstStyle/>
        <a:p>
          <a:r>
            <a:rPr lang="en-US" dirty="0"/>
            <a:t>Hundreds of reviews make manual analysis difficult and time-consuming </a:t>
          </a:r>
        </a:p>
      </dgm:t>
    </dgm:pt>
    <dgm:pt modelId="{EDB027F8-6AC4-46B1-949B-9E5EF963A691}" type="parTrans" cxnId="{41740DA2-29FB-4EFD-B68D-9FF44710051B}">
      <dgm:prSet/>
      <dgm:spPr/>
      <dgm:t>
        <a:bodyPr/>
        <a:lstStyle/>
        <a:p>
          <a:endParaRPr lang="en-US"/>
        </a:p>
      </dgm:t>
    </dgm:pt>
    <dgm:pt modelId="{2941F704-1298-487B-83BE-C0B7B03130FF}" type="sibTrans" cxnId="{41740DA2-29FB-4EFD-B68D-9FF44710051B}">
      <dgm:prSet/>
      <dgm:spPr/>
      <dgm:t>
        <a:bodyPr/>
        <a:lstStyle/>
        <a:p>
          <a:endParaRPr lang="en-US"/>
        </a:p>
      </dgm:t>
    </dgm:pt>
    <dgm:pt modelId="{EE215934-C0A9-452B-9140-27012EF63B7C}">
      <dgm:prSet/>
      <dgm:spPr/>
      <dgm:t>
        <a:bodyPr/>
        <a:lstStyle/>
        <a:p>
          <a:r>
            <a:rPr lang="en-US" dirty="0"/>
            <a:t>Product strengths, weaknesses, and trends can be difficult to identify consistently</a:t>
          </a:r>
        </a:p>
      </dgm:t>
    </dgm:pt>
    <dgm:pt modelId="{A643D6C0-E9EA-4818-894E-D549B6E506ED}" type="parTrans" cxnId="{015087C6-3D1E-4854-8F99-D842496D9CF7}">
      <dgm:prSet/>
      <dgm:spPr/>
      <dgm:t>
        <a:bodyPr/>
        <a:lstStyle/>
        <a:p>
          <a:endParaRPr lang="en-US"/>
        </a:p>
      </dgm:t>
    </dgm:pt>
    <dgm:pt modelId="{B13625CA-2D6A-49D1-9D6C-E500195F7D3E}" type="sibTrans" cxnId="{015087C6-3D1E-4854-8F99-D842496D9CF7}">
      <dgm:prSet/>
      <dgm:spPr/>
      <dgm:t>
        <a:bodyPr/>
        <a:lstStyle/>
        <a:p>
          <a:endParaRPr lang="en-US"/>
        </a:p>
      </dgm:t>
    </dgm:pt>
    <dgm:pt modelId="{A30E5A47-C331-4864-8CE0-48ED4CA9EA0A}">
      <dgm:prSet/>
      <dgm:spPr/>
      <dgm:t>
        <a:bodyPr/>
        <a:lstStyle/>
        <a:p>
          <a:r>
            <a:rPr lang="en-US" b="1"/>
            <a:t>Business Need</a:t>
          </a:r>
          <a:endParaRPr lang="en-US"/>
        </a:p>
      </dgm:t>
    </dgm:pt>
    <dgm:pt modelId="{A5521692-A830-4DFD-A8D0-8D7BD7A2B9D8}" type="parTrans" cxnId="{DE9C04A2-FAFB-4556-9369-C7611AC4C731}">
      <dgm:prSet/>
      <dgm:spPr/>
      <dgm:t>
        <a:bodyPr/>
        <a:lstStyle/>
        <a:p>
          <a:endParaRPr lang="en-US"/>
        </a:p>
      </dgm:t>
    </dgm:pt>
    <dgm:pt modelId="{BA6BF100-6A4C-48CB-B339-3CDA40F39A5D}" type="sibTrans" cxnId="{DE9C04A2-FAFB-4556-9369-C7611AC4C731}">
      <dgm:prSet/>
      <dgm:spPr/>
      <dgm:t>
        <a:bodyPr/>
        <a:lstStyle/>
        <a:p>
          <a:endParaRPr lang="en-US"/>
        </a:p>
      </dgm:t>
    </dgm:pt>
    <dgm:pt modelId="{6083A449-B186-459A-9B43-BAFC587728CE}">
      <dgm:prSet/>
      <dgm:spPr/>
      <dgm:t>
        <a:bodyPr/>
        <a:lstStyle/>
        <a:p>
          <a:r>
            <a:rPr lang="en-US"/>
            <a:t>Support product development decisions </a:t>
          </a:r>
        </a:p>
      </dgm:t>
    </dgm:pt>
    <dgm:pt modelId="{CE11BF5F-0338-4507-A939-9E23B5E4943B}" type="parTrans" cxnId="{39A1B3E0-E4A0-4489-8A39-B9E63DEAF319}">
      <dgm:prSet/>
      <dgm:spPr/>
      <dgm:t>
        <a:bodyPr/>
        <a:lstStyle/>
        <a:p>
          <a:endParaRPr lang="en-US"/>
        </a:p>
      </dgm:t>
    </dgm:pt>
    <dgm:pt modelId="{6200FA99-C4E7-46C2-97A1-DF701B9DE3D7}" type="sibTrans" cxnId="{39A1B3E0-E4A0-4489-8A39-B9E63DEAF319}">
      <dgm:prSet/>
      <dgm:spPr/>
      <dgm:t>
        <a:bodyPr/>
        <a:lstStyle/>
        <a:p>
          <a:endParaRPr lang="en-US"/>
        </a:p>
      </dgm:t>
    </dgm:pt>
    <dgm:pt modelId="{3EB0EC03-796C-47D3-948C-8117BED87333}">
      <dgm:prSet/>
      <dgm:spPr/>
      <dgm:t>
        <a:bodyPr/>
        <a:lstStyle/>
        <a:p>
          <a:r>
            <a:rPr lang="en-US"/>
            <a:t>Inform marketing strategy </a:t>
          </a:r>
        </a:p>
      </dgm:t>
    </dgm:pt>
    <dgm:pt modelId="{9594157C-B019-4D1B-86F4-8982F49B335C}" type="parTrans" cxnId="{0F7AB12E-41A3-45EF-A29A-1AA5015B943E}">
      <dgm:prSet/>
      <dgm:spPr/>
      <dgm:t>
        <a:bodyPr/>
        <a:lstStyle/>
        <a:p>
          <a:endParaRPr lang="en-US"/>
        </a:p>
      </dgm:t>
    </dgm:pt>
    <dgm:pt modelId="{B4EEAEAC-73DD-48C9-8ECF-DE74CEB73E90}" type="sibTrans" cxnId="{0F7AB12E-41A3-45EF-A29A-1AA5015B943E}">
      <dgm:prSet/>
      <dgm:spPr/>
      <dgm:t>
        <a:bodyPr/>
        <a:lstStyle/>
        <a:p>
          <a:endParaRPr lang="en-US"/>
        </a:p>
      </dgm:t>
    </dgm:pt>
    <dgm:pt modelId="{B4A2E857-6BB0-442E-AA91-D20F235F51AA}">
      <dgm:prSet/>
      <dgm:spPr/>
      <dgm:t>
        <a:bodyPr/>
        <a:lstStyle/>
        <a:p>
          <a:r>
            <a:rPr lang="en-US"/>
            <a:t>Enable competitive product analysis </a:t>
          </a:r>
        </a:p>
      </dgm:t>
    </dgm:pt>
    <dgm:pt modelId="{44918CB3-2110-4F70-AAE6-9560D21A85BA}" type="parTrans" cxnId="{FD90899C-D81F-4F04-8A1E-B770B1F47326}">
      <dgm:prSet/>
      <dgm:spPr/>
      <dgm:t>
        <a:bodyPr/>
        <a:lstStyle/>
        <a:p>
          <a:endParaRPr lang="en-US"/>
        </a:p>
      </dgm:t>
    </dgm:pt>
    <dgm:pt modelId="{87C9CBBE-3859-44D1-962E-B9F3407185BA}" type="sibTrans" cxnId="{FD90899C-D81F-4F04-8A1E-B770B1F47326}">
      <dgm:prSet/>
      <dgm:spPr/>
      <dgm:t>
        <a:bodyPr/>
        <a:lstStyle/>
        <a:p>
          <a:endParaRPr lang="en-US"/>
        </a:p>
      </dgm:t>
    </dgm:pt>
    <dgm:pt modelId="{E79FFE59-3A84-4BDC-A2C8-9BACAF4213D4}">
      <dgm:prSet/>
      <dgm:spPr/>
      <dgm:t>
        <a:bodyPr/>
        <a:lstStyle/>
        <a:p>
          <a:r>
            <a:rPr lang="en-US"/>
            <a:t>Identify recurring strengths and weaknesses </a:t>
          </a:r>
        </a:p>
      </dgm:t>
    </dgm:pt>
    <dgm:pt modelId="{A6A18BE6-E8BE-461F-8B09-7BEF1B3C7EB8}" type="parTrans" cxnId="{A31AD043-DCC0-4F35-928F-1613EB2E765A}">
      <dgm:prSet/>
      <dgm:spPr/>
      <dgm:t>
        <a:bodyPr/>
        <a:lstStyle/>
        <a:p>
          <a:endParaRPr lang="en-US"/>
        </a:p>
      </dgm:t>
    </dgm:pt>
    <dgm:pt modelId="{8A34F074-BC74-41C3-9D62-892C2A146094}" type="sibTrans" cxnId="{A31AD043-DCC0-4F35-928F-1613EB2E765A}">
      <dgm:prSet/>
      <dgm:spPr/>
      <dgm:t>
        <a:bodyPr/>
        <a:lstStyle/>
        <a:p>
          <a:endParaRPr lang="en-US"/>
        </a:p>
      </dgm:t>
    </dgm:pt>
    <dgm:pt modelId="{A8B0A86B-AE18-8B4C-B2EF-BE2F68C79A91}" type="pres">
      <dgm:prSet presAssocID="{5847FE88-6C30-4992-9049-61940BC93426}" presName="linear" presStyleCnt="0">
        <dgm:presLayoutVars>
          <dgm:animLvl val="lvl"/>
          <dgm:resizeHandles val="exact"/>
        </dgm:presLayoutVars>
      </dgm:prSet>
      <dgm:spPr/>
    </dgm:pt>
    <dgm:pt modelId="{7B5EB468-85C2-4047-A72F-5573E86BA86B}" type="pres">
      <dgm:prSet presAssocID="{00783F8D-00D4-4439-8F64-DFFB7533C34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9AE0EF0-7032-9C44-BE9D-74E14787ECD5}" type="pres">
      <dgm:prSet presAssocID="{00783F8D-00D4-4439-8F64-DFFB7533C346}" presName="childText" presStyleLbl="revTx" presStyleIdx="0" presStyleCnt="2">
        <dgm:presLayoutVars>
          <dgm:bulletEnabled val="1"/>
        </dgm:presLayoutVars>
      </dgm:prSet>
      <dgm:spPr/>
    </dgm:pt>
    <dgm:pt modelId="{63818F1A-C819-C245-9B92-5ABD01D49938}" type="pres">
      <dgm:prSet presAssocID="{A30E5A47-C331-4864-8CE0-48ED4CA9EA0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B403518-7635-7D42-8C17-634A7F54FED3}" type="pres">
      <dgm:prSet presAssocID="{A30E5A47-C331-4864-8CE0-48ED4CA9EA0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82D7E01-68BE-D646-91C9-CFC88DDA201E}" type="presOf" srcId="{C0B233DF-8441-4D49-A8A7-FF2E71888447}" destId="{E9AE0EF0-7032-9C44-BE9D-74E14787ECD5}" srcOrd="0" destOrd="0" presId="urn:microsoft.com/office/officeart/2005/8/layout/vList2"/>
    <dgm:cxn modelId="{AE94E011-2634-C849-81F5-5D20ABB57F61}" type="presOf" srcId="{6083A449-B186-459A-9B43-BAFC587728CE}" destId="{DB403518-7635-7D42-8C17-634A7F54FED3}" srcOrd="0" destOrd="0" presId="urn:microsoft.com/office/officeart/2005/8/layout/vList2"/>
    <dgm:cxn modelId="{6F943E22-1FA5-1843-A14C-C931CB4D2E6A}" type="presOf" srcId="{E79FFE59-3A84-4BDC-A2C8-9BACAF4213D4}" destId="{DB403518-7635-7D42-8C17-634A7F54FED3}" srcOrd="0" destOrd="3" presId="urn:microsoft.com/office/officeart/2005/8/layout/vList2"/>
    <dgm:cxn modelId="{0F7AB12E-41A3-45EF-A29A-1AA5015B943E}" srcId="{A30E5A47-C331-4864-8CE0-48ED4CA9EA0A}" destId="{3EB0EC03-796C-47D3-948C-8117BED87333}" srcOrd="1" destOrd="0" parTransId="{9594157C-B019-4D1B-86F4-8982F49B335C}" sibTransId="{B4EEAEAC-73DD-48C9-8ECF-DE74CEB73E90}"/>
    <dgm:cxn modelId="{5ADAB639-FADC-0D4E-A3C5-917B1C4CED75}" type="presOf" srcId="{5847FE88-6C30-4992-9049-61940BC93426}" destId="{A8B0A86B-AE18-8B4C-B2EF-BE2F68C79A91}" srcOrd="0" destOrd="0" presId="urn:microsoft.com/office/officeart/2005/8/layout/vList2"/>
    <dgm:cxn modelId="{A31AD043-DCC0-4F35-928F-1613EB2E765A}" srcId="{A30E5A47-C331-4864-8CE0-48ED4CA9EA0A}" destId="{E79FFE59-3A84-4BDC-A2C8-9BACAF4213D4}" srcOrd="3" destOrd="0" parTransId="{A6A18BE6-E8BE-461F-8B09-7BEF1B3C7EB8}" sibTransId="{8A34F074-BC74-41C3-9D62-892C2A146094}"/>
    <dgm:cxn modelId="{D0918A59-6697-5449-B887-BC5E8CC43780}" type="presOf" srcId="{5F2C1A97-55F8-4C8A-8C10-05ECA23AD8AD}" destId="{E9AE0EF0-7032-9C44-BE9D-74E14787ECD5}" srcOrd="0" destOrd="1" presId="urn:microsoft.com/office/officeart/2005/8/layout/vList2"/>
    <dgm:cxn modelId="{D1A4216D-9C92-C842-A95F-7634517B2D49}" type="presOf" srcId="{A30E5A47-C331-4864-8CE0-48ED4CA9EA0A}" destId="{63818F1A-C819-C245-9B92-5ABD01D49938}" srcOrd="0" destOrd="0" presId="urn:microsoft.com/office/officeart/2005/8/layout/vList2"/>
    <dgm:cxn modelId="{67D8A971-9F19-4BBD-871A-2D50AB841A7D}" srcId="{00783F8D-00D4-4439-8F64-DFFB7533C346}" destId="{C0B233DF-8441-4D49-A8A7-FF2E71888447}" srcOrd="0" destOrd="0" parTransId="{E3468B90-3168-47B5-8BEC-7332307EC28D}" sibTransId="{D3BCDC87-50C6-4805-9B02-77D40EC09BF8}"/>
    <dgm:cxn modelId="{FFB2B48D-598A-AA47-B25B-9DA4DE199E3A}" type="presOf" srcId="{00783F8D-00D4-4439-8F64-DFFB7533C346}" destId="{7B5EB468-85C2-4047-A72F-5573E86BA86B}" srcOrd="0" destOrd="0" presId="urn:microsoft.com/office/officeart/2005/8/layout/vList2"/>
    <dgm:cxn modelId="{FD90899C-D81F-4F04-8A1E-B770B1F47326}" srcId="{A30E5A47-C331-4864-8CE0-48ED4CA9EA0A}" destId="{B4A2E857-6BB0-442E-AA91-D20F235F51AA}" srcOrd="2" destOrd="0" parTransId="{44918CB3-2110-4F70-AAE6-9560D21A85BA}" sibTransId="{87C9CBBE-3859-44D1-962E-B9F3407185BA}"/>
    <dgm:cxn modelId="{DE9C04A2-FAFB-4556-9369-C7611AC4C731}" srcId="{5847FE88-6C30-4992-9049-61940BC93426}" destId="{A30E5A47-C331-4864-8CE0-48ED4CA9EA0A}" srcOrd="1" destOrd="0" parTransId="{A5521692-A830-4DFD-A8D0-8D7BD7A2B9D8}" sibTransId="{BA6BF100-6A4C-48CB-B339-3CDA40F39A5D}"/>
    <dgm:cxn modelId="{41740DA2-29FB-4EFD-B68D-9FF44710051B}" srcId="{00783F8D-00D4-4439-8F64-DFFB7533C346}" destId="{5F2C1A97-55F8-4C8A-8C10-05ECA23AD8AD}" srcOrd="1" destOrd="0" parTransId="{EDB027F8-6AC4-46B1-949B-9E5EF963A691}" sibTransId="{2941F704-1298-487B-83BE-C0B7B03130FF}"/>
    <dgm:cxn modelId="{D18AA8A2-ECB1-4B3D-8AA6-09D86C20297A}" srcId="{5847FE88-6C30-4992-9049-61940BC93426}" destId="{00783F8D-00D4-4439-8F64-DFFB7533C346}" srcOrd="0" destOrd="0" parTransId="{C87B5ED6-76F2-4A7E-87A5-19AA36944895}" sibTransId="{EFF4B8AB-4E57-4828-9571-B8631629A1B9}"/>
    <dgm:cxn modelId="{1188B4B0-9F05-0949-990A-BD1B07F6F310}" type="presOf" srcId="{3EB0EC03-796C-47D3-948C-8117BED87333}" destId="{DB403518-7635-7D42-8C17-634A7F54FED3}" srcOrd="0" destOrd="1" presId="urn:microsoft.com/office/officeart/2005/8/layout/vList2"/>
    <dgm:cxn modelId="{015087C6-3D1E-4854-8F99-D842496D9CF7}" srcId="{00783F8D-00D4-4439-8F64-DFFB7533C346}" destId="{EE215934-C0A9-452B-9140-27012EF63B7C}" srcOrd="2" destOrd="0" parTransId="{A643D6C0-E9EA-4818-894E-D549B6E506ED}" sibTransId="{B13625CA-2D6A-49D1-9D6C-E500195F7D3E}"/>
    <dgm:cxn modelId="{516E90D9-FD15-584A-9026-804E81FBA8B6}" type="presOf" srcId="{EE215934-C0A9-452B-9140-27012EF63B7C}" destId="{E9AE0EF0-7032-9C44-BE9D-74E14787ECD5}" srcOrd="0" destOrd="2" presId="urn:microsoft.com/office/officeart/2005/8/layout/vList2"/>
    <dgm:cxn modelId="{39A1B3E0-E4A0-4489-8A39-B9E63DEAF319}" srcId="{A30E5A47-C331-4864-8CE0-48ED4CA9EA0A}" destId="{6083A449-B186-459A-9B43-BAFC587728CE}" srcOrd="0" destOrd="0" parTransId="{CE11BF5F-0338-4507-A939-9E23B5E4943B}" sibTransId="{6200FA99-C4E7-46C2-97A1-DF701B9DE3D7}"/>
    <dgm:cxn modelId="{154E0CF0-FA07-8745-AEB9-991E6592F307}" type="presOf" srcId="{B4A2E857-6BB0-442E-AA91-D20F235F51AA}" destId="{DB403518-7635-7D42-8C17-634A7F54FED3}" srcOrd="0" destOrd="2" presId="urn:microsoft.com/office/officeart/2005/8/layout/vList2"/>
    <dgm:cxn modelId="{388A4D63-B887-6B46-8509-E2DF3EDB11C7}" type="presParOf" srcId="{A8B0A86B-AE18-8B4C-B2EF-BE2F68C79A91}" destId="{7B5EB468-85C2-4047-A72F-5573E86BA86B}" srcOrd="0" destOrd="0" presId="urn:microsoft.com/office/officeart/2005/8/layout/vList2"/>
    <dgm:cxn modelId="{786F7A23-61C8-E64A-943D-679B30965DFC}" type="presParOf" srcId="{A8B0A86B-AE18-8B4C-B2EF-BE2F68C79A91}" destId="{E9AE0EF0-7032-9C44-BE9D-74E14787ECD5}" srcOrd="1" destOrd="0" presId="urn:microsoft.com/office/officeart/2005/8/layout/vList2"/>
    <dgm:cxn modelId="{43B26033-8FA7-184D-A68C-0C49A98B9882}" type="presParOf" srcId="{A8B0A86B-AE18-8B4C-B2EF-BE2F68C79A91}" destId="{63818F1A-C819-C245-9B92-5ABD01D49938}" srcOrd="2" destOrd="0" presId="urn:microsoft.com/office/officeart/2005/8/layout/vList2"/>
    <dgm:cxn modelId="{6FAFA136-7F16-384C-879E-48B4ED5C6320}" type="presParOf" srcId="{A8B0A86B-AE18-8B4C-B2EF-BE2F68C79A91}" destId="{DB403518-7635-7D42-8C17-634A7F54FED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B6A127-5332-49B6-B8E5-D275037F40C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7F1F3E-16F2-4227-A422-65FB61BE9F2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/>
            <a:t>Riders rely on professional reviews when evaluating products. </a:t>
          </a:r>
        </a:p>
      </dgm:t>
    </dgm:pt>
    <dgm:pt modelId="{16EF5C25-63D6-4186-8D91-3CBF8FB34435}" type="parTrans" cxnId="{10225E51-6CD8-463C-AD28-A5193F0E96D9}">
      <dgm:prSet/>
      <dgm:spPr/>
      <dgm:t>
        <a:bodyPr/>
        <a:lstStyle/>
        <a:p>
          <a:endParaRPr lang="en-US"/>
        </a:p>
      </dgm:t>
    </dgm:pt>
    <dgm:pt modelId="{017A06F5-9CCE-45A3-9856-3C05C406F5DC}" type="sibTrans" cxnId="{10225E51-6CD8-463C-AD28-A5193F0E96D9}">
      <dgm:prSet/>
      <dgm:spPr/>
      <dgm:t>
        <a:bodyPr/>
        <a:lstStyle/>
        <a:p>
          <a:endParaRPr lang="en-US"/>
        </a:p>
      </dgm:t>
    </dgm:pt>
    <dgm:pt modelId="{F7A77548-9FDD-4FA8-B57C-A230D93A562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/>
            <a:t>Manufacturers use feedback to guide product development. </a:t>
          </a:r>
        </a:p>
      </dgm:t>
    </dgm:pt>
    <dgm:pt modelId="{8E21A2F2-FBB9-4FC1-B1E8-8B55A03B6FA9}" type="parTrans" cxnId="{A479D106-638B-44E6-8004-6A78EBC55268}">
      <dgm:prSet/>
      <dgm:spPr/>
      <dgm:t>
        <a:bodyPr/>
        <a:lstStyle/>
        <a:p>
          <a:endParaRPr lang="en-US"/>
        </a:p>
      </dgm:t>
    </dgm:pt>
    <dgm:pt modelId="{0F11FADA-0472-490F-AD72-79D440FC1DAB}" type="sibTrans" cxnId="{A479D106-638B-44E6-8004-6A78EBC55268}">
      <dgm:prSet/>
      <dgm:spPr/>
      <dgm:t>
        <a:bodyPr/>
        <a:lstStyle/>
        <a:p>
          <a:endParaRPr lang="en-US"/>
        </a:p>
      </dgm:t>
    </dgm:pt>
    <dgm:pt modelId="{D125C2A6-7539-4790-896C-669322B1576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/>
            <a:t>Retailers benefit from understanding consumer preferences and market trends. </a:t>
          </a:r>
        </a:p>
      </dgm:t>
    </dgm:pt>
    <dgm:pt modelId="{ED5CD981-EFAA-4CFC-97E5-C9BF5A397613}" type="parTrans" cxnId="{176DC2A4-4BAA-40C9-9D29-2CA67DC7FEF4}">
      <dgm:prSet/>
      <dgm:spPr/>
      <dgm:t>
        <a:bodyPr/>
        <a:lstStyle/>
        <a:p>
          <a:endParaRPr lang="en-US"/>
        </a:p>
      </dgm:t>
    </dgm:pt>
    <dgm:pt modelId="{77453DF4-3E96-400E-B9A3-3BE408CE50DC}" type="sibTrans" cxnId="{176DC2A4-4BAA-40C9-9D29-2CA67DC7FEF4}">
      <dgm:prSet/>
      <dgm:spPr/>
      <dgm:t>
        <a:bodyPr/>
        <a:lstStyle/>
        <a:p>
          <a:endParaRPr lang="en-US"/>
        </a:p>
      </dgm:t>
    </dgm:pt>
    <dgm:pt modelId="{13F4B48C-687D-480F-9EE8-57683D9E9B5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/>
            <a:t>Growing review volume creates opportunities for data-driven analysis.</a:t>
          </a:r>
        </a:p>
      </dgm:t>
    </dgm:pt>
    <dgm:pt modelId="{0214EDDB-8A87-499F-99B5-3F215E3EBA88}" type="parTrans" cxnId="{F369935E-5A52-4E3C-BC3D-D37687786FC5}">
      <dgm:prSet/>
      <dgm:spPr/>
      <dgm:t>
        <a:bodyPr/>
        <a:lstStyle/>
        <a:p>
          <a:endParaRPr lang="en-US"/>
        </a:p>
      </dgm:t>
    </dgm:pt>
    <dgm:pt modelId="{A1809A22-C543-4621-B829-B97D723052F5}" type="sibTrans" cxnId="{F369935E-5A52-4E3C-BC3D-D37687786FC5}">
      <dgm:prSet/>
      <dgm:spPr/>
      <dgm:t>
        <a:bodyPr/>
        <a:lstStyle/>
        <a:p>
          <a:endParaRPr lang="en-US"/>
        </a:p>
      </dgm:t>
    </dgm:pt>
    <dgm:pt modelId="{76D80CED-730A-4C67-8C36-3F4D52D3D5FB}" type="pres">
      <dgm:prSet presAssocID="{9DB6A127-5332-49B6-B8E5-D275037F40C1}" presName="root" presStyleCnt="0">
        <dgm:presLayoutVars>
          <dgm:dir/>
          <dgm:resizeHandles val="exact"/>
        </dgm:presLayoutVars>
      </dgm:prSet>
      <dgm:spPr/>
    </dgm:pt>
    <dgm:pt modelId="{50F3DFCE-2E27-4E4D-A2B6-18038646C58B}" type="pres">
      <dgm:prSet presAssocID="{3E7F1F3E-16F2-4227-A422-65FB61BE9F26}" presName="compNode" presStyleCnt="0"/>
      <dgm:spPr/>
    </dgm:pt>
    <dgm:pt modelId="{61CD67C8-0D0B-40AE-86E5-CC8140699CF2}" type="pres">
      <dgm:prSet presAssocID="{3E7F1F3E-16F2-4227-A422-65FB61BE9F2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torcycle"/>
        </a:ext>
      </dgm:extLst>
    </dgm:pt>
    <dgm:pt modelId="{E1B7B0D8-6E60-4738-B93C-9E48FA6C6BAB}" type="pres">
      <dgm:prSet presAssocID="{3E7F1F3E-16F2-4227-A422-65FB61BE9F26}" presName="spaceRect" presStyleCnt="0"/>
      <dgm:spPr/>
    </dgm:pt>
    <dgm:pt modelId="{5924FB3F-AB1B-4AFD-8FC0-88D856B21CA5}" type="pres">
      <dgm:prSet presAssocID="{3E7F1F3E-16F2-4227-A422-65FB61BE9F26}" presName="textRect" presStyleLbl="revTx" presStyleIdx="0" presStyleCnt="4">
        <dgm:presLayoutVars>
          <dgm:chMax val="1"/>
          <dgm:chPref val="1"/>
        </dgm:presLayoutVars>
      </dgm:prSet>
      <dgm:spPr/>
    </dgm:pt>
    <dgm:pt modelId="{7D7B1343-92AF-4B8C-B93A-2E9DF8D035A5}" type="pres">
      <dgm:prSet presAssocID="{017A06F5-9CCE-45A3-9856-3C05C406F5DC}" presName="sibTrans" presStyleCnt="0"/>
      <dgm:spPr/>
    </dgm:pt>
    <dgm:pt modelId="{94E014E6-4479-3C47-8077-6F8F83958F95}" type="pres">
      <dgm:prSet presAssocID="{F7A77548-9FDD-4FA8-B57C-A230D93A5625}" presName="compNode" presStyleCnt="0"/>
      <dgm:spPr/>
    </dgm:pt>
    <dgm:pt modelId="{29F75831-7C3C-7A43-B408-191136CED3EA}" type="pres">
      <dgm:prSet presAssocID="{F7A77548-9FDD-4FA8-B57C-A230D93A562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9990F536-FFA9-1949-8C6F-3061B7A38B6D}" type="pres">
      <dgm:prSet presAssocID="{F7A77548-9FDD-4FA8-B57C-A230D93A5625}" presName="spaceRect" presStyleCnt="0"/>
      <dgm:spPr/>
    </dgm:pt>
    <dgm:pt modelId="{3A927D1E-BC89-664B-B284-B01C6AE9CDA3}" type="pres">
      <dgm:prSet presAssocID="{F7A77548-9FDD-4FA8-B57C-A230D93A5625}" presName="textRect" presStyleLbl="revTx" presStyleIdx="1" presStyleCnt="4">
        <dgm:presLayoutVars>
          <dgm:chMax val="1"/>
          <dgm:chPref val="1"/>
        </dgm:presLayoutVars>
      </dgm:prSet>
      <dgm:spPr/>
    </dgm:pt>
    <dgm:pt modelId="{817D1E23-88CE-0548-B02B-9401E1859871}" type="pres">
      <dgm:prSet presAssocID="{0F11FADA-0472-490F-AD72-79D440FC1DAB}" presName="sibTrans" presStyleCnt="0"/>
      <dgm:spPr/>
    </dgm:pt>
    <dgm:pt modelId="{631C2923-8B48-4EE2-A8C8-771806C99269}" type="pres">
      <dgm:prSet presAssocID="{13F4B48C-687D-480F-9EE8-57683D9E9B5E}" presName="compNode" presStyleCnt="0"/>
      <dgm:spPr/>
    </dgm:pt>
    <dgm:pt modelId="{713797DA-6B1B-41FE-BF23-5C867F561519}" type="pres">
      <dgm:prSet presAssocID="{13F4B48C-687D-480F-9EE8-57683D9E9B5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D923B3C-03AC-4B9F-9E43-02CBE4FE8947}" type="pres">
      <dgm:prSet presAssocID="{13F4B48C-687D-480F-9EE8-57683D9E9B5E}" presName="spaceRect" presStyleCnt="0"/>
      <dgm:spPr/>
    </dgm:pt>
    <dgm:pt modelId="{1CBE030F-00E8-4E7A-92AF-D6A48DFA22AF}" type="pres">
      <dgm:prSet presAssocID="{13F4B48C-687D-480F-9EE8-57683D9E9B5E}" presName="textRect" presStyleLbl="revTx" presStyleIdx="2" presStyleCnt="4">
        <dgm:presLayoutVars>
          <dgm:chMax val="1"/>
          <dgm:chPref val="1"/>
        </dgm:presLayoutVars>
      </dgm:prSet>
      <dgm:spPr/>
    </dgm:pt>
    <dgm:pt modelId="{6B8232E0-F5B2-B44E-B4F3-21A8D3CCBB20}" type="pres">
      <dgm:prSet presAssocID="{A1809A22-C543-4621-B829-B97D723052F5}" presName="sibTrans" presStyleCnt="0"/>
      <dgm:spPr/>
    </dgm:pt>
    <dgm:pt modelId="{5483E0A6-198A-40D3-9FC2-0EC9460FBF0F}" type="pres">
      <dgm:prSet presAssocID="{D125C2A6-7539-4790-896C-669322B1576D}" presName="compNode" presStyleCnt="0"/>
      <dgm:spPr/>
    </dgm:pt>
    <dgm:pt modelId="{41A6284F-D099-4064-8C64-64050C07950F}" type="pres">
      <dgm:prSet presAssocID="{D125C2A6-7539-4790-896C-669322B1576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EBC34E83-E34C-4159-848B-C50DAF2F69DD}" type="pres">
      <dgm:prSet presAssocID="{D125C2A6-7539-4790-896C-669322B1576D}" presName="spaceRect" presStyleCnt="0"/>
      <dgm:spPr/>
    </dgm:pt>
    <dgm:pt modelId="{3B12149E-7B2D-49F6-9922-3495CC905CEE}" type="pres">
      <dgm:prSet presAssocID="{D125C2A6-7539-4790-896C-669322B1576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479D106-638B-44E6-8004-6A78EBC55268}" srcId="{9DB6A127-5332-49B6-B8E5-D275037F40C1}" destId="{F7A77548-9FDD-4FA8-B57C-A230D93A5625}" srcOrd="1" destOrd="0" parTransId="{8E21A2F2-FBB9-4FC1-B1E8-8B55A03B6FA9}" sibTransId="{0F11FADA-0472-490F-AD72-79D440FC1DAB}"/>
    <dgm:cxn modelId="{EFC21843-C45A-E24D-9C9E-3C46865D1188}" type="presOf" srcId="{D125C2A6-7539-4790-896C-669322B1576D}" destId="{3B12149E-7B2D-49F6-9922-3495CC905CEE}" srcOrd="0" destOrd="0" presId="urn:microsoft.com/office/officeart/2018/2/layout/IconLabelList"/>
    <dgm:cxn modelId="{10225E51-6CD8-463C-AD28-A5193F0E96D9}" srcId="{9DB6A127-5332-49B6-B8E5-D275037F40C1}" destId="{3E7F1F3E-16F2-4227-A422-65FB61BE9F26}" srcOrd="0" destOrd="0" parTransId="{16EF5C25-63D6-4186-8D91-3CBF8FB34435}" sibTransId="{017A06F5-9CCE-45A3-9856-3C05C406F5DC}"/>
    <dgm:cxn modelId="{5F4FD851-7CB2-254B-9219-1E6DCF651DF1}" type="presOf" srcId="{F7A77548-9FDD-4FA8-B57C-A230D93A5625}" destId="{3A927D1E-BC89-664B-B284-B01C6AE9CDA3}" srcOrd="0" destOrd="0" presId="urn:microsoft.com/office/officeart/2018/2/layout/IconLabelList"/>
    <dgm:cxn modelId="{F369935E-5A52-4E3C-BC3D-D37687786FC5}" srcId="{9DB6A127-5332-49B6-B8E5-D275037F40C1}" destId="{13F4B48C-687D-480F-9EE8-57683D9E9B5E}" srcOrd="2" destOrd="0" parTransId="{0214EDDB-8A87-499F-99B5-3F215E3EBA88}" sibTransId="{A1809A22-C543-4621-B829-B97D723052F5}"/>
    <dgm:cxn modelId="{C1BD6589-0D30-7E4A-ADC8-02699808560D}" type="presOf" srcId="{13F4B48C-687D-480F-9EE8-57683D9E9B5E}" destId="{1CBE030F-00E8-4E7A-92AF-D6A48DFA22AF}" srcOrd="0" destOrd="0" presId="urn:microsoft.com/office/officeart/2018/2/layout/IconLabelList"/>
    <dgm:cxn modelId="{176DC2A4-4BAA-40C9-9D29-2CA67DC7FEF4}" srcId="{9DB6A127-5332-49B6-B8E5-D275037F40C1}" destId="{D125C2A6-7539-4790-896C-669322B1576D}" srcOrd="3" destOrd="0" parTransId="{ED5CD981-EFAA-4CFC-97E5-C9BF5A397613}" sibTransId="{77453DF4-3E96-400E-B9A3-3BE408CE50DC}"/>
    <dgm:cxn modelId="{6C040DB9-8D9C-A94D-B51A-FDC4B992CD85}" type="presOf" srcId="{3E7F1F3E-16F2-4227-A422-65FB61BE9F26}" destId="{5924FB3F-AB1B-4AFD-8FC0-88D856B21CA5}" srcOrd="0" destOrd="0" presId="urn:microsoft.com/office/officeart/2018/2/layout/IconLabelList"/>
    <dgm:cxn modelId="{187A34DC-6182-5641-9832-2B2FA174E8C0}" type="presOf" srcId="{9DB6A127-5332-49B6-B8E5-D275037F40C1}" destId="{76D80CED-730A-4C67-8C36-3F4D52D3D5FB}" srcOrd="0" destOrd="0" presId="urn:microsoft.com/office/officeart/2018/2/layout/IconLabelList"/>
    <dgm:cxn modelId="{9BEB863A-EF6F-2442-BA99-0BE7BCA679F1}" type="presParOf" srcId="{76D80CED-730A-4C67-8C36-3F4D52D3D5FB}" destId="{50F3DFCE-2E27-4E4D-A2B6-18038646C58B}" srcOrd="0" destOrd="0" presId="urn:microsoft.com/office/officeart/2018/2/layout/IconLabelList"/>
    <dgm:cxn modelId="{A4303172-0AA0-3348-970B-1308396A6810}" type="presParOf" srcId="{50F3DFCE-2E27-4E4D-A2B6-18038646C58B}" destId="{61CD67C8-0D0B-40AE-86E5-CC8140699CF2}" srcOrd="0" destOrd="0" presId="urn:microsoft.com/office/officeart/2018/2/layout/IconLabelList"/>
    <dgm:cxn modelId="{A4B1859A-F790-C646-929D-59F49F1CF08F}" type="presParOf" srcId="{50F3DFCE-2E27-4E4D-A2B6-18038646C58B}" destId="{E1B7B0D8-6E60-4738-B93C-9E48FA6C6BAB}" srcOrd="1" destOrd="0" presId="urn:microsoft.com/office/officeart/2018/2/layout/IconLabelList"/>
    <dgm:cxn modelId="{4C4A241D-9BE4-1041-A028-AFF8C144E9FE}" type="presParOf" srcId="{50F3DFCE-2E27-4E4D-A2B6-18038646C58B}" destId="{5924FB3F-AB1B-4AFD-8FC0-88D856B21CA5}" srcOrd="2" destOrd="0" presId="urn:microsoft.com/office/officeart/2018/2/layout/IconLabelList"/>
    <dgm:cxn modelId="{B4C8597A-0E8E-0543-A6AA-83F9783DE02E}" type="presParOf" srcId="{76D80CED-730A-4C67-8C36-3F4D52D3D5FB}" destId="{7D7B1343-92AF-4B8C-B93A-2E9DF8D035A5}" srcOrd="1" destOrd="0" presId="urn:microsoft.com/office/officeart/2018/2/layout/IconLabelList"/>
    <dgm:cxn modelId="{6A69C897-34BE-F245-AAD1-99521296861F}" type="presParOf" srcId="{76D80CED-730A-4C67-8C36-3F4D52D3D5FB}" destId="{94E014E6-4479-3C47-8077-6F8F83958F95}" srcOrd="2" destOrd="0" presId="urn:microsoft.com/office/officeart/2018/2/layout/IconLabelList"/>
    <dgm:cxn modelId="{50E9857D-5BCC-E046-8D6C-6F474EE28CDD}" type="presParOf" srcId="{94E014E6-4479-3C47-8077-6F8F83958F95}" destId="{29F75831-7C3C-7A43-B408-191136CED3EA}" srcOrd="0" destOrd="0" presId="urn:microsoft.com/office/officeart/2018/2/layout/IconLabelList"/>
    <dgm:cxn modelId="{97E41A28-8048-D24E-9CBA-1D2D719DCBAE}" type="presParOf" srcId="{94E014E6-4479-3C47-8077-6F8F83958F95}" destId="{9990F536-FFA9-1949-8C6F-3061B7A38B6D}" srcOrd="1" destOrd="0" presId="urn:microsoft.com/office/officeart/2018/2/layout/IconLabelList"/>
    <dgm:cxn modelId="{F1E725DF-5EA5-2B4A-A7FD-21063D5C04CD}" type="presParOf" srcId="{94E014E6-4479-3C47-8077-6F8F83958F95}" destId="{3A927D1E-BC89-664B-B284-B01C6AE9CDA3}" srcOrd="2" destOrd="0" presId="urn:microsoft.com/office/officeart/2018/2/layout/IconLabelList"/>
    <dgm:cxn modelId="{DB5112A1-BE88-9D41-A1D8-6B7F448A35A6}" type="presParOf" srcId="{76D80CED-730A-4C67-8C36-3F4D52D3D5FB}" destId="{817D1E23-88CE-0548-B02B-9401E1859871}" srcOrd="3" destOrd="0" presId="urn:microsoft.com/office/officeart/2018/2/layout/IconLabelList"/>
    <dgm:cxn modelId="{486E56D4-FCFC-0A42-9C06-B538C0DF3EA2}" type="presParOf" srcId="{76D80CED-730A-4C67-8C36-3F4D52D3D5FB}" destId="{631C2923-8B48-4EE2-A8C8-771806C99269}" srcOrd="4" destOrd="0" presId="urn:microsoft.com/office/officeart/2018/2/layout/IconLabelList"/>
    <dgm:cxn modelId="{EFD7B04D-EB7D-2540-8627-6F031FA0E383}" type="presParOf" srcId="{631C2923-8B48-4EE2-A8C8-771806C99269}" destId="{713797DA-6B1B-41FE-BF23-5C867F561519}" srcOrd="0" destOrd="0" presId="urn:microsoft.com/office/officeart/2018/2/layout/IconLabelList"/>
    <dgm:cxn modelId="{F9F04030-2EB1-214F-9C9A-E03C13321A98}" type="presParOf" srcId="{631C2923-8B48-4EE2-A8C8-771806C99269}" destId="{1D923B3C-03AC-4B9F-9E43-02CBE4FE8947}" srcOrd="1" destOrd="0" presId="urn:microsoft.com/office/officeart/2018/2/layout/IconLabelList"/>
    <dgm:cxn modelId="{5C8DA57C-BE20-8848-AFFC-1A9DEAB38951}" type="presParOf" srcId="{631C2923-8B48-4EE2-A8C8-771806C99269}" destId="{1CBE030F-00E8-4E7A-92AF-D6A48DFA22AF}" srcOrd="2" destOrd="0" presId="urn:microsoft.com/office/officeart/2018/2/layout/IconLabelList"/>
    <dgm:cxn modelId="{6ABE5700-F6B5-6D4C-94BB-21E3147075D8}" type="presParOf" srcId="{76D80CED-730A-4C67-8C36-3F4D52D3D5FB}" destId="{6B8232E0-F5B2-B44E-B4F3-21A8D3CCBB20}" srcOrd="5" destOrd="0" presId="urn:microsoft.com/office/officeart/2018/2/layout/IconLabelList"/>
    <dgm:cxn modelId="{0A011D64-0726-054B-8945-78DF62968B3C}" type="presParOf" srcId="{76D80CED-730A-4C67-8C36-3F4D52D3D5FB}" destId="{5483E0A6-198A-40D3-9FC2-0EC9460FBF0F}" srcOrd="6" destOrd="0" presId="urn:microsoft.com/office/officeart/2018/2/layout/IconLabelList"/>
    <dgm:cxn modelId="{1B36E2D9-C5BA-C841-9666-90F1B7AEE1F3}" type="presParOf" srcId="{5483E0A6-198A-40D3-9FC2-0EC9460FBF0F}" destId="{41A6284F-D099-4064-8C64-64050C07950F}" srcOrd="0" destOrd="0" presId="urn:microsoft.com/office/officeart/2018/2/layout/IconLabelList"/>
    <dgm:cxn modelId="{806BD8F8-1E2D-7540-9022-06EFDAD74B82}" type="presParOf" srcId="{5483E0A6-198A-40D3-9FC2-0EC9460FBF0F}" destId="{EBC34E83-E34C-4159-848B-C50DAF2F69DD}" srcOrd="1" destOrd="0" presId="urn:microsoft.com/office/officeart/2018/2/layout/IconLabelList"/>
    <dgm:cxn modelId="{163D9638-E51E-4C4B-B12B-47130B556C9B}" type="presParOf" srcId="{5483E0A6-198A-40D3-9FC2-0EC9460FBF0F}" destId="{3B12149E-7B2D-49F6-9922-3495CC905CE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5EB468-85C2-4047-A72F-5573E86BA86B}">
      <dsp:nvSpPr>
        <dsp:cNvPr id="0" name=""/>
        <dsp:cNvSpPr/>
      </dsp:nvSpPr>
      <dsp:spPr>
        <a:xfrm>
          <a:off x="0" y="33002"/>
          <a:ext cx="5395365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The Challenge</a:t>
          </a:r>
          <a:endParaRPr lang="en-US" sz="2200" kern="1200"/>
        </a:p>
      </dsp:txBody>
      <dsp:txXfrm>
        <a:off x="25759" y="58761"/>
        <a:ext cx="5343847" cy="476152"/>
      </dsp:txXfrm>
    </dsp:sp>
    <dsp:sp modelId="{E9AE0EF0-7032-9C44-BE9D-74E14787ECD5}">
      <dsp:nvSpPr>
        <dsp:cNvPr id="0" name=""/>
        <dsp:cNvSpPr/>
      </dsp:nvSpPr>
      <dsp:spPr>
        <a:xfrm>
          <a:off x="0" y="560672"/>
          <a:ext cx="5395365" cy="1502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30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Valuable product feedback exists primarily as unstructured text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Hundreds of reviews make manual analysis difficult and time-consuming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Product strengths, weaknesses, and trends can be difficult to identify consistently</a:t>
          </a:r>
        </a:p>
      </dsp:txBody>
      <dsp:txXfrm>
        <a:off x="0" y="560672"/>
        <a:ext cx="5395365" cy="1502820"/>
      </dsp:txXfrm>
    </dsp:sp>
    <dsp:sp modelId="{63818F1A-C819-C245-9B92-5ABD01D49938}">
      <dsp:nvSpPr>
        <dsp:cNvPr id="0" name=""/>
        <dsp:cNvSpPr/>
      </dsp:nvSpPr>
      <dsp:spPr>
        <a:xfrm>
          <a:off x="0" y="2063493"/>
          <a:ext cx="5395365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Business Need</a:t>
          </a:r>
          <a:endParaRPr lang="en-US" sz="2200" kern="1200"/>
        </a:p>
      </dsp:txBody>
      <dsp:txXfrm>
        <a:off x="25759" y="2089252"/>
        <a:ext cx="5343847" cy="476152"/>
      </dsp:txXfrm>
    </dsp:sp>
    <dsp:sp modelId="{DB403518-7635-7D42-8C17-634A7F54FED3}">
      <dsp:nvSpPr>
        <dsp:cNvPr id="0" name=""/>
        <dsp:cNvSpPr/>
      </dsp:nvSpPr>
      <dsp:spPr>
        <a:xfrm>
          <a:off x="0" y="2591163"/>
          <a:ext cx="5395365" cy="111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30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Support product development decisions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Inform marketing strategy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Enable competitive product analysis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Identify recurring strengths and weaknesses </a:t>
          </a:r>
        </a:p>
      </dsp:txBody>
      <dsp:txXfrm>
        <a:off x="0" y="2591163"/>
        <a:ext cx="5395365" cy="11157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CD67C8-0D0B-40AE-86E5-CC8140699CF2}">
      <dsp:nvSpPr>
        <dsp:cNvPr id="0" name=""/>
        <dsp:cNvSpPr/>
      </dsp:nvSpPr>
      <dsp:spPr>
        <a:xfrm>
          <a:off x="556079" y="217902"/>
          <a:ext cx="658916" cy="658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4FB3F-AB1B-4AFD-8FC0-88D856B21CA5}">
      <dsp:nvSpPr>
        <dsp:cNvPr id="0" name=""/>
        <dsp:cNvSpPr/>
      </dsp:nvSpPr>
      <dsp:spPr>
        <a:xfrm>
          <a:off x="153408" y="1101212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Riders rely on professional reviews when evaluating products. </a:t>
          </a:r>
        </a:p>
      </dsp:txBody>
      <dsp:txXfrm>
        <a:off x="153408" y="1101212"/>
        <a:ext cx="1464257" cy="585703"/>
      </dsp:txXfrm>
    </dsp:sp>
    <dsp:sp modelId="{29F75831-7C3C-7A43-B408-191136CED3EA}">
      <dsp:nvSpPr>
        <dsp:cNvPr id="0" name=""/>
        <dsp:cNvSpPr/>
      </dsp:nvSpPr>
      <dsp:spPr>
        <a:xfrm>
          <a:off x="2276581" y="217902"/>
          <a:ext cx="658916" cy="658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27D1E-BC89-664B-B284-B01C6AE9CDA3}">
      <dsp:nvSpPr>
        <dsp:cNvPr id="0" name=""/>
        <dsp:cNvSpPr/>
      </dsp:nvSpPr>
      <dsp:spPr>
        <a:xfrm>
          <a:off x="1873911" y="1101212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Manufacturers use feedback to guide product development. </a:t>
          </a:r>
        </a:p>
      </dsp:txBody>
      <dsp:txXfrm>
        <a:off x="1873911" y="1101212"/>
        <a:ext cx="1464257" cy="585703"/>
      </dsp:txXfrm>
    </dsp:sp>
    <dsp:sp modelId="{713797DA-6B1B-41FE-BF23-5C867F561519}">
      <dsp:nvSpPr>
        <dsp:cNvPr id="0" name=""/>
        <dsp:cNvSpPr/>
      </dsp:nvSpPr>
      <dsp:spPr>
        <a:xfrm>
          <a:off x="3997084" y="217902"/>
          <a:ext cx="658916" cy="658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BE030F-00E8-4E7A-92AF-D6A48DFA22AF}">
      <dsp:nvSpPr>
        <dsp:cNvPr id="0" name=""/>
        <dsp:cNvSpPr/>
      </dsp:nvSpPr>
      <dsp:spPr>
        <a:xfrm>
          <a:off x="3594414" y="1101212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Growing review volume creates opportunities for data-driven analysis.</a:t>
          </a:r>
        </a:p>
      </dsp:txBody>
      <dsp:txXfrm>
        <a:off x="3594414" y="1101212"/>
        <a:ext cx="1464257" cy="585703"/>
      </dsp:txXfrm>
    </dsp:sp>
    <dsp:sp modelId="{41A6284F-D099-4064-8C64-64050C07950F}">
      <dsp:nvSpPr>
        <dsp:cNvPr id="0" name=""/>
        <dsp:cNvSpPr/>
      </dsp:nvSpPr>
      <dsp:spPr>
        <a:xfrm>
          <a:off x="2276581" y="2052980"/>
          <a:ext cx="658916" cy="658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12149E-7B2D-49F6-9922-3495CC905CEE}">
      <dsp:nvSpPr>
        <dsp:cNvPr id="0" name=""/>
        <dsp:cNvSpPr/>
      </dsp:nvSpPr>
      <dsp:spPr>
        <a:xfrm>
          <a:off x="1873911" y="2936290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Retailers benefit from understanding consumer preferences and market trends. </a:t>
          </a:r>
        </a:p>
      </dsp:txBody>
      <dsp:txXfrm>
        <a:off x="1873911" y="2936290"/>
        <a:ext cx="1464257" cy="585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BF09E-F0BB-284A-B0E7-4D7CB75F2C4D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C621E-CC0E-8C46-AF36-A511F6221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66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C621E-CC0E-8C46-AF36-A511F6221D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52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C621E-CC0E-8C46-AF36-A511F6221D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591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C621E-CC0E-8C46-AF36-A511F6221D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72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C621E-CC0E-8C46-AF36-A511F6221D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86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C621E-CC0E-8C46-AF36-A511F6221D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74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C621E-CC0E-8C46-AF36-A511F6221D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39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C621E-CC0E-8C46-AF36-A511F6221D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31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C621E-CC0E-8C46-AF36-A511F6221D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86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6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64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12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30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30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28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484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914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92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658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9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09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4303AD-A44F-B38A-5028-E60E11901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 b="1" dirty="0"/>
              <a:t>Sentiment Intelligence for Mountain Bike Product Reviews: A Comparative NLP Case Study</a:t>
            </a:r>
            <a:endParaRPr lang="en-US" sz="4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0B09A-495C-76AA-FD69-537EBEB58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900" dirty="0"/>
              <a:t>DS 785 - Capstone</a:t>
            </a:r>
            <a:br>
              <a:rPr lang="en-US" sz="1900" dirty="0"/>
            </a:br>
            <a:r>
              <a:rPr lang="en-US" sz="1900" dirty="0"/>
              <a:t>Austin Engstrom</a:t>
            </a:r>
            <a:br>
              <a:rPr lang="en-US" sz="1900" dirty="0"/>
            </a:br>
            <a:r>
              <a:rPr lang="en-US" sz="1900" dirty="0"/>
              <a:t>June 2026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98196C-6932-ADE7-8207-45A7E8EAC3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09" r="3179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083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46E55-80F3-1C6F-D424-55E6539B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Business Use Case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C1D5961-7732-6473-B2B4-7F8D4D8C82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4937917"/>
              </p:ext>
            </p:extLst>
          </p:nvPr>
        </p:nvGraphicFramePr>
        <p:xfrm>
          <a:off x="700635" y="2221992"/>
          <a:ext cx="53953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4A40CE47-546A-4278-BACF-3409194FBF6B}"/>
              </a:ext>
            </a:extLst>
          </p:cNvPr>
          <p:cNvSpPr/>
          <p:nvPr/>
        </p:nvSpPr>
        <p:spPr>
          <a:xfrm>
            <a:off x="6949440" y="2493917"/>
            <a:ext cx="4442460" cy="1870166"/>
          </a:xfrm>
          <a:prstGeom prst="wedgeRectCallou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Key Business Question</a:t>
            </a:r>
          </a:p>
          <a:p>
            <a:endParaRPr lang="en-US" b="1" dirty="0"/>
          </a:p>
          <a:p>
            <a:r>
              <a:rPr lang="en-US" dirty="0"/>
              <a:t>Can data science techniques transform mountain bike product reviews into actionable business insights?</a:t>
            </a:r>
          </a:p>
        </p:txBody>
      </p:sp>
    </p:spTree>
    <p:extLst>
      <p:ext uri="{BB962C8B-B14F-4D97-AF65-F5344CB8AC3E}">
        <p14:creationId xmlns:p14="http://schemas.microsoft.com/office/powerpoint/2010/main" val="3201723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ED5A2-E4F0-DA5C-3FA6-C35C71DF4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Context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556F724-9326-7E01-68D6-B574F5E0A76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32758799"/>
              </p:ext>
            </p:extLst>
          </p:nvPr>
        </p:nvGraphicFramePr>
        <p:xfrm>
          <a:off x="704088" y="2221993"/>
          <a:ext cx="5212080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05A0805E-FE71-AA3A-22E7-A88544B32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969" y="1745888"/>
            <a:ext cx="41228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 it Matters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E2EB0CF-EA4E-5AC0-0771-DC86166FF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635" y="1607389"/>
            <a:ext cx="52155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Mountain bike product reviews influence purchasing decisions and brand perception.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F86FE15-D690-CA89-2DFA-D71FE8CD7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721986"/>
              </p:ext>
            </p:extLst>
          </p:nvPr>
        </p:nvGraphicFramePr>
        <p:xfrm>
          <a:off x="6799969" y="2493482"/>
          <a:ext cx="4591931" cy="1871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875">
                  <a:extLst>
                    <a:ext uri="{9D8B030D-6E8A-4147-A177-3AD203B41FA5}">
                      <a16:colId xmlns:a16="http://schemas.microsoft.com/office/drawing/2014/main" val="905099552"/>
                    </a:ext>
                  </a:extLst>
                </a:gridCol>
                <a:gridCol w="2544056">
                  <a:extLst>
                    <a:ext uri="{9D8B030D-6E8A-4147-A177-3AD203B41FA5}">
                      <a16:colId xmlns:a16="http://schemas.microsoft.com/office/drawing/2014/main" val="4237464621"/>
                    </a:ext>
                  </a:extLst>
                </a:gridCol>
              </a:tblGrid>
              <a:tr h="374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Product Insights</a:t>
                      </a:r>
                    </a:p>
                  </a:txBody>
                  <a:tcPr marL="44573" marR="44573" marT="22286" marB="22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Business Value</a:t>
                      </a:r>
                    </a:p>
                  </a:txBody>
                  <a:tcPr marL="44573" marR="44573" marT="22286" marB="22286" anchor="ctr"/>
                </a:tc>
                <a:extLst>
                  <a:ext uri="{0D108BD9-81ED-4DB2-BD59-A6C34878D82A}">
                    <a16:rowId xmlns:a16="http://schemas.microsoft.com/office/drawing/2014/main" val="2459804069"/>
                  </a:ext>
                </a:extLst>
              </a:tr>
              <a:tr h="374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Performance</a:t>
                      </a:r>
                    </a:p>
                  </a:txBody>
                  <a:tcPr marL="44573" marR="44573" marT="22286" marB="22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Product Development</a:t>
                      </a:r>
                    </a:p>
                  </a:txBody>
                  <a:tcPr marL="44573" marR="44573" marT="22286" marB="22286" anchor="ctr"/>
                </a:tc>
                <a:extLst>
                  <a:ext uri="{0D108BD9-81ED-4DB2-BD59-A6C34878D82A}">
                    <a16:rowId xmlns:a16="http://schemas.microsoft.com/office/drawing/2014/main" val="3865616243"/>
                  </a:ext>
                </a:extLst>
              </a:tr>
              <a:tr h="374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Durability</a:t>
                      </a:r>
                    </a:p>
                  </a:txBody>
                  <a:tcPr marL="44573" marR="44573" marT="22286" marB="22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Quality Improvement</a:t>
                      </a:r>
                    </a:p>
                  </a:txBody>
                  <a:tcPr marL="44573" marR="44573" marT="22286" marB="22286" anchor="ctr"/>
                </a:tc>
                <a:extLst>
                  <a:ext uri="{0D108BD9-81ED-4DB2-BD59-A6C34878D82A}">
                    <a16:rowId xmlns:a16="http://schemas.microsoft.com/office/drawing/2014/main" val="3525427867"/>
                  </a:ext>
                </a:extLst>
              </a:tr>
              <a:tr h="374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Value</a:t>
                      </a:r>
                    </a:p>
                  </a:txBody>
                  <a:tcPr marL="44573" marR="44573" marT="22286" marB="22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Pricing Strategy</a:t>
                      </a:r>
                    </a:p>
                  </a:txBody>
                  <a:tcPr marL="44573" marR="44573" marT="22286" marB="22286" anchor="ctr"/>
                </a:tc>
                <a:extLst>
                  <a:ext uri="{0D108BD9-81ED-4DB2-BD59-A6C34878D82A}">
                    <a16:rowId xmlns:a16="http://schemas.microsoft.com/office/drawing/2014/main" val="2470280338"/>
                  </a:ext>
                </a:extLst>
              </a:tr>
              <a:tr h="374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Rider Experience</a:t>
                      </a:r>
                    </a:p>
                  </a:txBody>
                  <a:tcPr marL="44573" marR="44573" marT="22286" marB="22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Marketing Messaging</a:t>
                      </a:r>
                    </a:p>
                  </a:txBody>
                  <a:tcPr marL="44573" marR="44573" marT="22286" marB="22286" anchor="ctr"/>
                </a:tc>
                <a:extLst>
                  <a:ext uri="{0D108BD9-81ED-4DB2-BD59-A6C34878D82A}">
                    <a16:rowId xmlns:a16="http://schemas.microsoft.com/office/drawing/2014/main" val="174556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926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E7A7-0A25-1CDD-C7AB-708788AD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Criteria &amp; Deliverables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710C8451-2E7C-CCE3-5FF6-1FF0394BB62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6024047"/>
              </p:ext>
            </p:extLst>
          </p:nvPr>
        </p:nvGraphicFramePr>
        <p:xfrm>
          <a:off x="704850" y="2222500"/>
          <a:ext cx="10687050" cy="1989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0287">
                  <a:extLst>
                    <a:ext uri="{9D8B030D-6E8A-4147-A177-3AD203B41FA5}">
                      <a16:colId xmlns:a16="http://schemas.microsoft.com/office/drawing/2014/main" val="1269652166"/>
                    </a:ext>
                  </a:extLst>
                </a:gridCol>
                <a:gridCol w="6986763">
                  <a:extLst>
                    <a:ext uri="{9D8B030D-6E8A-4147-A177-3AD203B41FA5}">
                      <a16:colId xmlns:a16="http://schemas.microsoft.com/office/drawing/2014/main" val="31161832"/>
                    </a:ext>
                  </a:extLst>
                </a:gridCol>
              </a:tblGrid>
              <a:tr h="290493">
                <a:tc>
                  <a:txBody>
                    <a:bodyPr/>
                    <a:lstStyle/>
                    <a:p>
                      <a:r>
                        <a:rPr lang="en-US"/>
                        <a:t>Deliverable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Success Criteria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770862"/>
                  </a:ext>
                </a:extLst>
              </a:tr>
              <a:tr h="405894">
                <a:tc>
                  <a:txBody>
                    <a:bodyPr/>
                    <a:lstStyle/>
                    <a:p>
                      <a:r>
                        <a:rPr lang="en-US" sz="1400"/>
                        <a:t>Structured Review Dataset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250+ reviews collected across multiple brands and product categories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037015"/>
                  </a:ext>
                </a:extLst>
              </a:tr>
              <a:tr h="405894">
                <a:tc>
                  <a:txBody>
                    <a:bodyPr/>
                    <a:lstStyle/>
                    <a:p>
                      <a:r>
                        <a:rPr lang="en-US" sz="1400"/>
                        <a:t>Comparative Sentiment Analysis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Identify and quantify sentiment trends across products, brands, and categories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017362"/>
                  </a:ext>
                </a:extLst>
              </a:tr>
              <a:tr h="405894">
                <a:tc>
                  <a:txBody>
                    <a:bodyPr/>
                    <a:lstStyle/>
                    <a:p>
                      <a:r>
                        <a:rPr lang="en-US" sz="1400"/>
                        <a:t>NLP Model Evaluation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Compare at least two sentiment analysis approaches and evaluate model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558442"/>
                  </a:ext>
                </a:extLst>
              </a:tr>
              <a:tr h="405894">
                <a:tc>
                  <a:txBody>
                    <a:bodyPr/>
                    <a:lstStyle/>
                    <a:p>
                      <a:r>
                        <a:rPr lang="en-US" sz="1400"/>
                        <a:t>Business Recommendation Report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Deliver actionable findings related to product strengths, weaknesses, and market trends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1863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F09195-1952-18F6-28F3-2159036F8F40}"/>
                  </a:ext>
                </a:extLst>
              </p:cNvPr>
              <p:cNvSpPr txBox="1"/>
              <p:nvPr/>
            </p:nvSpPr>
            <p:spPr>
              <a:xfrm>
                <a:off x="700635" y="4458788"/>
                <a:ext cx="1068705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KPIs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250 review articles collected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10 product brands represented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5 product categories represented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2 sentiment analysis approaches evaluated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F09195-1952-18F6-28F3-2159036F8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635" y="4458788"/>
                <a:ext cx="10687050" cy="1477328"/>
              </a:xfrm>
              <a:prstGeom prst="rect">
                <a:avLst/>
              </a:prstGeom>
              <a:blipFill>
                <a:blip r:embed="rId3"/>
                <a:stretch>
                  <a:fillRect l="-475" t="-1695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44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B6D4-B007-8AD1-6B80-09C651DB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55670FF-B3A3-A1B5-0E55-31E14653011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99502" y="3145322"/>
            <a:ext cx="3294062" cy="171804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D616EF-F875-82E8-CABE-9D577A79C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98971" y="2221992"/>
            <a:ext cx="3294454" cy="373989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Resources</a:t>
            </a:r>
          </a:p>
          <a:p>
            <a:r>
              <a:rPr lang="en-US" dirty="0"/>
              <a:t>Scraper prototype</a:t>
            </a:r>
          </a:p>
          <a:p>
            <a:r>
              <a:rPr lang="en-US" dirty="0"/>
              <a:t>~ 300 reviews identified</a:t>
            </a:r>
          </a:p>
          <a:p>
            <a:r>
              <a:rPr lang="en-US" dirty="0"/>
              <a:t>Project Timeline</a:t>
            </a:r>
          </a:p>
          <a:p>
            <a:r>
              <a:rPr lang="en-US" dirty="0"/>
              <a:t>MTB Domain Knowledge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0F517-97CE-996D-719E-43E3583F5446}"/>
              </a:ext>
            </a:extLst>
          </p:cNvPr>
          <p:cNvSpPr txBox="1"/>
          <p:nvPr/>
        </p:nvSpPr>
        <p:spPr>
          <a:xfrm>
            <a:off x="699110" y="2221992"/>
            <a:ext cx="32944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Pinkbike Review articles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67FE23-E95B-0983-84AF-FCEFFAA58058}"/>
              </a:ext>
            </a:extLst>
          </p:cNvPr>
          <p:cNvSpPr txBox="1"/>
          <p:nvPr/>
        </p:nvSpPr>
        <p:spPr>
          <a:xfrm>
            <a:off x="4448969" y="2232007"/>
            <a:ext cx="32940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Tools &amp; Technologies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Playwright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Pandas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NLP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Hugging Face Transformers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NLTK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spaCy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Version Control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938217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16C03C-BDFF-893F-C36F-13D863A0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Constraints &amp; Assumptions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F42F2C-B0BB-A2C9-BD54-AA5C621037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8641689"/>
              </p:ext>
            </p:extLst>
          </p:nvPr>
        </p:nvGraphicFramePr>
        <p:xfrm>
          <a:off x="5715000" y="1921499"/>
          <a:ext cx="5676901" cy="3015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1863">
                  <a:extLst>
                    <a:ext uri="{9D8B030D-6E8A-4147-A177-3AD203B41FA5}">
                      <a16:colId xmlns:a16="http://schemas.microsoft.com/office/drawing/2014/main" val="1930984519"/>
                    </a:ext>
                  </a:extLst>
                </a:gridCol>
                <a:gridCol w="2895038">
                  <a:extLst>
                    <a:ext uri="{9D8B030D-6E8A-4147-A177-3AD203B41FA5}">
                      <a16:colId xmlns:a16="http://schemas.microsoft.com/office/drawing/2014/main" val="4070716457"/>
                    </a:ext>
                  </a:extLst>
                </a:gridCol>
              </a:tblGrid>
              <a:tr h="358542">
                <a:tc>
                  <a:txBody>
                    <a:bodyPr/>
                    <a:lstStyle/>
                    <a:p>
                      <a:r>
                        <a:rPr lang="en-US" sz="1600"/>
                        <a:t>Constraints</a:t>
                      </a:r>
                    </a:p>
                  </a:txBody>
                  <a:tcPr marL="81487" marR="81487" marT="40743" marB="40743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Assumptions</a:t>
                      </a:r>
                    </a:p>
                  </a:txBody>
                  <a:tcPr marL="81487" marR="81487" marT="40743" marB="40743"/>
                </a:tc>
                <a:extLst>
                  <a:ext uri="{0D108BD9-81ED-4DB2-BD59-A6C34878D82A}">
                    <a16:rowId xmlns:a16="http://schemas.microsoft.com/office/drawing/2014/main" val="2743278320"/>
                  </a:ext>
                </a:extLst>
              </a:tr>
              <a:tr h="603001">
                <a:tc>
                  <a:txBody>
                    <a:bodyPr/>
                    <a:lstStyle/>
                    <a:p>
                      <a:r>
                        <a:rPr lang="en-US" sz="1600"/>
                        <a:t>Limited to publicly available review content</a:t>
                      </a:r>
                    </a:p>
                  </a:txBody>
                  <a:tcPr marL="81487" marR="81487" marT="40743" marB="40743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Professional reviews provide meaningful product feedback</a:t>
                      </a:r>
                    </a:p>
                  </a:txBody>
                  <a:tcPr marL="81487" marR="81487" marT="40743" marB="40743"/>
                </a:tc>
                <a:extLst>
                  <a:ext uri="{0D108BD9-81ED-4DB2-BD59-A6C34878D82A}">
                    <a16:rowId xmlns:a16="http://schemas.microsoft.com/office/drawing/2014/main" val="3136317158"/>
                  </a:ext>
                </a:extLst>
              </a:tr>
              <a:tr h="603001">
                <a:tc>
                  <a:txBody>
                    <a:bodyPr/>
                    <a:lstStyle/>
                    <a:p>
                      <a:r>
                        <a:rPr lang="en-US" sz="1600"/>
                        <a:t>Review volume depends on available published articles</a:t>
                      </a:r>
                    </a:p>
                  </a:txBody>
                  <a:tcPr marL="81487" marR="81487" marT="40743" marB="40743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Sentiment models can identify useful patterns in review text</a:t>
                      </a:r>
                    </a:p>
                  </a:txBody>
                  <a:tcPr marL="81487" marR="81487" marT="40743" marB="40743"/>
                </a:tc>
                <a:extLst>
                  <a:ext uri="{0D108BD9-81ED-4DB2-BD59-A6C34878D82A}">
                    <a16:rowId xmlns:a16="http://schemas.microsoft.com/office/drawing/2014/main" val="1037937064"/>
                  </a:ext>
                </a:extLst>
              </a:tr>
              <a:tr h="847461">
                <a:tc>
                  <a:txBody>
                    <a:bodyPr/>
                    <a:lstStyle/>
                    <a:p>
                      <a:r>
                        <a:rPr lang="en-US" sz="1600"/>
                        <a:t>Professional reviews may differ from consumer sentiment</a:t>
                      </a:r>
                    </a:p>
                  </a:txBody>
                  <a:tcPr marL="81487" marR="81487" marT="40743" marB="40743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Sufficient review volume exists across brands and categories</a:t>
                      </a:r>
                    </a:p>
                  </a:txBody>
                  <a:tcPr marL="81487" marR="81487" marT="40743" marB="40743"/>
                </a:tc>
                <a:extLst>
                  <a:ext uri="{0D108BD9-81ED-4DB2-BD59-A6C34878D82A}">
                    <a16:rowId xmlns:a16="http://schemas.microsoft.com/office/drawing/2014/main" val="55977006"/>
                  </a:ext>
                </a:extLst>
              </a:tr>
              <a:tr h="603001">
                <a:tc>
                  <a:txBody>
                    <a:bodyPr/>
                    <a:lstStyle/>
                    <a:p>
                      <a:r>
                        <a:rPr lang="en-US" sz="1600" dirty="0"/>
                        <a:t>Project must be completed within the capstone timeline</a:t>
                      </a:r>
                    </a:p>
                  </a:txBody>
                  <a:tcPr marL="81487" marR="81487" marT="40743" marB="40743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Product classifications and extracted entities are accurate</a:t>
                      </a:r>
                    </a:p>
                  </a:txBody>
                  <a:tcPr marL="81487" marR="81487" marT="40743" marB="40743"/>
                </a:tc>
                <a:extLst>
                  <a:ext uri="{0D108BD9-81ED-4DB2-BD59-A6C34878D82A}">
                    <a16:rowId xmlns:a16="http://schemas.microsoft.com/office/drawing/2014/main" val="4082392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925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BCC11F-EBD5-A144-8123-6CC78586D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Risk Assessment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6B4015-0828-9717-6107-0E7B5ACB07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8237240"/>
              </p:ext>
            </p:extLst>
          </p:nvPr>
        </p:nvGraphicFramePr>
        <p:xfrm>
          <a:off x="5715000" y="1594982"/>
          <a:ext cx="5676901" cy="4286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190">
                  <a:extLst>
                    <a:ext uri="{9D8B030D-6E8A-4147-A177-3AD203B41FA5}">
                      <a16:colId xmlns:a16="http://schemas.microsoft.com/office/drawing/2014/main" val="404826973"/>
                    </a:ext>
                  </a:extLst>
                </a:gridCol>
                <a:gridCol w="1672832">
                  <a:extLst>
                    <a:ext uri="{9D8B030D-6E8A-4147-A177-3AD203B41FA5}">
                      <a16:colId xmlns:a16="http://schemas.microsoft.com/office/drawing/2014/main" val="2993904686"/>
                    </a:ext>
                  </a:extLst>
                </a:gridCol>
                <a:gridCol w="2132879">
                  <a:extLst>
                    <a:ext uri="{9D8B030D-6E8A-4147-A177-3AD203B41FA5}">
                      <a16:colId xmlns:a16="http://schemas.microsoft.com/office/drawing/2014/main" val="4108319521"/>
                    </a:ext>
                  </a:extLst>
                </a:gridCol>
              </a:tblGrid>
              <a:tr h="286320">
                <a:tc>
                  <a:txBody>
                    <a:bodyPr/>
                    <a:lstStyle/>
                    <a:p>
                      <a:r>
                        <a:rPr lang="en-US" sz="1300" b="1"/>
                        <a:t>Risk</a:t>
                      </a:r>
                    </a:p>
                  </a:txBody>
                  <a:tcPr marL="63777" marR="63777" marT="31889" marB="31889"/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Impact</a:t>
                      </a:r>
                    </a:p>
                  </a:txBody>
                  <a:tcPr marL="63777" marR="63777" marT="31889" marB="31889"/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Mitigation</a:t>
                      </a:r>
                    </a:p>
                  </a:txBody>
                  <a:tcPr marL="63777" marR="63777" marT="31889" marB="31889"/>
                </a:tc>
                <a:extLst>
                  <a:ext uri="{0D108BD9-81ED-4DB2-BD59-A6C34878D82A}">
                    <a16:rowId xmlns:a16="http://schemas.microsoft.com/office/drawing/2014/main" val="1239090728"/>
                  </a:ext>
                </a:extLst>
              </a:tr>
              <a:tr h="676344">
                <a:tc>
                  <a:txBody>
                    <a:bodyPr/>
                    <a:lstStyle/>
                    <a:p>
                      <a:r>
                        <a:rPr lang="en-US" sz="1300"/>
                        <a:t>Website structure changes</a:t>
                      </a:r>
                    </a:p>
                  </a:txBody>
                  <a:tcPr marL="63777" marR="63777" marT="31889" marB="31889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Data collection disruptions</a:t>
                      </a:r>
                    </a:p>
                  </a:txBody>
                  <a:tcPr marL="63777" marR="63777" marT="31889" marB="3188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 backup source and maintain scraper</a:t>
                      </a:r>
                    </a:p>
                  </a:txBody>
                  <a:tcPr marL="63777" marR="63777" marT="31889" marB="31889"/>
                </a:tc>
                <a:extLst>
                  <a:ext uri="{0D108BD9-81ED-4DB2-BD59-A6C34878D82A}">
                    <a16:rowId xmlns:a16="http://schemas.microsoft.com/office/drawing/2014/main" val="4193837585"/>
                  </a:ext>
                </a:extLst>
              </a:tr>
              <a:tr h="676344">
                <a:tc>
                  <a:txBody>
                    <a:bodyPr/>
                    <a:lstStyle/>
                    <a:p>
                      <a:r>
                        <a:rPr lang="en-US" sz="1300"/>
                        <a:t>Limited review volume in some categories</a:t>
                      </a:r>
                    </a:p>
                  </a:txBody>
                  <a:tcPr marL="63777" marR="63777" marT="31889" marB="3188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Reduced comparison opportunities</a:t>
                      </a:r>
                    </a:p>
                  </a:txBody>
                  <a:tcPr marL="63777" marR="63777" marT="31889" marB="31889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Expand timeframe, include additional product categories, or combine closely related categories when appropriate</a:t>
                      </a:r>
                    </a:p>
                  </a:txBody>
                  <a:tcPr marL="63777" marR="63777" marT="31889" marB="31889"/>
                </a:tc>
                <a:extLst>
                  <a:ext uri="{0D108BD9-81ED-4DB2-BD59-A6C34878D82A}">
                    <a16:rowId xmlns:a16="http://schemas.microsoft.com/office/drawing/2014/main" val="1668347970"/>
                  </a:ext>
                </a:extLst>
              </a:tr>
              <a:tr h="676344">
                <a:tc>
                  <a:txBody>
                    <a:bodyPr/>
                    <a:lstStyle/>
                    <a:p>
                      <a:r>
                        <a:rPr lang="en-US" sz="1300"/>
                        <a:t>Entity extraction errors</a:t>
                      </a:r>
                    </a:p>
                  </a:txBody>
                  <a:tcPr marL="63777" marR="63777" marT="31889" marB="3188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Reduced data quality and inaccurate comparisons</a:t>
                      </a:r>
                    </a:p>
                  </a:txBody>
                  <a:tcPr marL="63777" marR="63777" marT="31889" marB="31889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Validate entities through manual review</a:t>
                      </a:r>
                    </a:p>
                  </a:txBody>
                  <a:tcPr marL="63777" marR="63777" marT="31889" marB="31889"/>
                </a:tc>
                <a:extLst>
                  <a:ext uri="{0D108BD9-81ED-4DB2-BD59-A6C34878D82A}">
                    <a16:rowId xmlns:a16="http://schemas.microsoft.com/office/drawing/2014/main" val="760989982"/>
                  </a:ext>
                </a:extLst>
              </a:tr>
              <a:tr h="676344">
                <a:tc>
                  <a:txBody>
                    <a:bodyPr/>
                    <a:lstStyle/>
                    <a:p>
                      <a:r>
                        <a:rPr lang="en-US" sz="1300"/>
                        <a:t>Sentiment model performance is weaker than expected</a:t>
                      </a:r>
                    </a:p>
                  </a:txBody>
                  <a:tcPr marL="63777" marR="63777" marT="31889" marB="31889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Less reliable sentiment insights</a:t>
                      </a:r>
                    </a:p>
                  </a:txBody>
                  <a:tcPr marL="63777" marR="63777" marT="31889" marB="31889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Compare multiple approaches and establish baseline performance</a:t>
                      </a:r>
                    </a:p>
                  </a:txBody>
                  <a:tcPr marL="63777" marR="63777" marT="31889" marB="31889"/>
                </a:tc>
                <a:extLst>
                  <a:ext uri="{0D108BD9-81ED-4DB2-BD59-A6C34878D82A}">
                    <a16:rowId xmlns:a16="http://schemas.microsoft.com/office/drawing/2014/main" val="2297714939"/>
                  </a:ext>
                </a:extLst>
              </a:tr>
              <a:tr h="676344">
                <a:tc>
                  <a:txBody>
                    <a:bodyPr/>
                    <a:lstStyle/>
                    <a:p>
                      <a:r>
                        <a:rPr lang="en-US" sz="1300"/>
                        <a:t>Project timeline constraints</a:t>
                      </a:r>
                    </a:p>
                  </a:txBody>
                  <a:tcPr marL="63777" marR="63777" marT="31889" marB="31889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Delayed milestones or reduced scope</a:t>
                      </a:r>
                    </a:p>
                  </a:txBody>
                  <a:tcPr marL="63777" marR="63777" marT="31889" marB="31889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Prioritize core deliverables and maintain milestone schedule</a:t>
                      </a:r>
                    </a:p>
                  </a:txBody>
                  <a:tcPr marL="63777" marR="63777" marT="31889" marB="31889"/>
                </a:tc>
                <a:extLst>
                  <a:ext uri="{0D108BD9-81ED-4DB2-BD59-A6C34878D82A}">
                    <a16:rowId xmlns:a16="http://schemas.microsoft.com/office/drawing/2014/main" val="1293090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514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44FB1-86CC-D398-4D22-9FB0E80E8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plan &amp; Timeline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05F10A8-13E1-A5CB-C187-D609DE4077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7112265"/>
              </p:ext>
            </p:extLst>
          </p:nvPr>
        </p:nvGraphicFramePr>
        <p:xfrm>
          <a:off x="700088" y="2222500"/>
          <a:ext cx="1069181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5906">
                  <a:extLst>
                    <a:ext uri="{9D8B030D-6E8A-4147-A177-3AD203B41FA5}">
                      <a16:colId xmlns:a16="http://schemas.microsoft.com/office/drawing/2014/main" val="1477293499"/>
                    </a:ext>
                  </a:extLst>
                </a:gridCol>
                <a:gridCol w="5345906">
                  <a:extLst>
                    <a:ext uri="{9D8B030D-6E8A-4147-A177-3AD203B41FA5}">
                      <a16:colId xmlns:a16="http://schemas.microsoft.com/office/drawing/2014/main" val="2662445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024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Project Idea &amp;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920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Presentation 1: Problem Definition &amp;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June 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248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Presentation 2: Data Collection &amp;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June 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28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Collection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June 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71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Code Check-In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July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297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Presentation 3: Preliminary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July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25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Business Recommendations &amp; Final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July 20 – July 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835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Final Report &amp;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August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249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425460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6242</TotalTime>
  <Words>505</Words>
  <Application>Microsoft Macintosh PowerPoint</Application>
  <PresentationFormat>Widescreen</PresentationFormat>
  <Paragraphs>123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Calisto MT</vt:lpstr>
      <vt:lpstr>Cambria Math</vt:lpstr>
      <vt:lpstr>Univers Condensed</vt:lpstr>
      <vt:lpstr>ChronicleVTI</vt:lpstr>
      <vt:lpstr>Sentiment Intelligence for Mountain Bike Product Reviews: A Comparative NLP Case Study</vt:lpstr>
      <vt:lpstr>Business Use Case</vt:lpstr>
      <vt:lpstr>Industry Context</vt:lpstr>
      <vt:lpstr>Success Criteria &amp; Deliverables</vt:lpstr>
      <vt:lpstr>Resources</vt:lpstr>
      <vt:lpstr>Constraints &amp; Assumptions</vt:lpstr>
      <vt:lpstr>Risk Assessment</vt:lpstr>
      <vt:lpstr>Project plan &amp; 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Austin Engstrom</dc:creator>
  <cp:lastModifiedBy>Austin Engstrom</cp:lastModifiedBy>
  <cp:revision>8</cp:revision>
  <dcterms:created xsi:type="dcterms:W3CDTF">2026-06-11T15:28:05Z</dcterms:created>
  <dcterms:modified xsi:type="dcterms:W3CDTF">2026-06-17T20:41:04Z</dcterms:modified>
</cp:coreProperties>
</file>