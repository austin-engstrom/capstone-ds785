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5"/>
    <p:restoredTop sz="54545"/>
  </p:normalViewPr>
  <p:slideViewPr>
    <p:cSldViewPr snapToGrid="0">
      <p:cViewPr varScale="1">
        <p:scale>
          <a:sx n="81" d="100"/>
          <a:sy n="81" d="100"/>
        </p:scale>
        <p:origin x="31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18CC94-7883-0B4C-9FCB-9F1F348C5499}" type="doc">
      <dgm:prSet loTypeId="urn:microsoft.com/office/officeart/2005/8/layout/StepDownProcess" loCatId="" qsTypeId="urn:microsoft.com/office/officeart/2005/8/quickstyle/simple1" qsCatId="simple" csTypeId="urn:microsoft.com/office/officeart/2005/8/colors/accent1_2" csCatId="accent1" phldr="1"/>
      <dgm:spPr/>
      <dgm:t>
        <a:bodyPr/>
        <a:lstStyle/>
        <a:p>
          <a:endParaRPr lang="en-US"/>
        </a:p>
      </dgm:t>
    </dgm:pt>
    <dgm:pt modelId="{57F654E8-BCB9-9742-81A2-6C95C92B24CD}">
      <dgm:prSet phldrT="[Text]"/>
      <dgm:spPr/>
      <dgm:t>
        <a:bodyPr/>
        <a:lstStyle/>
        <a:p>
          <a:r>
            <a:rPr lang="en-US" dirty="0"/>
            <a:t>Raw HTML</a:t>
          </a:r>
        </a:p>
      </dgm:t>
    </dgm:pt>
    <dgm:pt modelId="{8FE716F0-35A8-0A48-85F6-F37BF5DD1366}" type="parTrans" cxnId="{CF0B33F7-28E2-144B-87C8-DDFF1DEF2E91}">
      <dgm:prSet/>
      <dgm:spPr/>
      <dgm:t>
        <a:bodyPr/>
        <a:lstStyle/>
        <a:p>
          <a:endParaRPr lang="en-US"/>
        </a:p>
      </dgm:t>
    </dgm:pt>
    <dgm:pt modelId="{4CD394FB-D63A-6B43-A2E4-2EC66B64A5A9}" type="sibTrans" cxnId="{CF0B33F7-28E2-144B-87C8-DDFF1DEF2E91}">
      <dgm:prSet/>
      <dgm:spPr/>
      <dgm:t>
        <a:bodyPr/>
        <a:lstStyle/>
        <a:p>
          <a:endParaRPr lang="en-US"/>
        </a:p>
      </dgm:t>
    </dgm:pt>
    <dgm:pt modelId="{360933AF-1BDB-AF4A-BBDC-3D580E91E980}">
      <dgm:prSet phldrT="[Text]"/>
      <dgm:spPr/>
      <dgm:t>
        <a:bodyPr/>
        <a:lstStyle/>
        <a:p>
          <a:r>
            <a:rPr lang="en-US" dirty="0"/>
            <a:t>Cleaned Dataset</a:t>
          </a:r>
        </a:p>
      </dgm:t>
    </dgm:pt>
    <dgm:pt modelId="{36220619-7C72-9D41-B62D-8A026F23927B}" type="parTrans" cxnId="{A20B9A06-F50A-F44E-8570-38A1F3BEFF47}">
      <dgm:prSet/>
      <dgm:spPr/>
      <dgm:t>
        <a:bodyPr/>
        <a:lstStyle/>
        <a:p>
          <a:endParaRPr lang="en-US"/>
        </a:p>
      </dgm:t>
    </dgm:pt>
    <dgm:pt modelId="{CC688E74-1299-824A-944E-43EFB6CC8C71}" type="sibTrans" cxnId="{A20B9A06-F50A-F44E-8570-38A1F3BEFF47}">
      <dgm:prSet/>
      <dgm:spPr/>
      <dgm:t>
        <a:bodyPr/>
        <a:lstStyle/>
        <a:p>
          <a:endParaRPr lang="en-US"/>
        </a:p>
      </dgm:t>
    </dgm:pt>
    <dgm:pt modelId="{0A63884A-A45E-2B44-B3F0-4B060EDCA440}">
      <dgm:prSet phldrT="[Text]"/>
      <dgm:spPr/>
      <dgm:t>
        <a:bodyPr/>
        <a:lstStyle/>
        <a:p>
          <a:r>
            <a:rPr lang="en-US" dirty="0"/>
            <a:t>Exploratory Analysis</a:t>
          </a:r>
        </a:p>
      </dgm:t>
    </dgm:pt>
    <dgm:pt modelId="{0C826175-44EF-BA46-95E0-39E8E70DA2E8}" type="parTrans" cxnId="{5494475E-3EB3-A94D-ABCE-06949D2975DC}">
      <dgm:prSet/>
      <dgm:spPr/>
      <dgm:t>
        <a:bodyPr/>
        <a:lstStyle/>
        <a:p>
          <a:endParaRPr lang="en-US"/>
        </a:p>
      </dgm:t>
    </dgm:pt>
    <dgm:pt modelId="{F6E5E674-5A7E-634C-8467-C833C97C4E30}" type="sibTrans" cxnId="{5494475E-3EB3-A94D-ABCE-06949D2975DC}">
      <dgm:prSet/>
      <dgm:spPr/>
      <dgm:t>
        <a:bodyPr/>
        <a:lstStyle/>
        <a:p>
          <a:endParaRPr lang="en-US"/>
        </a:p>
      </dgm:t>
    </dgm:pt>
    <dgm:pt modelId="{42B1512D-30EC-0B4E-A4C8-3448D9EEE3F1}">
      <dgm:prSet phldrT="[Text]"/>
      <dgm:spPr/>
      <dgm:t>
        <a:bodyPr/>
        <a:lstStyle/>
        <a:p>
          <a:r>
            <a:rPr lang="en-US" dirty="0"/>
            <a:t>Feature Engineering</a:t>
          </a:r>
        </a:p>
      </dgm:t>
    </dgm:pt>
    <dgm:pt modelId="{CB7CC962-26E7-1243-A388-F3D9CA5FA187}" type="parTrans" cxnId="{6EF5E589-9258-204D-9CBC-94CD01577851}">
      <dgm:prSet/>
      <dgm:spPr/>
      <dgm:t>
        <a:bodyPr/>
        <a:lstStyle/>
        <a:p>
          <a:endParaRPr lang="en-US"/>
        </a:p>
      </dgm:t>
    </dgm:pt>
    <dgm:pt modelId="{7935C27D-185E-B548-82AE-33B7A0FCF87E}" type="sibTrans" cxnId="{6EF5E589-9258-204D-9CBC-94CD01577851}">
      <dgm:prSet/>
      <dgm:spPr/>
      <dgm:t>
        <a:bodyPr/>
        <a:lstStyle/>
        <a:p>
          <a:endParaRPr lang="en-US"/>
        </a:p>
      </dgm:t>
    </dgm:pt>
    <dgm:pt modelId="{ADA0BE62-B516-4243-913F-E4F52A42E8FE}">
      <dgm:prSet phldrT="[Text]"/>
      <dgm:spPr/>
      <dgm:t>
        <a:bodyPr/>
        <a:lstStyle/>
        <a:p>
          <a:r>
            <a:rPr lang="en-US" dirty="0"/>
            <a:t>Model Development</a:t>
          </a:r>
        </a:p>
      </dgm:t>
    </dgm:pt>
    <dgm:pt modelId="{0CA240E4-44D3-4B43-93AE-697A8D47519A}" type="parTrans" cxnId="{2EE7D7AB-1DB6-0445-A5D3-FC3A349A273C}">
      <dgm:prSet/>
      <dgm:spPr/>
      <dgm:t>
        <a:bodyPr/>
        <a:lstStyle/>
        <a:p>
          <a:endParaRPr lang="en-US"/>
        </a:p>
      </dgm:t>
    </dgm:pt>
    <dgm:pt modelId="{663886EC-4EB0-0845-A684-894C769AC0CA}" type="sibTrans" cxnId="{2EE7D7AB-1DB6-0445-A5D3-FC3A349A273C}">
      <dgm:prSet/>
      <dgm:spPr/>
      <dgm:t>
        <a:bodyPr/>
        <a:lstStyle/>
        <a:p>
          <a:endParaRPr lang="en-US"/>
        </a:p>
      </dgm:t>
    </dgm:pt>
    <dgm:pt modelId="{39FF3248-7DAD-274D-94AA-225B7FE23D10}" type="pres">
      <dgm:prSet presAssocID="{8118CC94-7883-0B4C-9FCB-9F1F348C5499}" presName="rootnode" presStyleCnt="0">
        <dgm:presLayoutVars>
          <dgm:chMax/>
          <dgm:chPref/>
          <dgm:dir/>
          <dgm:animLvl val="lvl"/>
        </dgm:presLayoutVars>
      </dgm:prSet>
      <dgm:spPr/>
    </dgm:pt>
    <dgm:pt modelId="{B8AA1FEA-96C8-B741-818D-7C4CD267F01E}" type="pres">
      <dgm:prSet presAssocID="{57F654E8-BCB9-9742-81A2-6C95C92B24CD}" presName="composite" presStyleCnt="0"/>
      <dgm:spPr/>
    </dgm:pt>
    <dgm:pt modelId="{1203E95B-CCF5-D645-8288-A7BEABE50C0E}" type="pres">
      <dgm:prSet presAssocID="{57F654E8-BCB9-9742-81A2-6C95C92B24CD}" presName="bentUpArrow1" presStyleLbl="alignImgPlace1" presStyleIdx="0" presStyleCnt="4"/>
      <dgm:spPr/>
    </dgm:pt>
    <dgm:pt modelId="{10708C91-1443-364E-8F84-0E688AF2B4D3}" type="pres">
      <dgm:prSet presAssocID="{57F654E8-BCB9-9742-81A2-6C95C92B24CD}" presName="ParentText" presStyleLbl="node1" presStyleIdx="0" presStyleCnt="5">
        <dgm:presLayoutVars>
          <dgm:chMax val="1"/>
          <dgm:chPref val="1"/>
          <dgm:bulletEnabled val="1"/>
        </dgm:presLayoutVars>
      </dgm:prSet>
      <dgm:spPr/>
    </dgm:pt>
    <dgm:pt modelId="{8DFCE0CA-4C69-5748-A1BB-7377D9F938AD}" type="pres">
      <dgm:prSet presAssocID="{57F654E8-BCB9-9742-81A2-6C95C92B24CD}" presName="ChildText" presStyleLbl="revTx" presStyleIdx="0" presStyleCnt="4">
        <dgm:presLayoutVars>
          <dgm:chMax val="0"/>
          <dgm:chPref val="0"/>
          <dgm:bulletEnabled val="1"/>
        </dgm:presLayoutVars>
      </dgm:prSet>
      <dgm:spPr/>
    </dgm:pt>
    <dgm:pt modelId="{B198AE87-CBB8-A741-8D39-082DE3533154}" type="pres">
      <dgm:prSet presAssocID="{4CD394FB-D63A-6B43-A2E4-2EC66B64A5A9}" presName="sibTrans" presStyleCnt="0"/>
      <dgm:spPr/>
    </dgm:pt>
    <dgm:pt modelId="{15F97B16-2AD9-D14B-96AD-BB99F9D8C8FA}" type="pres">
      <dgm:prSet presAssocID="{360933AF-1BDB-AF4A-BBDC-3D580E91E980}" presName="composite" presStyleCnt="0"/>
      <dgm:spPr/>
    </dgm:pt>
    <dgm:pt modelId="{DBAF45A5-24C1-5743-8C04-544DC848B1AC}" type="pres">
      <dgm:prSet presAssocID="{360933AF-1BDB-AF4A-BBDC-3D580E91E980}" presName="bentUpArrow1" presStyleLbl="alignImgPlace1" presStyleIdx="1" presStyleCnt="4"/>
      <dgm:spPr/>
    </dgm:pt>
    <dgm:pt modelId="{6B8AFAA0-152E-184D-B09F-B752833295CC}" type="pres">
      <dgm:prSet presAssocID="{360933AF-1BDB-AF4A-BBDC-3D580E91E980}" presName="ParentText" presStyleLbl="node1" presStyleIdx="1" presStyleCnt="5">
        <dgm:presLayoutVars>
          <dgm:chMax val="1"/>
          <dgm:chPref val="1"/>
          <dgm:bulletEnabled val="1"/>
        </dgm:presLayoutVars>
      </dgm:prSet>
      <dgm:spPr/>
    </dgm:pt>
    <dgm:pt modelId="{F80D1A8B-7F2E-A34D-B94D-4C6CF60EB883}" type="pres">
      <dgm:prSet presAssocID="{360933AF-1BDB-AF4A-BBDC-3D580E91E980}" presName="ChildText" presStyleLbl="revTx" presStyleIdx="1" presStyleCnt="4">
        <dgm:presLayoutVars>
          <dgm:chMax val="0"/>
          <dgm:chPref val="0"/>
          <dgm:bulletEnabled val="1"/>
        </dgm:presLayoutVars>
      </dgm:prSet>
      <dgm:spPr/>
    </dgm:pt>
    <dgm:pt modelId="{BFFA2EB6-32D0-7D4B-AF47-363C969007E9}" type="pres">
      <dgm:prSet presAssocID="{CC688E74-1299-824A-944E-43EFB6CC8C71}" presName="sibTrans" presStyleCnt="0"/>
      <dgm:spPr/>
    </dgm:pt>
    <dgm:pt modelId="{B1455670-8058-664A-B3D1-36D0E2BEA048}" type="pres">
      <dgm:prSet presAssocID="{0A63884A-A45E-2B44-B3F0-4B060EDCA440}" presName="composite" presStyleCnt="0"/>
      <dgm:spPr/>
    </dgm:pt>
    <dgm:pt modelId="{1701F085-069F-F94B-AE6E-EC5C1ACEDE40}" type="pres">
      <dgm:prSet presAssocID="{0A63884A-A45E-2B44-B3F0-4B060EDCA440}" presName="bentUpArrow1" presStyleLbl="alignImgPlace1" presStyleIdx="2" presStyleCnt="4"/>
      <dgm:spPr/>
    </dgm:pt>
    <dgm:pt modelId="{8339A103-AC4B-844B-AB3E-3822CBAA1081}" type="pres">
      <dgm:prSet presAssocID="{0A63884A-A45E-2B44-B3F0-4B060EDCA440}" presName="ParentText" presStyleLbl="node1" presStyleIdx="2" presStyleCnt="5">
        <dgm:presLayoutVars>
          <dgm:chMax val="1"/>
          <dgm:chPref val="1"/>
          <dgm:bulletEnabled val="1"/>
        </dgm:presLayoutVars>
      </dgm:prSet>
      <dgm:spPr/>
    </dgm:pt>
    <dgm:pt modelId="{1462DFAB-C2BA-8246-BC69-1280F1040FF7}" type="pres">
      <dgm:prSet presAssocID="{0A63884A-A45E-2B44-B3F0-4B060EDCA440}" presName="ChildText" presStyleLbl="revTx" presStyleIdx="2" presStyleCnt="4">
        <dgm:presLayoutVars>
          <dgm:chMax val="0"/>
          <dgm:chPref val="0"/>
          <dgm:bulletEnabled val="1"/>
        </dgm:presLayoutVars>
      </dgm:prSet>
      <dgm:spPr/>
    </dgm:pt>
    <dgm:pt modelId="{685306DB-54A5-0B4D-BBD7-83C7FD0F6347}" type="pres">
      <dgm:prSet presAssocID="{F6E5E674-5A7E-634C-8467-C833C97C4E30}" presName="sibTrans" presStyleCnt="0"/>
      <dgm:spPr/>
    </dgm:pt>
    <dgm:pt modelId="{B3BF4EE5-5B03-CB4A-9E84-DAD7E9E1E079}" type="pres">
      <dgm:prSet presAssocID="{42B1512D-30EC-0B4E-A4C8-3448D9EEE3F1}" presName="composite" presStyleCnt="0"/>
      <dgm:spPr/>
    </dgm:pt>
    <dgm:pt modelId="{2FD0C251-C8D3-234E-A64B-2D5F3BE2D69C}" type="pres">
      <dgm:prSet presAssocID="{42B1512D-30EC-0B4E-A4C8-3448D9EEE3F1}" presName="bentUpArrow1" presStyleLbl="alignImgPlace1" presStyleIdx="3" presStyleCnt="4"/>
      <dgm:spPr/>
    </dgm:pt>
    <dgm:pt modelId="{1A1B9AA8-ED66-D841-834D-F69DF25AAF4F}" type="pres">
      <dgm:prSet presAssocID="{42B1512D-30EC-0B4E-A4C8-3448D9EEE3F1}" presName="ParentText" presStyleLbl="node1" presStyleIdx="3" presStyleCnt="5">
        <dgm:presLayoutVars>
          <dgm:chMax val="1"/>
          <dgm:chPref val="1"/>
          <dgm:bulletEnabled val="1"/>
        </dgm:presLayoutVars>
      </dgm:prSet>
      <dgm:spPr/>
    </dgm:pt>
    <dgm:pt modelId="{AEBB02EB-D7A0-B047-B102-5848DF80897F}" type="pres">
      <dgm:prSet presAssocID="{42B1512D-30EC-0B4E-A4C8-3448D9EEE3F1}" presName="ChildText" presStyleLbl="revTx" presStyleIdx="3" presStyleCnt="4">
        <dgm:presLayoutVars>
          <dgm:chMax val="0"/>
          <dgm:chPref val="0"/>
          <dgm:bulletEnabled val="1"/>
        </dgm:presLayoutVars>
      </dgm:prSet>
      <dgm:spPr/>
    </dgm:pt>
    <dgm:pt modelId="{0F280BA1-E440-2F4C-8F02-43B9BC4CC774}" type="pres">
      <dgm:prSet presAssocID="{7935C27D-185E-B548-82AE-33B7A0FCF87E}" presName="sibTrans" presStyleCnt="0"/>
      <dgm:spPr/>
    </dgm:pt>
    <dgm:pt modelId="{8A8EAEDD-4327-BC4F-9B7D-6850342CE00C}" type="pres">
      <dgm:prSet presAssocID="{ADA0BE62-B516-4243-913F-E4F52A42E8FE}" presName="composite" presStyleCnt="0"/>
      <dgm:spPr/>
    </dgm:pt>
    <dgm:pt modelId="{A05284DF-7A7D-2A4D-BAF2-48B887B0BA76}" type="pres">
      <dgm:prSet presAssocID="{ADA0BE62-B516-4243-913F-E4F52A42E8FE}" presName="ParentText" presStyleLbl="node1" presStyleIdx="4" presStyleCnt="5">
        <dgm:presLayoutVars>
          <dgm:chMax val="1"/>
          <dgm:chPref val="1"/>
          <dgm:bulletEnabled val="1"/>
        </dgm:presLayoutVars>
      </dgm:prSet>
      <dgm:spPr/>
    </dgm:pt>
  </dgm:ptLst>
  <dgm:cxnLst>
    <dgm:cxn modelId="{A20B9A06-F50A-F44E-8570-38A1F3BEFF47}" srcId="{8118CC94-7883-0B4C-9FCB-9F1F348C5499}" destId="{360933AF-1BDB-AF4A-BBDC-3D580E91E980}" srcOrd="1" destOrd="0" parTransId="{36220619-7C72-9D41-B62D-8A026F23927B}" sibTransId="{CC688E74-1299-824A-944E-43EFB6CC8C71}"/>
    <dgm:cxn modelId="{CC7E0D3A-6DA5-0D44-A619-44BF53A59C92}" type="presOf" srcId="{57F654E8-BCB9-9742-81A2-6C95C92B24CD}" destId="{10708C91-1443-364E-8F84-0E688AF2B4D3}" srcOrd="0" destOrd="0" presId="urn:microsoft.com/office/officeart/2005/8/layout/StepDownProcess"/>
    <dgm:cxn modelId="{95A5B53E-3F68-7248-9061-FE9D08D73A2E}" type="presOf" srcId="{0A63884A-A45E-2B44-B3F0-4B060EDCA440}" destId="{8339A103-AC4B-844B-AB3E-3822CBAA1081}" srcOrd="0" destOrd="0" presId="urn:microsoft.com/office/officeart/2005/8/layout/StepDownProcess"/>
    <dgm:cxn modelId="{C00A5251-1CFE-7649-962B-B335FCBBDB04}" type="presOf" srcId="{ADA0BE62-B516-4243-913F-E4F52A42E8FE}" destId="{A05284DF-7A7D-2A4D-BAF2-48B887B0BA76}" srcOrd="0" destOrd="0" presId="urn:microsoft.com/office/officeart/2005/8/layout/StepDownProcess"/>
    <dgm:cxn modelId="{DCBB1F5D-A2D0-6D46-BD27-D754B9681B78}" type="presOf" srcId="{360933AF-1BDB-AF4A-BBDC-3D580E91E980}" destId="{6B8AFAA0-152E-184D-B09F-B752833295CC}" srcOrd="0" destOrd="0" presId="urn:microsoft.com/office/officeart/2005/8/layout/StepDownProcess"/>
    <dgm:cxn modelId="{5494475E-3EB3-A94D-ABCE-06949D2975DC}" srcId="{8118CC94-7883-0B4C-9FCB-9F1F348C5499}" destId="{0A63884A-A45E-2B44-B3F0-4B060EDCA440}" srcOrd="2" destOrd="0" parTransId="{0C826175-44EF-BA46-95E0-39E8E70DA2E8}" sibTransId="{F6E5E674-5A7E-634C-8467-C833C97C4E30}"/>
    <dgm:cxn modelId="{6EF5E589-9258-204D-9CBC-94CD01577851}" srcId="{8118CC94-7883-0B4C-9FCB-9F1F348C5499}" destId="{42B1512D-30EC-0B4E-A4C8-3448D9EEE3F1}" srcOrd="3" destOrd="0" parTransId="{CB7CC962-26E7-1243-A388-F3D9CA5FA187}" sibTransId="{7935C27D-185E-B548-82AE-33B7A0FCF87E}"/>
    <dgm:cxn modelId="{2EE7D7AB-1DB6-0445-A5D3-FC3A349A273C}" srcId="{8118CC94-7883-0B4C-9FCB-9F1F348C5499}" destId="{ADA0BE62-B516-4243-913F-E4F52A42E8FE}" srcOrd="4" destOrd="0" parTransId="{0CA240E4-44D3-4B43-93AE-697A8D47519A}" sibTransId="{663886EC-4EB0-0845-A684-894C769AC0CA}"/>
    <dgm:cxn modelId="{B0B8C0BC-522C-1F47-905E-6C0242D071CE}" type="presOf" srcId="{8118CC94-7883-0B4C-9FCB-9F1F348C5499}" destId="{39FF3248-7DAD-274D-94AA-225B7FE23D10}" srcOrd="0" destOrd="0" presId="urn:microsoft.com/office/officeart/2005/8/layout/StepDownProcess"/>
    <dgm:cxn modelId="{6F854FCA-D375-4E42-B757-2D651454BD21}" type="presOf" srcId="{42B1512D-30EC-0B4E-A4C8-3448D9EEE3F1}" destId="{1A1B9AA8-ED66-D841-834D-F69DF25AAF4F}" srcOrd="0" destOrd="0" presId="urn:microsoft.com/office/officeart/2005/8/layout/StepDownProcess"/>
    <dgm:cxn modelId="{CF0B33F7-28E2-144B-87C8-DDFF1DEF2E91}" srcId="{8118CC94-7883-0B4C-9FCB-9F1F348C5499}" destId="{57F654E8-BCB9-9742-81A2-6C95C92B24CD}" srcOrd="0" destOrd="0" parTransId="{8FE716F0-35A8-0A48-85F6-F37BF5DD1366}" sibTransId="{4CD394FB-D63A-6B43-A2E4-2EC66B64A5A9}"/>
    <dgm:cxn modelId="{A5709006-28BE-3844-81E0-21D6F9802704}" type="presParOf" srcId="{39FF3248-7DAD-274D-94AA-225B7FE23D10}" destId="{B8AA1FEA-96C8-B741-818D-7C4CD267F01E}" srcOrd="0" destOrd="0" presId="urn:microsoft.com/office/officeart/2005/8/layout/StepDownProcess"/>
    <dgm:cxn modelId="{81342199-6E66-F040-B3D9-7CDAE9E37B87}" type="presParOf" srcId="{B8AA1FEA-96C8-B741-818D-7C4CD267F01E}" destId="{1203E95B-CCF5-D645-8288-A7BEABE50C0E}" srcOrd="0" destOrd="0" presId="urn:microsoft.com/office/officeart/2005/8/layout/StepDownProcess"/>
    <dgm:cxn modelId="{1626D511-FB08-9241-807C-9A508D6DB17D}" type="presParOf" srcId="{B8AA1FEA-96C8-B741-818D-7C4CD267F01E}" destId="{10708C91-1443-364E-8F84-0E688AF2B4D3}" srcOrd="1" destOrd="0" presId="urn:microsoft.com/office/officeart/2005/8/layout/StepDownProcess"/>
    <dgm:cxn modelId="{7F1EA124-144C-5048-AD8D-86758D7D5062}" type="presParOf" srcId="{B8AA1FEA-96C8-B741-818D-7C4CD267F01E}" destId="{8DFCE0CA-4C69-5748-A1BB-7377D9F938AD}" srcOrd="2" destOrd="0" presId="urn:microsoft.com/office/officeart/2005/8/layout/StepDownProcess"/>
    <dgm:cxn modelId="{07C873E6-FAE1-104B-A5FE-62F27DEE25EE}" type="presParOf" srcId="{39FF3248-7DAD-274D-94AA-225B7FE23D10}" destId="{B198AE87-CBB8-A741-8D39-082DE3533154}" srcOrd="1" destOrd="0" presId="urn:microsoft.com/office/officeart/2005/8/layout/StepDownProcess"/>
    <dgm:cxn modelId="{32D3EFD9-A515-AA46-9900-31543AA4F769}" type="presParOf" srcId="{39FF3248-7DAD-274D-94AA-225B7FE23D10}" destId="{15F97B16-2AD9-D14B-96AD-BB99F9D8C8FA}" srcOrd="2" destOrd="0" presId="urn:microsoft.com/office/officeart/2005/8/layout/StepDownProcess"/>
    <dgm:cxn modelId="{84CE8508-C59E-5E4C-B57F-5CBE3FF91D38}" type="presParOf" srcId="{15F97B16-2AD9-D14B-96AD-BB99F9D8C8FA}" destId="{DBAF45A5-24C1-5743-8C04-544DC848B1AC}" srcOrd="0" destOrd="0" presId="urn:microsoft.com/office/officeart/2005/8/layout/StepDownProcess"/>
    <dgm:cxn modelId="{316BE208-1A7D-9540-A042-D9360EDC878B}" type="presParOf" srcId="{15F97B16-2AD9-D14B-96AD-BB99F9D8C8FA}" destId="{6B8AFAA0-152E-184D-B09F-B752833295CC}" srcOrd="1" destOrd="0" presId="urn:microsoft.com/office/officeart/2005/8/layout/StepDownProcess"/>
    <dgm:cxn modelId="{F8EC6D72-3688-AA41-967B-1A71FD9D1854}" type="presParOf" srcId="{15F97B16-2AD9-D14B-96AD-BB99F9D8C8FA}" destId="{F80D1A8B-7F2E-A34D-B94D-4C6CF60EB883}" srcOrd="2" destOrd="0" presId="urn:microsoft.com/office/officeart/2005/8/layout/StepDownProcess"/>
    <dgm:cxn modelId="{223491EF-D1CB-FF44-A564-E12367018A32}" type="presParOf" srcId="{39FF3248-7DAD-274D-94AA-225B7FE23D10}" destId="{BFFA2EB6-32D0-7D4B-AF47-363C969007E9}" srcOrd="3" destOrd="0" presId="urn:microsoft.com/office/officeart/2005/8/layout/StepDownProcess"/>
    <dgm:cxn modelId="{D131EA95-D855-B141-9CE7-640FE5919E7C}" type="presParOf" srcId="{39FF3248-7DAD-274D-94AA-225B7FE23D10}" destId="{B1455670-8058-664A-B3D1-36D0E2BEA048}" srcOrd="4" destOrd="0" presId="urn:microsoft.com/office/officeart/2005/8/layout/StepDownProcess"/>
    <dgm:cxn modelId="{BF9467F0-E8B5-7243-A60D-62D857C1EE78}" type="presParOf" srcId="{B1455670-8058-664A-B3D1-36D0E2BEA048}" destId="{1701F085-069F-F94B-AE6E-EC5C1ACEDE40}" srcOrd="0" destOrd="0" presId="urn:microsoft.com/office/officeart/2005/8/layout/StepDownProcess"/>
    <dgm:cxn modelId="{F42AA65A-23F6-3F40-B412-E2DA3ADF54CB}" type="presParOf" srcId="{B1455670-8058-664A-B3D1-36D0E2BEA048}" destId="{8339A103-AC4B-844B-AB3E-3822CBAA1081}" srcOrd="1" destOrd="0" presId="urn:microsoft.com/office/officeart/2005/8/layout/StepDownProcess"/>
    <dgm:cxn modelId="{9537C35B-90B9-1542-ABED-6BA9820CBC7A}" type="presParOf" srcId="{B1455670-8058-664A-B3D1-36D0E2BEA048}" destId="{1462DFAB-C2BA-8246-BC69-1280F1040FF7}" srcOrd="2" destOrd="0" presId="urn:microsoft.com/office/officeart/2005/8/layout/StepDownProcess"/>
    <dgm:cxn modelId="{3EC1DC54-51F9-E644-9472-2600C93E914E}" type="presParOf" srcId="{39FF3248-7DAD-274D-94AA-225B7FE23D10}" destId="{685306DB-54A5-0B4D-BBD7-83C7FD0F6347}" srcOrd="5" destOrd="0" presId="urn:microsoft.com/office/officeart/2005/8/layout/StepDownProcess"/>
    <dgm:cxn modelId="{22DE606C-3675-704F-A52C-787FF4288CE0}" type="presParOf" srcId="{39FF3248-7DAD-274D-94AA-225B7FE23D10}" destId="{B3BF4EE5-5B03-CB4A-9E84-DAD7E9E1E079}" srcOrd="6" destOrd="0" presId="urn:microsoft.com/office/officeart/2005/8/layout/StepDownProcess"/>
    <dgm:cxn modelId="{114C2383-6402-F14E-8735-22C0AC219B91}" type="presParOf" srcId="{B3BF4EE5-5B03-CB4A-9E84-DAD7E9E1E079}" destId="{2FD0C251-C8D3-234E-A64B-2D5F3BE2D69C}" srcOrd="0" destOrd="0" presId="urn:microsoft.com/office/officeart/2005/8/layout/StepDownProcess"/>
    <dgm:cxn modelId="{947DC66B-E1BE-3449-B4AD-8AEF1647FF4A}" type="presParOf" srcId="{B3BF4EE5-5B03-CB4A-9E84-DAD7E9E1E079}" destId="{1A1B9AA8-ED66-D841-834D-F69DF25AAF4F}" srcOrd="1" destOrd="0" presId="urn:microsoft.com/office/officeart/2005/8/layout/StepDownProcess"/>
    <dgm:cxn modelId="{F4C10C88-8263-FA40-86C8-9731B79F7034}" type="presParOf" srcId="{B3BF4EE5-5B03-CB4A-9E84-DAD7E9E1E079}" destId="{AEBB02EB-D7A0-B047-B102-5848DF80897F}" srcOrd="2" destOrd="0" presId="urn:microsoft.com/office/officeart/2005/8/layout/StepDownProcess"/>
    <dgm:cxn modelId="{2786C6CC-53E1-BC40-B587-11C41AA63806}" type="presParOf" srcId="{39FF3248-7DAD-274D-94AA-225B7FE23D10}" destId="{0F280BA1-E440-2F4C-8F02-43B9BC4CC774}" srcOrd="7" destOrd="0" presId="urn:microsoft.com/office/officeart/2005/8/layout/StepDownProcess"/>
    <dgm:cxn modelId="{312758A0-BB3C-584D-9E22-665447C95EF3}" type="presParOf" srcId="{39FF3248-7DAD-274D-94AA-225B7FE23D10}" destId="{8A8EAEDD-4327-BC4F-9B7D-6850342CE00C}" srcOrd="8" destOrd="0" presId="urn:microsoft.com/office/officeart/2005/8/layout/StepDownProcess"/>
    <dgm:cxn modelId="{59AEC87D-81FB-7745-9A83-D7E3C624BD28}" type="presParOf" srcId="{8A8EAEDD-4327-BC4F-9B7D-6850342CE00C}" destId="{A05284DF-7A7D-2A4D-BAF2-48B887B0BA76}"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084C4C-8F7B-2243-AA6E-93CF678D74A0}" type="doc">
      <dgm:prSet loTypeId="urn:microsoft.com/office/officeart/2005/8/layout/bProcess3" loCatId="" qsTypeId="urn:microsoft.com/office/officeart/2005/8/quickstyle/simple1" qsCatId="simple" csTypeId="urn:microsoft.com/office/officeart/2005/8/colors/accent1_2" csCatId="accent1" phldr="1"/>
      <dgm:spPr/>
      <dgm:t>
        <a:bodyPr/>
        <a:lstStyle/>
        <a:p>
          <a:endParaRPr lang="en-US"/>
        </a:p>
      </dgm:t>
    </dgm:pt>
    <dgm:pt modelId="{82A3B618-E90E-3045-A77A-57445C16F3C9}">
      <dgm:prSet phldrT="[Text]"/>
      <dgm:spPr/>
      <dgm:t>
        <a:bodyPr/>
        <a:lstStyle/>
        <a:p>
          <a:r>
            <a:rPr lang="en-US" dirty="0"/>
            <a:t>Raw Review Text</a:t>
          </a:r>
        </a:p>
      </dgm:t>
    </dgm:pt>
    <dgm:pt modelId="{137F1AA5-ABCC-AC4C-8394-F24E0CE625DE}" type="parTrans" cxnId="{EEF23EC9-9DA2-D44C-B46E-9663BDD58469}">
      <dgm:prSet/>
      <dgm:spPr/>
      <dgm:t>
        <a:bodyPr/>
        <a:lstStyle/>
        <a:p>
          <a:endParaRPr lang="en-US"/>
        </a:p>
      </dgm:t>
    </dgm:pt>
    <dgm:pt modelId="{F847D5D7-6591-694C-82D5-26A6E7632B2D}" type="sibTrans" cxnId="{EEF23EC9-9DA2-D44C-B46E-9663BDD58469}">
      <dgm:prSet/>
      <dgm:spPr/>
      <dgm:t>
        <a:bodyPr/>
        <a:lstStyle/>
        <a:p>
          <a:endParaRPr lang="en-US"/>
        </a:p>
      </dgm:t>
    </dgm:pt>
    <dgm:pt modelId="{E0E6BE22-8E44-D44B-B922-70FC20902A3C}">
      <dgm:prSet phldrT="[Text]"/>
      <dgm:spPr/>
      <dgm:t>
        <a:bodyPr/>
        <a:lstStyle/>
        <a:p>
          <a:r>
            <a:rPr lang="en-US" dirty="0"/>
            <a:t>Cleaning &amp; Tokenization</a:t>
          </a:r>
        </a:p>
      </dgm:t>
    </dgm:pt>
    <dgm:pt modelId="{299C7947-3F1E-384B-8309-9B86516978DC}" type="parTrans" cxnId="{8259F79B-3D9D-CC47-9AE0-2C70B850CDA7}">
      <dgm:prSet/>
      <dgm:spPr/>
      <dgm:t>
        <a:bodyPr/>
        <a:lstStyle/>
        <a:p>
          <a:endParaRPr lang="en-US"/>
        </a:p>
      </dgm:t>
    </dgm:pt>
    <dgm:pt modelId="{735EF27C-D9C1-9641-86E3-889FA2C9838C}" type="sibTrans" cxnId="{8259F79B-3D9D-CC47-9AE0-2C70B850CDA7}">
      <dgm:prSet/>
      <dgm:spPr/>
      <dgm:t>
        <a:bodyPr/>
        <a:lstStyle/>
        <a:p>
          <a:endParaRPr lang="en-US"/>
        </a:p>
      </dgm:t>
    </dgm:pt>
    <dgm:pt modelId="{21BEF2F6-50C2-A945-B574-2564335BC875}">
      <dgm:prSet phldrT="[Text]"/>
      <dgm:spPr/>
      <dgm:t>
        <a:bodyPr/>
        <a:lstStyle/>
        <a:p>
          <a:r>
            <a:rPr lang="en-US" dirty="0"/>
            <a:t>Transformer Embeddings</a:t>
          </a:r>
        </a:p>
      </dgm:t>
    </dgm:pt>
    <dgm:pt modelId="{A092F9FD-4631-0C4D-9B4E-9DDC44A9228F}" type="parTrans" cxnId="{DCD563A9-B8ED-4D44-B536-826AD8A0D292}">
      <dgm:prSet/>
      <dgm:spPr/>
      <dgm:t>
        <a:bodyPr/>
        <a:lstStyle/>
        <a:p>
          <a:endParaRPr lang="en-US"/>
        </a:p>
      </dgm:t>
    </dgm:pt>
    <dgm:pt modelId="{96B2EC6C-72E0-CD42-B063-C4701CCD2D6F}" type="sibTrans" cxnId="{DCD563A9-B8ED-4D44-B536-826AD8A0D292}">
      <dgm:prSet/>
      <dgm:spPr/>
      <dgm:t>
        <a:bodyPr/>
        <a:lstStyle/>
        <a:p>
          <a:endParaRPr lang="en-US"/>
        </a:p>
      </dgm:t>
    </dgm:pt>
    <dgm:pt modelId="{A295D783-DA5B-8243-BE20-FE506E1C950C}">
      <dgm:prSet phldrT="[Text]"/>
      <dgm:spPr/>
      <dgm:t>
        <a:bodyPr/>
        <a:lstStyle/>
        <a:p>
          <a:r>
            <a:rPr lang="en-US" dirty="0"/>
            <a:t>Sentiment Classification</a:t>
          </a:r>
        </a:p>
      </dgm:t>
    </dgm:pt>
    <dgm:pt modelId="{DD12C828-5A1E-EE42-80B0-D8EFA00BE124}" type="parTrans" cxnId="{B895E837-D503-574D-851C-2D8AC67316DD}">
      <dgm:prSet/>
      <dgm:spPr/>
      <dgm:t>
        <a:bodyPr/>
        <a:lstStyle/>
        <a:p>
          <a:endParaRPr lang="en-US"/>
        </a:p>
      </dgm:t>
    </dgm:pt>
    <dgm:pt modelId="{5D0674EF-27C3-F343-AFD8-AAAD89A42E81}" type="sibTrans" cxnId="{B895E837-D503-574D-851C-2D8AC67316DD}">
      <dgm:prSet/>
      <dgm:spPr/>
      <dgm:t>
        <a:bodyPr/>
        <a:lstStyle/>
        <a:p>
          <a:endParaRPr lang="en-US"/>
        </a:p>
      </dgm:t>
    </dgm:pt>
    <dgm:pt modelId="{2F0DB2E3-94A1-0C4A-816A-D6F634F98449}" type="pres">
      <dgm:prSet presAssocID="{D8084C4C-8F7B-2243-AA6E-93CF678D74A0}" presName="Name0" presStyleCnt="0">
        <dgm:presLayoutVars>
          <dgm:dir/>
          <dgm:resizeHandles val="exact"/>
        </dgm:presLayoutVars>
      </dgm:prSet>
      <dgm:spPr/>
    </dgm:pt>
    <dgm:pt modelId="{E8100E6B-77C4-884D-88C9-9345F78F365B}" type="pres">
      <dgm:prSet presAssocID="{82A3B618-E90E-3045-A77A-57445C16F3C9}" presName="node" presStyleLbl="node1" presStyleIdx="0" presStyleCnt="4">
        <dgm:presLayoutVars>
          <dgm:bulletEnabled val="1"/>
        </dgm:presLayoutVars>
      </dgm:prSet>
      <dgm:spPr/>
    </dgm:pt>
    <dgm:pt modelId="{D66AE284-E2D8-994F-AF2C-07C8000BE1D0}" type="pres">
      <dgm:prSet presAssocID="{F847D5D7-6591-694C-82D5-26A6E7632B2D}" presName="sibTrans" presStyleLbl="sibTrans1D1" presStyleIdx="0" presStyleCnt="3"/>
      <dgm:spPr/>
    </dgm:pt>
    <dgm:pt modelId="{7E66EE86-766B-F144-8D06-3E6EB9AFB2AB}" type="pres">
      <dgm:prSet presAssocID="{F847D5D7-6591-694C-82D5-26A6E7632B2D}" presName="connectorText" presStyleLbl="sibTrans1D1" presStyleIdx="0" presStyleCnt="3"/>
      <dgm:spPr/>
    </dgm:pt>
    <dgm:pt modelId="{75FD9723-7714-0247-996C-A59055F15171}" type="pres">
      <dgm:prSet presAssocID="{E0E6BE22-8E44-D44B-B922-70FC20902A3C}" presName="node" presStyleLbl="node1" presStyleIdx="1" presStyleCnt="4">
        <dgm:presLayoutVars>
          <dgm:bulletEnabled val="1"/>
        </dgm:presLayoutVars>
      </dgm:prSet>
      <dgm:spPr/>
    </dgm:pt>
    <dgm:pt modelId="{E4048F24-7857-C542-B5EE-BC2F4E4888D8}" type="pres">
      <dgm:prSet presAssocID="{735EF27C-D9C1-9641-86E3-889FA2C9838C}" presName="sibTrans" presStyleLbl="sibTrans1D1" presStyleIdx="1" presStyleCnt="3"/>
      <dgm:spPr/>
    </dgm:pt>
    <dgm:pt modelId="{6235C154-1B22-2B4A-B296-B054BF88EB69}" type="pres">
      <dgm:prSet presAssocID="{735EF27C-D9C1-9641-86E3-889FA2C9838C}" presName="connectorText" presStyleLbl="sibTrans1D1" presStyleIdx="1" presStyleCnt="3"/>
      <dgm:spPr/>
    </dgm:pt>
    <dgm:pt modelId="{FF141435-5FD4-D14E-87D2-593F84C3E999}" type="pres">
      <dgm:prSet presAssocID="{21BEF2F6-50C2-A945-B574-2564335BC875}" presName="node" presStyleLbl="node1" presStyleIdx="2" presStyleCnt="4">
        <dgm:presLayoutVars>
          <dgm:bulletEnabled val="1"/>
        </dgm:presLayoutVars>
      </dgm:prSet>
      <dgm:spPr/>
    </dgm:pt>
    <dgm:pt modelId="{B42E3ACD-6E4A-2A41-AAAC-AEE9FC5BFDC6}" type="pres">
      <dgm:prSet presAssocID="{96B2EC6C-72E0-CD42-B063-C4701CCD2D6F}" presName="sibTrans" presStyleLbl="sibTrans1D1" presStyleIdx="2" presStyleCnt="3"/>
      <dgm:spPr/>
    </dgm:pt>
    <dgm:pt modelId="{0E04C712-28D2-BE4A-AD98-5692CC2279F5}" type="pres">
      <dgm:prSet presAssocID="{96B2EC6C-72E0-CD42-B063-C4701CCD2D6F}" presName="connectorText" presStyleLbl="sibTrans1D1" presStyleIdx="2" presStyleCnt="3"/>
      <dgm:spPr/>
    </dgm:pt>
    <dgm:pt modelId="{5800EDBB-A93A-0648-9213-9EC166713C31}" type="pres">
      <dgm:prSet presAssocID="{A295D783-DA5B-8243-BE20-FE506E1C950C}" presName="node" presStyleLbl="node1" presStyleIdx="3" presStyleCnt="4">
        <dgm:presLayoutVars>
          <dgm:bulletEnabled val="1"/>
        </dgm:presLayoutVars>
      </dgm:prSet>
      <dgm:spPr/>
    </dgm:pt>
  </dgm:ptLst>
  <dgm:cxnLst>
    <dgm:cxn modelId="{DF5D2907-3593-0441-A941-78A8FBA92F18}" type="presOf" srcId="{96B2EC6C-72E0-CD42-B063-C4701CCD2D6F}" destId="{B42E3ACD-6E4A-2A41-AAAC-AEE9FC5BFDC6}" srcOrd="0" destOrd="0" presId="urn:microsoft.com/office/officeart/2005/8/layout/bProcess3"/>
    <dgm:cxn modelId="{B895E837-D503-574D-851C-2D8AC67316DD}" srcId="{D8084C4C-8F7B-2243-AA6E-93CF678D74A0}" destId="{A295D783-DA5B-8243-BE20-FE506E1C950C}" srcOrd="3" destOrd="0" parTransId="{DD12C828-5A1E-EE42-80B0-D8EFA00BE124}" sibTransId="{5D0674EF-27C3-F343-AFD8-AAAD89A42E81}"/>
    <dgm:cxn modelId="{5E1E564B-CF84-A44E-B8F5-8E1A402F8350}" type="presOf" srcId="{735EF27C-D9C1-9641-86E3-889FA2C9838C}" destId="{6235C154-1B22-2B4A-B296-B054BF88EB69}" srcOrd="1" destOrd="0" presId="urn:microsoft.com/office/officeart/2005/8/layout/bProcess3"/>
    <dgm:cxn modelId="{4075E969-620A-C045-8D24-2960683523F6}" type="presOf" srcId="{A295D783-DA5B-8243-BE20-FE506E1C950C}" destId="{5800EDBB-A93A-0648-9213-9EC166713C31}" srcOrd="0" destOrd="0" presId="urn:microsoft.com/office/officeart/2005/8/layout/bProcess3"/>
    <dgm:cxn modelId="{07594D6D-763A-8243-B7A6-4305F44B925B}" type="presOf" srcId="{21BEF2F6-50C2-A945-B574-2564335BC875}" destId="{FF141435-5FD4-D14E-87D2-593F84C3E999}" srcOrd="0" destOrd="0" presId="urn:microsoft.com/office/officeart/2005/8/layout/bProcess3"/>
    <dgm:cxn modelId="{4213FF81-1FAF-CD4E-91B4-C0C61CD1DBA3}" type="presOf" srcId="{735EF27C-D9C1-9641-86E3-889FA2C9838C}" destId="{E4048F24-7857-C542-B5EE-BC2F4E4888D8}" srcOrd="0" destOrd="0" presId="urn:microsoft.com/office/officeart/2005/8/layout/bProcess3"/>
    <dgm:cxn modelId="{CBABA68A-225B-884E-ACAA-9FE5538257F7}" type="presOf" srcId="{96B2EC6C-72E0-CD42-B063-C4701CCD2D6F}" destId="{0E04C712-28D2-BE4A-AD98-5692CC2279F5}" srcOrd="1" destOrd="0" presId="urn:microsoft.com/office/officeart/2005/8/layout/bProcess3"/>
    <dgm:cxn modelId="{8259F79B-3D9D-CC47-9AE0-2C70B850CDA7}" srcId="{D8084C4C-8F7B-2243-AA6E-93CF678D74A0}" destId="{E0E6BE22-8E44-D44B-B922-70FC20902A3C}" srcOrd="1" destOrd="0" parTransId="{299C7947-3F1E-384B-8309-9B86516978DC}" sibTransId="{735EF27C-D9C1-9641-86E3-889FA2C9838C}"/>
    <dgm:cxn modelId="{C4EA1FA0-9E26-B74B-9343-7367564911D0}" type="presOf" srcId="{E0E6BE22-8E44-D44B-B922-70FC20902A3C}" destId="{75FD9723-7714-0247-996C-A59055F15171}" srcOrd="0" destOrd="0" presId="urn:microsoft.com/office/officeart/2005/8/layout/bProcess3"/>
    <dgm:cxn modelId="{2A52D5A7-07F5-7F4D-9764-94120995A17C}" type="presOf" srcId="{F847D5D7-6591-694C-82D5-26A6E7632B2D}" destId="{7E66EE86-766B-F144-8D06-3E6EB9AFB2AB}" srcOrd="1" destOrd="0" presId="urn:microsoft.com/office/officeart/2005/8/layout/bProcess3"/>
    <dgm:cxn modelId="{DCD563A9-B8ED-4D44-B536-826AD8A0D292}" srcId="{D8084C4C-8F7B-2243-AA6E-93CF678D74A0}" destId="{21BEF2F6-50C2-A945-B574-2564335BC875}" srcOrd="2" destOrd="0" parTransId="{A092F9FD-4631-0C4D-9B4E-9DDC44A9228F}" sibTransId="{96B2EC6C-72E0-CD42-B063-C4701CCD2D6F}"/>
    <dgm:cxn modelId="{C91B44B3-CA16-DF47-9E74-0C0A93384030}" type="presOf" srcId="{F847D5D7-6591-694C-82D5-26A6E7632B2D}" destId="{D66AE284-E2D8-994F-AF2C-07C8000BE1D0}" srcOrd="0" destOrd="0" presId="urn:microsoft.com/office/officeart/2005/8/layout/bProcess3"/>
    <dgm:cxn modelId="{2673FBBF-CC7A-814B-9E75-CF1AF19AE12B}" type="presOf" srcId="{D8084C4C-8F7B-2243-AA6E-93CF678D74A0}" destId="{2F0DB2E3-94A1-0C4A-816A-D6F634F98449}" srcOrd="0" destOrd="0" presId="urn:microsoft.com/office/officeart/2005/8/layout/bProcess3"/>
    <dgm:cxn modelId="{EEF23EC9-9DA2-D44C-B46E-9663BDD58469}" srcId="{D8084C4C-8F7B-2243-AA6E-93CF678D74A0}" destId="{82A3B618-E90E-3045-A77A-57445C16F3C9}" srcOrd="0" destOrd="0" parTransId="{137F1AA5-ABCC-AC4C-8394-F24E0CE625DE}" sibTransId="{F847D5D7-6591-694C-82D5-26A6E7632B2D}"/>
    <dgm:cxn modelId="{C5F10BFE-0D8F-AC49-A183-D05A7A8C1ED7}" type="presOf" srcId="{82A3B618-E90E-3045-A77A-57445C16F3C9}" destId="{E8100E6B-77C4-884D-88C9-9345F78F365B}" srcOrd="0" destOrd="0" presId="urn:microsoft.com/office/officeart/2005/8/layout/bProcess3"/>
    <dgm:cxn modelId="{6AF3306D-EAE2-3740-BF84-9ADF3A9BB6A5}" type="presParOf" srcId="{2F0DB2E3-94A1-0C4A-816A-D6F634F98449}" destId="{E8100E6B-77C4-884D-88C9-9345F78F365B}" srcOrd="0" destOrd="0" presId="urn:microsoft.com/office/officeart/2005/8/layout/bProcess3"/>
    <dgm:cxn modelId="{CF7271CC-B913-9B42-BB85-6895EC50CA31}" type="presParOf" srcId="{2F0DB2E3-94A1-0C4A-816A-D6F634F98449}" destId="{D66AE284-E2D8-994F-AF2C-07C8000BE1D0}" srcOrd="1" destOrd="0" presId="urn:microsoft.com/office/officeart/2005/8/layout/bProcess3"/>
    <dgm:cxn modelId="{0AC7168B-557E-D842-A316-D4077B276DFC}" type="presParOf" srcId="{D66AE284-E2D8-994F-AF2C-07C8000BE1D0}" destId="{7E66EE86-766B-F144-8D06-3E6EB9AFB2AB}" srcOrd="0" destOrd="0" presId="urn:microsoft.com/office/officeart/2005/8/layout/bProcess3"/>
    <dgm:cxn modelId="{6F483FC3-D3F0-114B-B0A0-C3F6CDF8D496}" type="presParOf" srcId="{2F0DB2E3-94A1-0C4A-816A-D6F634F98449}" destId="{75FD9723-7714-0247-996C-A59055F15171}" srcOrd="2" destOrd="0" presId="urn:microsoft.com/office/officeart/2005/8/layout/bProcess3"/>
    <dgm:cxn modelId="{F65CF503-5A40-E040-9DF3-41D023A868DA}" type="presParOf" srcId="{2F0DB2E3-94A1-0C4A-816A-D6F634F98449}" destId="{E4048F24-7857-C542-B5EE-BC2F4E4888D8}" srcOrd="3" destOrd="0" presId="urn:microsoft.com/office/officeart/2005/8/layout/bProcess3"/>
    <dgm:cxn modelId="{1BDF9B6C-31A2-7745-8159-99F25DE17866}" type="presParOf" srcId="{E4048F24-7857-C542-B5EE-BC2F4E4888D8}" destId="{6235C154-1B22-2B4A-B296-B054BF88EB69}" srcOrd="0" destOrd="0" presId="urn:microsoft.com/office/officeart/2005/8/layout/bProcess3"/>
    <dgm:cxn modelId="{CF9C10CD-F816-6342-AECC-4D8BC8378497}" type="presParOf" srcId="{2F0DB2E3-94A1-0C4A-816A-D6F634F98449}" destId="{FF141435-5FD4-D14E-87D2-593F84C3E999}" srcOrd="4" destOrd="0" presId="urn:microsoft.com/office/officeart/2005/8/layout/bProcess3"/>
    <dgm:cxn modelId="{857F490C-4052-4B40-954C-39F0026D5D2E}" type="presParOf" srcId="{2F0DB2E3-94A1-0C4A-816A-D6F634F98449}" destId="{B42E3ACD-6E4A-2A41-AAAC-AEE9FC5BFDC6}" srcOrd="5" destOrd="0" presId="urn:microsoft.com/office/officeart/2005/8/layout/bProcess3"/>
    <dgm:cxn modelId="{4B1FF21D-3517-D042-ABE6-7A966822497B}" type="presParOf" srcId="{B42E3ACD-6E4A-2A41-AAAC-AEE9FC5BFDC6}" destId="{0E04C712-28D2-BE4A-AD98-5692CC2279F5}" srcOrd="0" destOrd="0" presId="urn:microsoft.com/office/officeart/2005/8/layout/bProcess3"/>
    <dgm:cxn modelId="{54863131-7B27-2945-AC63-D28EC32051FB}" type="presParOf" srcId="{2F0DB2E3-94A1-0C4A-816A-D6F634F98449}" destId="{5800EDBB-A93A-0648-9213-9EC166713C31}" srcOrd="6"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03E95B-CCF5-D645-8288-A7BEABE50C0E}">
      <dsp:nvSpPr>
        <dsp:cNvPr id="0" name=""/>
        <dsp:cNvSpPr/>
      </dsp:nvSpPr>
      <dsp:spPr>
        <a:xfrm rot="5400000">
          <a:off x="159040" y="627102"/>
          <a:ext cx="593066" cy="675185"/>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0708C91-1443-364E-8F84-0E688AF2B4D3}">
      <dsp:nvSpPr>
        <dsp:cNvPr id="0" name=""/>
        <dsp:cNvSpPr/>
      </dsp:nvSpPr>
      <dsp:spPr>
        <a:xfrm>
          <a:off x="1914" y="-30323"/>
          <a:ext cx="998374" cy="698829"/>
        </a:xfrm>
        <a:prstGeom prst="roundRect">
          <a:avLst>
            <a:gd name="adj" fmla="val 166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Raw HTML</a:t>
          </a:r>
        </a:p>
      </dsp:txBody>
      <dsp:txXfrm>
        <a:off x="36034" y="3797"/>
        <a:ext cx="930134" cy="630589"/>
      </dsp:txXfrm>
    </dsp:sp>
    <dsp:sp modelId="{8DFCE0CA-4C69-5748-A1BB-7377D9F938AD}">
      <dsp:nvSpPr>
        <dsp:cNvPr id="0" name=""/>
        <dsp:cNvSpPr/>
      </dsp:nvSpPr>
      <dsp:spPr>
        <a:xfrm>
          <a:off x="1000288" y="36326"/>
          <a:ext cx="726122" cy="564825"/>
        </a:xfrm>
        <a:prstGeom prst="rect">
          <a:avLst/>
        </a:prstGeom>
        <a:noFill/>
        <a:ln>
          <a:noFill/>
        </a:ln>
        <a:effectLst/>
      </dsp:spPr>
      <dsp:style>
        <a:lnRef idx="0">
          <a:scrgbClr r="0" g="0" b="0"/>
        </a:lnRef>
        <a:fillRef idx="0">
          <a:scrgbClr r="0" g="0" b="0"/>
        </a:fillRef>
        <a:effectRef idx="0">
          <a:scrgbClr r="0" g="0" b="0"/>
        </a:effectRef>
        <a:fontRef idx="minor"/>
      </dsp:style>
    </dsp:sp>
    <dsp:sp modelId="{DBAF45A5-24C1-5743-8C04-544DC848B1AC}">
      <dsp:nvSpPr>
        <dsp:cNvPr id="0" name=""/>
        <dsp:cNvSpPr/>
      </dsp:nvSpPr>
      <dsp:spPr>
        <a:xfrm rot="5400000">
          <a:off x="986799" y="1412119"/>
          <a:ext cx="593066" cy="675185"/>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B8AFAA0-152E-184D-B09F-B752833295CC}">
      <dsp:nvSpPr>
        <dsp:cNvPr id="0" name=""/>
        <dsp:cNvSpPr/>
      </dsp:nvSpPr>
      <dsp:spPr>
        <a:xfrm>
          <a:off x="829672" y="754693"/>
          <a:ext cx="998374" cy="698829"/>
        </a:xfrm>
        <a:prstGeom prst="roundRect">
          <a:avLst>
            <a:gd name="adj" fmla="val 166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Cleaned Dataset</a:t>
          </a:r>
        </a:p>
      </dsp:txBody>
      <dsp:txXfrm>
        <a:off x="863792" y="788813"/>
        <a:ext cx="930134" cy="630589"/>
      </dsp:txXfrm>
    </dsp:sp>
    <dsp:sp modelId="{F80D1A8B-7F2E-A34D-B94D-4C6CF60EB883}">
      <dsp:nvSpPr>
        <dsp:cNvPr id="0" name=""/>
        <dsp:cNvSpPr/>
      </dsp:nvSpPr>
      <dsp:spPr>
        <a:xfrm>
          <a:off x="1828047" y="821342"/>
          <a:ext cx="726122" cy="564825"/>
        </a:xfrm>
        <a:prstGeom prst="rect">
          <a:avLst/>
        </a:prstGeom>
        <a:noFill/>
        <a:ln>
          <a:noFill/>
        </a:ln>
        <a:effectLst/>
      </dsp:spPr>
      <dsp:style>
        <a:lnRef idx="0">
          <a:scrgbClr r="0" g="0" b="0"/>
        </a:lnRef>
        <a:fillRef idx="0">
          <a:scrgbClr r="0" g="0" b="0"/>
        </a:fillRef>
        <a:effectRef idx="0">
          <a:scrgbClr r="0" g="0" b="0"/>
        </a:effectRef>
        <a:fontRef idx="minor"/>
      </dsp:style>
    </dsp:sp>
    <dsp:sp modelId="{1701F085-069F-F94B-AE6E-EC5C1ACEDE40}">
      <dsp:nvSpPr>
        <dsp:cNvPr id="0" name=""/>
        <dsp:cNvSpPr/>
      </dsp:nvSpPr>
      <dsp:spPr>
        <a:xfrm rot="5400000">
          <a:off x="1814558" y="2197136"/>
          <a:ext cx="593066" cy="675185"/>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339A103-AC4B-844B-AB3E-3822CBAA1081}">
      <dsp:nvSpPr>
        <dsp:cNvPr id="0" name=""/>
        <dsp:cNvSpPr/>
      </dsp:nvSpPr>
      <dsp:spPr>
        <a:xfrm>
          <a:off x="1657431" y="1539710"/>
          <a:ext cx="998374" cy="698829"/>
        </a:xfrm>
        <a:prstGeom prst="roundRect">
          <a:avLst>
            <a:gd name="adj" fmla="val 166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Exploratory Analysis</a:t>
          </a:r>
        </a:p>
      </dsp:txBody>
      <dsp:txXfrm>
        <a:off x="1691551" y="1573830"/>
        <a:ext cx="930134" cy="630589"/>
      </dsp:txXfrm>
    </dsp:sp>
    <dsp:sp modelId="{1462DFAB-C2BA-8246-BC69-1280F1040FF7}">
      <dsp:nvSpPr>
        <dsp:cNvPr id="0" name=""/>
        <dsp:cNvSpPr/>
      </dsp:nvSpPr>
      <dsp:spPr>
        <a:xfrm>
          <a:off x="2655806" y="1606359"/>
          <a:ext cx="726122" cy="564825"/>
        </a:xfrm>
        <a:prstGeom prst="rect">
          <a:avLst/>
        </a:prstGeom>
        <a:noFill/>
        <a:ln>
          <a:noFill/>
        </a:ln>
        <a:effectLst/>
      </dsp:spPr>
      <dsp:style>
        <a:lnRef idx="0">
          <a:scrgbClr r="0" g="0" b="0"/>
        </a:lnRef>
        <a:fillRef idx="0">
          <a:scrgbClr r="0" g="0" b="0"/>
        </a:fillRef>
        <a:effectRef idx="0">
          <a:scrgbClr r="0" g="0" b="0"/>
        </a:effectRef>
        <a:fontRef idx="minor"/>
      </dsp:style>
    </dsp:sp>
    <dsp:sp modelId="{2FD0C251-C8D3-234E-A64B-2D5F3BE2D69C}">
      <dsp:nvSpPr>
        <dsp:cNvPr id="0" name=""/>
        <dsp:cNvSpPr/>
      </dsp:nvSpPr>
      <dsp:spPr>
        <a:xfrm rot="5400000">
          <a:off x="2642316" y="2982152"/>
          <a:ext cx="593066" cy="675185"/>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A1B9AA8-ED66-D841-834D-F69DF25AAF4F}">
      <dsp:nvSpPr>
        <dsp:cNvPr id="0" name=""/>
        <dsp:cNvSpPr/>
      </dsp:nvSpPr>
      <dsp:spPr>
        <a:xfrm>
          <a:off x="2485190" y="2324726"/>
          <a:ext cx="998374" cy="698829"/>
        </a:xfrm>
        <a:prstGeom prst="roundRect">
          <a:avLst>
            <a:gd name="adj" fmla="val 166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Feature Engineering</a:t>
          </a:r>
        </a:p>
      </dsp:txBody>
      <dsp:txXfrm>
        <a:off x="2519310" y="2358846"/>
        <a:ext cx="930134" cy="630589"/>
      </dsp:txXfrm>
    </dsp:sp>
    <dsp:sp modelId="{AEBB02EB-D7A0-B047-B102-5848DF80897F}">
      <dsp:nvSpPr>
        <dsp:cNvPr id="0" name=""/>
        <dsp:cNvSpPr/>
      </dsp:nvSpPr>
      <dsp:spPr>
        <a:xfrm>
          <a:off x="3483565" y="2391376"/>
          <a:ext cx="726122" cy="564825"/>
        </a:xfrm>
        <a:prstGeom prst="rect">
          <a:avLst/>
        </a:prstGeom>
        <a:noFill/>
        <a:ln>
          <a:noFill/>
        </a:ln>
        <a:effectLst/>
      </dsp:spPr>
      <dsp:style>
        <a:lnRef idx="0">
          <a:scrgbClr r="0" g="0" b="0"/>
        </a:lnRef>
        <a:fillRef idx="0">
          <a:scrgbClr r="0" g="0" b="0"/>
        </a:fillRef>
        <a:effectRef idx="0">
          <a:scrgbClr r="0" g="0" b="0"/>
        </a:effectRef>
        <a:fontRef idx="minor"/>
      </dsp:style>
    </dsp:sp>
    <dsp:sp modelId="{A05284DF-7A7D-2A4D-BAF2-48B887B0BA76}">
      <dsp:nvSpPr>
        <dsp:cNvPr id="0" name=""/>
        <dsp:cNvSpPr/>
      </dsp:nvSpPr>
      <dsp:spPr>
        <a:xfrm>
          <a:off x="3312949" y="3109743"/>
          <a:ext cx="998374" cy="698829"/>
        </a:xfrm>
        <a:prstGeom prst="roundRect">
          <a:avLst>
            <a:gd name="adj" fmla="val 166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Model Development</a:t>
          </a:r>
        </a:p>
      </dsp:txBody>
      <dsp:txXfrm>
        <a:off x="3347069" y="3143863"/>
        <a:ext cx="930134" cy="6305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6AE284-E2D8-994F-AF2C-07C8000BE1D0}">
      <dsp:nvSpPr>
        <dsp:cNvPr id="0" name=""/>
        <dsp:cNvSpPr/>
      </dsp:nvSpPr>
      <dsp:spPr>
        <a:xfrm>
          <a:off x="1932480" y="1041054"/>
          <a:ext cx="414076" cy="91440"/>
        </a:xfrm>
        <a:custGeom>
          <a:avLst/>
          <a:gdLst/>
          <a:ahLst/>
          <a:cxnLst/>
          <a:rect l="0" t="0" r="0" b="0"/>
          <a:pathLst>
            <a:path>
              <a:moveTo>
                <a:pt x="0" y="45720"/>
              </a:moveTo>
              <a:lnTo>
                <a:pt x="414076"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8401" y="1084551"/>
        <a:ext cx="22233" cy="4446"/>
      </dsp:txXfrm>
    </dsp:sp>
    <dsp:sp modelId="{E8100E6B-77C4-884D-88C9-9345F78F365B}">
      <dsp:nvSpPr>
        <dsp:cNvPr id="0" name=""/>
        <dsp:cNvSpPr/>
      </dsp:nvSpPr>
      <dsp:spPr>
        <a:xfrm>
          <a:off x="905" y="506762"/>
          <a:ext cx="1933374" cy="1160024"/>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Raw Review Text</a:t>
          </a:r>
        </a:p>
      </dsp:txBody>
      <dsp:txXfrm>
        <a:off x="905" y="506762"/>
        <a:ext cx="1933374" cy="1160024"/>
      </dsp:txXfrm>
    </dsp:sp>
    <dsp:sp modelId="{E4048F24-7857-C542-B5EE-BC2F4E4888D8}">
      <dsp:nvSpPr>
        <dsp:cNvPr id="0" name=""/>
        <dsp:cNvSpPr/>
      </dsp:nvSpPr>
      <dsp:spPr>
        <a:xfrm>
          <a:off x="967593" y="1664986"/>
          <a:ext cx="2378050" cy="414076"/>
        </a:xfrm>
        <a:custGeom>
          <a:avLst/>
          <a:gdLst/>
          <a:ahLst/>
          <a:cxnLst/>
          <a:rect l="0" t="0" r="0" b="0"/>
          <a:pathLst>
            <a:path>
              <a:moveTo>
                <a:pt x="2378050" y="0"/>
              </a:moveTo>
              <a:lnTo>
                <a:pt x="2378050" y="224138"/>
              </a:lnTo>
              <a:lnTo>
                <a:pt x="0" y="224138"/>
              </a:lnTo>
              <a:lnTo>
                <a:pt x="0" y="414076"/>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96136" y="1869801"/>
        <a:ext cx="120963" cy="4446"/>
      </dsp:txXfrm>
    </dsp:sp>
    <dsp:sp modelId="{75FD9723-7714-0247-996C-A59055F15171}">
      <dsp:nvSpPr>
        <dsp:cNvPr id="0" name=""/>
        <dsp:cNvSpPr/>
      </dsp:nvSpPr>
      <dsp:spPr>
        <a:xfrm>
          <a:off x="2378956" y="506762"/>
          <a:ext cx="1933374" cy="1160024"/>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Cleaning &amp; Tokenization</a:t>
          </a:r>
        </a:p>
      </dsp:txBody>
      <dsp:txXfrm>
        <a:off x="2378956" y="506762"/>
        <a:ext cx="1933374" cy="1160024"/>
      </dsp:txXfrm>
    </dsp:sp>
    <dsp:sp modelId="{B42E3ACD-6E4A-2A41-AAAC-AEE9FC5BFDC6}">
      <dsp:nvSpPr>
        <dsp:cNvPr id="0" name=""/>
        <dsp:cNvSpPr/>
      </dsp:nvSpPr>
      <dsp:spPr>
        <a:xfrm>
          <a:off x="1932480" y="2645755"/>
          <a:ext cx="414076" cy="91440"/>
        </a:xfrm>
        <a:custGeom>
          <a:avLst/>
          <a:gdLst/>
          <a:ahLst/>
          <a:cxnLst/>
          <a:rect l="0" t="0" r="0" b="0"/>
          <a:pathLst>
            <a:path>
              <a:moveTo>
                <a:pt x="0" y="45720"/>
              </a:moveTo>
              <a:lnTo>
                <a:pt x="414076"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8401" y="2689252"/>
        <a:ext cx="22233" cy="4446"/>
      </dsp:txXfrm>
    </dsp:sp>
    <dsp:sp modelId="{FF141435-5FD4-D14E-87D2-593F84C3E999}">
      <dsp:nvSpPr>
        <dsp:cNvPr id="0" name=""/>
        <dsp:cNvSpPr/>
      </dsp:nvSpPr>
      <dsp:spPr>
        <a:xfrm>
          <a:off x="905" y="2111463"/>
          <a:ext cx="1933374" cy="1160024"/>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Transformer Embeddings</a:t>
          </a:r>
        </a:p>
      </dsp:txBody>
      <dsp:txXfrm>
        <a:off x="905" y="2111463"/>
        <a:ext cx="1933374" cy="1160024"/>
      </dsp:txXfrm>
    </dsp:sp>
    <dsp:sp modelId="{5800EDBB-A93A-0648-9213-9EC166713C31}">
      <dsp:nvSpPr>
        <dsp:cNvPr id="0" name=""/>
        <dsp:cNvSpPr/>
      </dsp:nvSpPr>
      <dsp:spPr>
        <a:xfrm>
          <a:off x="2378956" y="2111463"/>
          <a:ext cx="1933374" cy="1160024"/>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Sentiment Classification</a:t>
          </a:r>
        </a:p>
      </dsp:txBody>
      <dsp:txXfrm>
        <a:off x="2378956" y="2111463"/>
        <a:ext cx="1933374" cy="1160024"/>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F82D20-900E-6C40-A05F-D83DFCD9E8C9}" type="datetimeFigureOut">
              <a:rPr lang="en-US" smtClean="0"/>
              <a:t>7/9/26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5C8D34-605E-5F4F-8998-DB15DC56D40F}" type="slidenum">
              <a:rPr lang="en-US" smtClean="0"/>
              <a:t>‹#›</a:t>
            </a:fld>
            <a:endParaRPr lang="en-US"/>
          </a:p>
        </p:txBody>
      </p:sp>
    </p:spTree>
    <p:extLst>
      <p:ext uri="{BB962C8B-B14F-4D97-AF65-F5344CB8AC3E}">
        <p14:creationId xmlns:p14="http://schemas.microsoft.com/office/powerpoint/2010/main" val="3449632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everyone. Hope you all had a great and safe 4</a:t>
            </a:r>
            <a:r>
              <a:rPr lang="en-US" baseline="30000" dirty="0"/>
              <a:t>th</a:t>
            </a:r>
            <a:r>
              <a:rPr lang="en-US" dirty="0"/>
              <a:t> of July. Welcome to the third presentation for my project, </a:t>
            </a:r>
            <a:r>
              <a:rPr lang="en-US" i="1" dirty="0"/>
              <a:t>Sentiment Intelligence for Mountain Bike Product Reviews</a:t>
            </a:r>
            <a:r>
              <a:rPr lang="en-US" dirty="0"/>
              <a:t>. In the previous presentation, I focused on collecting and preprocessing the review data. Today, I'll discuss the exploratory data analysis I performed to better understand the dataset, the statistical patterns I identified, and the engineered features that will support the NLP models in the next phase of the project.</a:t>
            </a:r>
          </a:p>
          <a:p>
            <a:endParaRPr lang="en-US" dirty="0"/>
          </a:p>
        </p:txBody>
      </p:sp>
      <p:sp>
        <p:nvSpPr>
          <p:cNvPr id="4" name="Slide Number Placeholder 3"/>
          <p:cNvSpPr>
            <a:spLocks noGrp="1"/>
          </p:cNvSpPr>
          <p:nvPr>
            <p:ph type="sldNum" sz="quarter" idx="5"/>
          </p:nvPr>
        </p:nvSpPr>
        <p:spPr/>
        <p:txBody>
          <a:bodyPr/>
          <a:lstStyle/>
          <a:p>
            <a:fld id="{085C8D34-605E-5F4F-8998-DB15DC56D40F}" type="slidenum">
              <a:rPr lang="en-US" smtClean="0"/>
              <a:t>1</a:t>
            </a:fld>
            <a:endParaRPr lang="en-US"/>
          </a:p>
        </p:txBody>
      </p:sp>
    </p:spTree>
    <p:extLst>
      <p:ext uri="{BB962C8B-B14F-4D97-AF65-F5344CB8AC3E}">
        <p14:creationId xmlns:p14="http://schemas.microsoft.com/office/powerpoint/2010/main" val="1356751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Before beginning statistical analysis, I first examined the overall structure of the dataset. The cleaned dataset contains 297 professional mountain bike product reviews, 17 original features, and metadata representing 151 manufacturers across six review types published between 2017 and 2026. During exploratory analysis, I engineered several additional features, such as article word count, average word length, publication year, and publication month, to support statistical analysis and downstream NLP modeling. One characteristic that immediately stands out is the average review length of more than 2,200 words, indicating these are detailed editorial reviews rather than short customer comments.</a:t>
            </a:r>
          </a:p>
        </p:txBody>
      </p:sp>
      <p:sp>
        <p:nvSpPr>
          <p:cNvPr id="4" name="Slide Number Placeholder 3"/>
          <p:cNvSpPr>
            <a:spLocks noGrp="1"/>
          </p:cNvSpPr>
          <p:nvPr>
            <p:ph type="sldNum" sz="quarter" idx="5"/>
          </p:nvPr>
        </p:nvSpPr>
        <p:spPr/>
        <p:txBody>
          <a:bodyPr/>
          <a:lstStyle/>
          <a:p>
            <a:fld id="{085C8D34-605E-5F4F-8998-DB15DC56D40F}" type="slidenum">
              <a:rPr lang="en-US" smtClean="0"/>
              <a:t>2</a:t>
            </a:fld>
            <a:endParaRPr lang="en-US"/>
          </a:p>
        </p:txBody>
      </p:sp>
    </p:spTree>
    <p:extLst>
      <p:ext uri="{BB962C8B-B14F-4D97-AF65-F5344CB8AC3E}">
        <p14:creationId xmlns:p14="http://schemas.microsoft.com/office/powerpoint/2010/main" val="925507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understanding the overall structure of the dataset, I performed descriptive statistical analysis to identify patterns that could influence model development. Two variables were particularly informative: retail price and review length.</a:t>
            </a:r>
          </a:p>
          <a:p>
            <a:r>
              <a:rPr lang="en-US" dirty="0"/>
              <a:t>Retail prices exhibited a moderately right-skewed distribution, with a mean of approximately $3,400 compared to a median of $1,250. This indicates that a relatively small number of premium bicycles and components increase the average price, making the median a more representative measure of a typical reviewed product.</a:t>
            </a:r>
          </a:p>
          <a:p>
            <a:r>
              <a:rPr lang="en-US" dirty="0"/>
              <a:t>Review length was much more consistent. Reviews averaged just over 2,200 words with only mild positive skew, confirming that the dataset consists of detailed, professionally written articles rather than short customer comments. This consistency will simplify text preprocessing because most reviews fall within a similar length range.</a:t>
            </a:r>
          </a:p>
          <a:p>
            <a:r>
              <a:rPr lang="en-US" dirty="0"/>
              <a:t>I also evaluated data completeness. Every record contains the full review text, which is the primary input for the NLP models. The largest source of missing values is the product name field. Remaining missing product names are largely associated with multi-product reviews or editorial articles rather than missing source data, so they are not expected to affect the downstream NLP modeling.</a:t>
            </a:r>
          </a:p>
        </p:txBody>
      </p:sp>
      <p:sp>
        <p:nvSpPr>
          <p:cNvPr id="4" name="Slide Number Placeholder 3"/>
          <p:cNvSpPr>
            <a:spLocks noGrp="1"/>
          </p:cNvSpPr>
          <p:nvPr>
            <p:ph type="sldNum" sz="quarter" idx="5"/>
          </p:nvPr>
        </p:nvSpPr>
        <p:spPr/>
        <p:txBody>
          <a:bodyPr/>
          <a:lstStyle/>
          <a:p>
            <a:fld id="{085C8D34-605E-5F4F-8998-DB15DC56D40F}" type="slidenum">
              <a:rPr lang="en-US" smtClean="0"/>
              <a:t>3</a:t>
            </a:fld>
            <a:endParaRPr lang="en-US"/>
          </a:p>
        </p:txBody>
      </p:sp>
    </p:spTree>
    <p:extLst>
      <p:ext uri="{BB962C8B-B14F-4D97-AF65-F5344CB8AC3E}">
        <p14:creationId xmlns:p14="http://schemas.microsoft.com/office/powerpoint/2010/main" val="2556098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descriptive statistics, I created several visualizations to better understand the structure of the dataset and identify patterns that could influence model development.</a:t>
            </a:r>
          </a:p>
          <a:p>
            <a:r>
              <a:rPr lang="en-US" dirty="0"/>
              <a:t>The article word count histogram shows that most reviews fall within a relatively consistent range of approximately two thousand words. This supports a standardized preprocessing approach because there are very few unusually short or unusually long articles.</a:t>
            </a:r>
          </a:p>
          <a:p>
            <a:r>
              <a:rPr lang="en-US" dirty="0"/>
              <a:t>The retail price distribution reinforces the statistical findings from the previous slide. Most reviewed products are concentrated at lower price points, while a smaller number of premium bicycles and components create the right-skewed distribution.</a:t>
            </a:r>
          </a:p>
          <a:p>
            <a:r>
              <a:rPr lang="en-US" dirty="0"/>
              <a:t>The manufacturer frequency chart demonstrates broad manufacturer representation. Although brands such as Specialized and Shimano appear more frequently, no single manufacturer dominates the dataset, reducing the likelihood of brand-specific bias during modeling.</a:t>
            </a:r>
          </a:p>
          <a:p>
            <a:r>
              <a:rPr lang="en-US" dirty="0"/>
              <a:t>Finally, the review type distribution highlights a variety of editorial formats, including product reviews, value comparisons, first rides, and long-term tests. This structured metadata provides additional categorical information that can be incorporated into feature engineering alongside the review text.</a:t>
            </a:r>
          </a:p>
        </p:txBody>
      </p:sp>
      <p:sp>
        <p:nvSpPr>
          <p:cNvPr id="4" name="Slide Number Placeholder 3"/>
          <p:cNvSpPr>
            <a:spLocks noGrp="1"/>
          </p:cNvSpPr>
          <p:nvPr>
            <p:ph type="sldNum" sz="quarter" idx="5"/>
          </p:nvPr>
        </p:nvSpPr>
        <p:spPr/>
        <p:txBody>
          <a:bodyPr/>
          <a:lstStyle/>
          <a:p>
            <a:fld id="{085C8D34-605E-5F4F-8998-DB15DC56D40F}" type="slidenum">
              <a:rPr lang="en-US" smtClean="0"/>
              <a:t>4</a:t>
            </a:fld>
            <a:endParaRPr lang="en-US"/>
          </a:p>
        </p:txBody>
      </p:sp>
    </p:spTree>
    <p:extLst>
      <p:ext uri="{BB962C8B-B14F-4D97-AF65-F5344CB8AC3E}">
        <p14:creationId xmlns:p14="http://schemas.microsoft.com/office/powerpoint/2010/main" val="389286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completing the exploratory analysis, I engineered several new features from the original review data to provide additional structure for analysis and model development. While the original dataset contained metadata such as brand, review type, publication date, and the review text itself, feature engineering derived variables that summarize characteristics of the text and improve analytical flexibility.</a:t>
            </a:r>
          </a:p>
          <a:p>
            <a:r>
              <a:rPr lang="en-US" dirty="0"/>
              <a:t>For example, article word count and average word length quantify the size and writing style of each review, supporting preprocessing decisions and exploratory comparisons. Publication year and publication month enable future analysis of trends over time, while the price availability indicator identifies reviews containing structured pricing information.</a:t>
            </a:r>
          </a:p>
          <a:p>
            <a:r>
              <a:rPr lang="en-US" dirty="0"/>
              <a:t>It's important to note that these engineered variables are not intended to replace the review text. Instead, they provide structured context that complements the raw text, while the transformer model will learn the semantic meaning directly from the article title and review content.</a:t>
            </a:r>
          </a:p>
          <a:p>
            <a:r>
              <a:rPr lang="en-US" dirty="0"/>
              <a:t>I also created a product name availability indicator during exploratory analysis. Although this feature is not intended as a predictive input, it serves as a useful measure of metadata completeness and highlights an opportunity to further improve the ETL pipeline before the final stages of the project.</a:t>
            </a:r>
          </a:p>
          <a:p>
            <a:r>
              <a:rPr lang="en-US" dirty="0"/>
              <a:t>Overall, these engineered features provide structured context that complements the unstructured review text and prepares the dataset for downstream NLP modeling.</a:t>
            </a:r>
          </a:p>
        </p:txBody>
      </p:sp>
      <p:sp>
        <p:nvSpPr>
          <p:cNvPr id="4" name="Slide Number Placeholder 3"/>
          <p:cNvSpPr>
            <a:spLocks noGrp="1"/>
          </p:cNvSpPr>
          <p:nvPr>
            <p:ph type="sldNum" sz="quarter" idx="5"/>
          </p:nvPr>
        </p:nvSpPr>
        <p:spPr/>
        <p:txBody>
          <a:bodyPr/>
          <a:lstStyle/>
          <a:p>
            <a:fld id="{085C8D34-605E-5F4F-8998-DB15DC56D40F}" type="slidenum">
              <a:rPr lang="en-US" smtClean="0"/>
              <a:t>5</a:t>
            </a:fld>
            <a:endParaRPr lang="en-US"/>
          </a:p>
        </p:txBody>
      </p:sp>
    </p:spTree>
    <p:extLst>
      <p:ext uri="{BB962C8B-B14F-4D97-AF65-F5344CB8AC3E}">
        <p14:creationId xmlns:p14="http://schemas.microsoft.com/office/powerpoint/2010/main" val="1544358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step in preparing the data was determining how the review text would be represented for machine learning. Traditional machine learning workflows often rely on dimensionality reduction techniques such as Principal Component Analysis, or PCA, to reduce the number of features before model training. However, because this project uses transformer-based language models, that additional step is unnecessary.</a:t>
            </a:r>
          </a:p>
          <a:p>
            <a:r>
              <a:rPr lang="en-US" dirty="0"/>
              <a:t>Instead, each review is first cleaned and tokenized before being converted into contextual embeddings by the transformer model. These embeddings are dense numerical representations that capture the semantic meaning of the text while reducing the complexity of the original language into a format suitable for machine learning.</a:t>
            </a:r>
          </a:p>
          <a:p>
            <a:r>
              <a:rPr lang="en-US" dirty="0"/>
              <a:t>As a result, my feature engineering efforts focused on creating structured metadata that complements these learned text representations, rather than manually reducing the dimensionality of the review text itself.</a:t>
            </a:r>
          </a:p>
        </p:txBody>
      </p:sp>
      <p:sp>
        <p:nvSpPr>
          <p:cNvPr id="4" name="Slide Number Placeholder 3"/>
          <p:cNvSpPr>
            <a:spLocks noGrp="1"/>
          </p:cNvSpPr>
          <p:nvPr>
            <p:ph type="sldNum" sz="quarter" idx="5"/>
          </p:nvPr>
        </p:nvSpPr>
        <p:spPr/>
        <p:txBody>
          <a:bodyPr/>
          <a:lstStyle/>
          <a:p>
            <a:fld id="{085C8D34-605E-5F4F-8998-DB15DC56D40F}" type="slidenum">
              <a:rPr lang="en-US" smtClean="0"/>
              <a:t>6</a:t>
            </a:fld>
            <a:endParaRPr lang="en-US"/>
          </a:p>
        </p:txBody>
      </p:sp>
    </p:spTree>
    <p:extLst>
      <p:ext uri="{BB962C8B-B14F-4D97-AF65-F5344CB8AC3E}">
        <p14:creationId xmlns:p14="http://schemas.microsoft.com/office/powerpoint/2010/main" val="2601208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The purpose of exploratory analysis and feature engineering is not simply to prepare data for modeling, but also to ensure that the resulting models produce insights that are meaningful to business users. While transformer models will classify sentiment from the review text, the structured metadata provides the context needed to interpret those predictions.</a:t>
            </a:r>
          </a:p>
          <a:p>
            <a:r>
              <a:rPr lang="en-US" b="0" dirty="0"/>
              <a:t>Features such as brand, review type, retail price, and publication date allow organizations to compare sentiment across manufacturers, product segments, and time periods. Rather than simply predicting sentiment, these features help explain why sentiment differs across manufacturers, product segments, price ranges, and time periods.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These structured features also allow sentiment results to be segmented by manufacturer, review type, publication date, and price range, making the model outputs more actionable for business decision-making.</a:t>
            </a:r>
          </a:p>
          <a:p>
            <a:r>
              <a:rPr lang="en-US" b="0" dirty="0"/>
              <a:t>By combining structured metadata with transformer-based text analysis, this project aims to deliver interpretable business insights that extend beyond basic sentiment classification.</a:t>
            </a:r>
          </a:p>
        </p:txBody>
      </p:sp>
      <p:sp>
        <p:nvSpPr>
          <p:cNvPr id="4" name="Slide Number Placeholder 3"/>
          <p:cNvSpPr>
            <a:spLocks noGrp="1"/>
          </p:cNvSpPr>
          <p:nvPr>
            <p:ph type="sldNum" sz="quarter" idx="5"/>
          </p:nvPr>
        </p:nvSpPr>
        <p:spPr/>
        <p:txBody>
          <a:bodyPr/>
          <a:lstStyle/>
          <a:p>
            <a:fld id="{085C8D34-605E-5F4F-8998-DB15DC56D40F}" type="slidenum">
              <a:rPr lang="en-US" smtClean="0"/>
              <a:t>7</a:t>
            </a:fld>
            <a:endParaRPr lang="en-US"/>
          </a:p>
        </p:txBody>
      </p:sp>
    </p:spTree>
    <p:extLst>
      <p:ext uri="{BB962C8B-B14F-4D97-AF65-F5344CB8AC3E}">
        <p14:creationId xmlns:p14="http://schemas.microsoft.com/office/powerpoint/2010/main" val="1047080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exploratory analysis demonstrated that the dataset is well prepared for the modeling phase of the project. The review text is complete across all records, review lengths are consistent, and the engineered features provide additional context for both analysis and business interpretation.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Although exploratory analysis identified a small number of remaining metadata limitations, the review text itself is complete across all records, providing a strong foundation for transformer-based sentiment modeling. The next phase of the project will focus on generating review-level sentiment labels, training and comparing transformer-based NLP models, and evaluating both predictive performance and the business insights that can be derived from the resulting classifications.</a:t>
            </a:r>
          </a:p>
        </p:txBody>
      </p:sp>
      <p:sp>
        <p:nvSpPr>
          <p:cNvPr id="4" name="Slide Number Placeholder 3"/>
          <p:cNvSpPr>
            <a:spLocks noGrp="1"/>
          </p:cNvSpPr>
          <p:nvPr>
            <p:ph type="sldNum" sz="quarter" idx="5"/>
          </p:nvPr>
        </p:nvSpPr>
        <p:spPr/>
        <p:txBody>
          <a:bodyPr/>
          <a:lstStyle/>
          <a:p>
            <a:fld id="{085C8D34-605E-5F4F-8998-DB15DC56D40F}" type="slidenum">
              <a:rPr lang="en-US" smtClean="0"/>
              <a:t>8</a:t>
            </a:fld>
            <a:endParaRPr lang="en-US"/>
          </a:p>
        </p:txBody>
      </p:sp>
    </p:spTree>
    <p:extLst>
      <p:ext uri="{BB962C8B-B14F-4D97-AF65-F5344CB8AC3E}">
        <p14:creationId xmlns:p14="http://schemas.microsoft.com/office/powerpoint/2010/main" val="546446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7/9/26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427824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7/9/26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3442289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DF60E-8B57-924B-825F-23BE3BB50F9C}" type="datetimeFigureOut">
              <a:rPr lang="en-US" smtClean="0"/>
              <a:t>7/9/26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29780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5DF60E-8B57-924B-825F-23BE3BB50F9C}" type="datetimeFigureOut">
              <a:rPr lang="en-US" smtClean="0"/>
              <a:t>7/9/26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1" name="Slide Number Placeholder 5"/>
          <p:cNvSpPr>
            <a:spLocks noGrp="1"/>
          </p:cNvSpPr>
          <p:nvPr>
            <p:ph type="sldNum" sz="quarter" idx="12"/>
          </p:nvPr>
        </p:nvSpPr>
        <p:spPr>
          <a:xfrm>
            <a:off x="531812" y="787782"/>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456150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5DF60E-8B57-924B-825F-23BE3BB50F9C}" type="datetimeFigureOut">
              <a:rPr lang="en-US" smtClean="0"/>
              <a:t>7/9/26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345108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5DF60E-8B57-924B-825F-23BE3BB50F9C}" type="datetimeFigureOut">
              <a:rPr lang="en-US" smtClean="0"/>
              <a:t>7/9/26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04145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5DF60E-8B57-924B-825F-23BE3BB50F9C}" type="datetimeFigureOut">
              <a:rPr lang="en-US" smtClean="0"/>
              <a:t>7/9/26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141050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7/9/26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568140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7/9/26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3858898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DF60E-8B57-924B-825F-23BE3BB50F9C}" type="datetimeFigureOut">
              <a:rPr lang="en-US" smtClean="0"/>
              <a:t>7/9/26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1095772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DF60E-8B57-924B-825F-23BE3BB50F9C}" type="datetimeFigureOut">
              <a:rPr lang="en-US" smtClean="0"/>
              <a:t>7/9/26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E28AF00-0B86-A249-BAE9-6A03A519170D}"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02774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7/9/26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80800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7/9/26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6798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7/9/26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972521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7/9/26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276881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7/9/26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1577173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55DF60E-8B57-924B-825F-23BE3BB50F9C}" type="datetimeFigureOut">
              <a:rPr lang="en-US" smtClean="0"/>
              <a:t>7/9/26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E28AF00-0B86-A249-BAE9-6A03A519170D}" type="slidenum">
              <a:rPr lang="en-US" smtClean="0"/>
              <a:t>‹#›</a:t>
            </a:fld>
            <a:endParaRPr lang="en-US"/>
          </a:p>
        </p:txBody>
      </p:sp>
    </p:spTree>
    <p:extLst>
      <p:ext uri="{BB962C8B-B14F-4D97-AF65-F5344CB8AC3E}">
        <p14:creationId xmlns:p14="http://schemas.microsoft.com/office/powerpoint/2010/main" val="374419345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1D210-F303-3E90-5E0C-BB139BBC850C}"/>
              </a:ext>
            </a:extLst>
          </p:cNvPr>
          <p:cNvSpPr>
            <a:spLocks noGrp="1"/>
          </p:cNvSpPr>
          <p:nvPr>
            <p:ph type="ctrTitle"/>
          </p:nvPr>
        </p:nvSpPr>
        <p:spPr/>
        <p:txBody>
          <a:bodyPr>
            <a:noAutofit/>
          </a:bodyPr>
          <a:lstStyle/>
          <a:p>
            <a:r>
              <a:rPr lang="en-US" sz="4400" dirty="0">
                <a:solidFill>
                  <a:schemeClr val="tx1"/>
                </a:solidFill>
                <a:ea typeface="+mn-ea"/>
                <a:cs typeface="+mn-cs"/>
              </a:rPr>
              <a:t>Sentiment Intelligence for Mountain Bike Product Reviews: </a:t>
            </a:r>
            <a:r>
              <a:rPr lang="en-US" sz="4400" dirty="0"/>
              <a:t>Exploratory Data Analysis &amp; Feature Engineering</a:t>
            </a:r>
            <a:endParaRPr lang="en-US" sz="4400" dirty="0">
              <a:solidFill>
                <a:schemeClr val="tx1"/>
              </a:solidFill>
              <a:ea typeface="+mn-ea"/>
              <a:cs typeface="+mn-cs"/>
            </a:endParaRPr>
          </a:p>
        </p:txBody>
      </p:sp>
      <p:sp>
        <p:nvSpPr>
          <p:cNvPr id="3" name="Subtitle 2">
            <a:extLst>
              <a:ext uri="{FF2B5EF4-FFF2-40B4-BE49-F238E27FC236}">
                <a16:creationId xmlns:a16="http://schemas.microsoft.com/office/drawing/2014/main" id="{D8F71DB5-6FA4-1572-E257-D1FC641B2E49}"/>
              </a:ext>
            </a:extLst>
          </p:cNvPr>
          <p:cNvSpPr>
            <a:spLocks noGrp="1"/>
          </p:cNvSpPr>
          <p:nvPr>
            <p:ph type="subTitle" idx="1"/>
          </p:nvPr>
        </p:nvSpPr>
        <p:spPr/>
        <p:txBody>
          <a:bodyPr>
            <a:normAutofit lnSpcReduction="10000"/>
          </a:bodyPr>
          <a:lstStyle/>
          <a:p>
            <a:r>
              <a:rPr lang="en-US" dirty="0"/>
              <a:t>DS 785</a:t>
            </a:r>
          </a:p>
          <a:p>
            <a:r>
              <a:rPr lang="en-US" dirty="0"/>
              <a:t>Austin Engstrom</a:t>
            </a:r>
          </a:p>
          <a:p>
            <a:r>
              <a:rPr lang="en-US" dirty="0"/>
              <a:t>July 2026</a:t>
            </a:r>
          </a:p>
        </p:txBody>
      </p:sp>
    </p:spTree>
    <p:extLst>
      <p:ext uri="{BB962C8B-B14F-4D97-AF65-F5344CB8AC3E}">
        <p14:creationId xmlns:p14="http://schemas.microsoft.com/office/powerpoint/2010/main" val="21014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1F3B1-EB06-F969-CFBC-49830DB81241}"/>
              </a:ext>
            </a:extLst>
          </p:cNvPr>
          <p:cNvSpPr>
            <a:spLocks noGrp="1"/>
          </p:cNvSpPr>
          <p:nvPr>
            <p:ph type="title"/>
          </p:nvPr>
        </p:nvSpPr>
        <p:spPr/>
        <p:txBody>
          <a:bodyPr/>
          <a:lstStyle/>
          <a:p>
            <a:r>
              <a:rPr lang="en-US" dirty="0"/>
              <a:t>Dataset Overview</a:t>
            </a:r>
          </a:p>
        </p:txBody>
      </p:sp>
      <p:graphicFrame>
        <p:nvGraphicFramePr>
          <p:cNvPr id="5" name="Content Placeholder 4">
            <a:extLst>
              <a:ext uri="{FF2B5EF4-FFF2-40B4-BE49-F238E27FC236}">
                <a16:creationId xmlns:a16="http://schemas.microsoft.com/office/drawing/2014/main" id="{FCDF4F52-53EE-A054-05F3-8A9A26BEBA35}"/>
              </a:ext>
            </a:extLst>
          </p:cNvPr>
          <p:cNvGraphicFramePr>
            <a:graphicFrameLocks noGrp="1"/>
          </p:cNvGraphicFramePr>
          <p:nvPr>
            <p:ph sz="half" idx="1"/>
            <p:extLst>
              <p:ext uri="{D42A27DB-BD31-4B8C-83A1-F6EECF244321}">
                <p14:modId xmlns:p14="http://schemas.microsoft.com/office/powerpoint/2010/main" val="2166414921"/>
              </p:ext>
            </p:extLst>
          </p:nvPr>
        </p:nvGraphicFramePr>
        <p:xfrm>
          <a:off x="2589213" y="2133600"/>
          <a:ext cx="4107801" cy="2595880"/>
        </p:xfrm>
        <a:graphic>
          <a:graphicData uri="http://schemas.openxmlformats.org/drawingml/2006/table">
            <a:tbl>
              <a:tblPr firstRow="1" bandRow="1">
                <a:tableStyleId>{5C22544A-7EE6-4342-B048-85BDC9FD1C3A}</a:tableStyleId>
              </a:tblPr>
              <a:tblGrid>
                <a:gridCol w="2510821">
                  <a:extLst>
                    <a:ext uri="{9D8B030D-6E8A-4147-A177-3AD203B41FA5}">
                      <a16:colId xmlns:a16="http://schemas.microsoft.com/office/drawing/2014/main" val="702565293"/>
                    </a:ext>
                  </a:extLst>
                </a:gridCol>
                <a:gridCol w="1596980">
                  <a:extLst>
                    <a:ext uri="{9D8B030D-6E8A-4147-A177-3AD203B41FA5}">
                      <a16:colId xmlns:a16="http://schemas.microsoft.com/office/drawing/2014/main" val="2377588517"/>
                    </a:ext>
                  </a:extLst>
                </a:gridCol>
              </a:tblGrid>
              <a:tr h="370840">
                <a:tc>
                  <a:txBody>
                    <a:bodyPr/>
                    <a:lstStyle/>
                    <a:p>
                      <a:r>
                        <a:rPr lang="en-US" dirty="0"/>
                        <a:t>Metric</a:t>
                      </a:r>
                    </a:p>
                  </a:txBody>
                  <a:tcPr/>
                </a:tc>
                <a:tc>
                  <a:txBody>
                    <a:bodyPr/>
                    <a:lstStyle/>
                    <a:p>
                      <a:r>
                        <a:rPr lang="en-US" dirty="0"/>
                        <a:t>Value</a:t>
                      </a:r>
                    </a:p>
                  </a:txBody>
                  <a:tcPr/>
                </a:tc>
                <a:extLst>
                  <a:ext uri="{0D108BD9-81ED-4DB2-BD59-A6C34878D82A}">
                    <a16:rowId xmlns:a16="http://schemas.microsoft.com/office/drawing/2014/main" val="3497984703"/>
                  </a:ext>
                </a:extLst>
              </a:tr>
              <a:tr h="370840">
                <a:tc>
                  <a:txBody>
                    <a:bodyPr/>
                    <a:lstStyle/>
                    <a:p>
                      <a:r>
                        <a:rPr lang="en-US" dirty="0"/>
                        <a:t>Reviews</a:t>
                      </a:r>
                    </a:p>
                  </a:txBody>
                  <a:tcPr/>
                </a:tc>
                <a:tc>
                  <a:txBody>
                    <a:bodyPr/>
                    <a:lstStyle/>
                    <a:p>
                      <a:r>
                        <a:rPr lang="en-US" dirty="0"/>
                        <a:t>297</a:t>
                      </a:r>
                    </a:p>
                  </a:txBody>
                  <a:tcPr/>
                </a:tc>
                <a:extLst>
                  <a:ext uri="{0D108BD9-81ED-4DB2-BD59-A6C34878D82A}">
                    <a16:rowId xmlns:a16="http://schemas.microsoft.com/office/drawing/2014/main" val="3046349572"/>
                  </a:ext>
                </a:extLst>
              </a:tr>
              <a:tr h="370840">
                <a:tc>
                  <a:txBody>
                    <a:bodyPr/>
                    <a:lstStyle/>
                    <a:p>
                      <a:r>
                        <a:rPr lang="en-US" dirty="0"/>
                        <a:t>Features</a:t>
                      </a:r>
                    </a:p>
                  </a:txBody>
                  <a:tcPr/>
                </a:tc>
                <a:tc>
                  <a:txBody>
                    <a:bodyPr/>
                    <a:lstStyle/>
                    <a:p>
                      <a:r>
                        <a:rPr lang="en-US" dirty="0"/>
                        <a:t>17</a:t>
                      </a:r>
                    </a:p>
                  </a:txBody>
                  <a:tcPr/>
                </a:tc>
                <a:extLst>
                  <a:ext uri="{0D108BD9-81ED-4DB2-BD59-A6C34878D82A}">
                    <a16:rowId xmlns:a16="http://schemas.microsoft.com/office/drawing/2014/main" val="3871140986"/>
                  </a:ext>
                </a:extLst>
              </a:tr>
              <a:tr h="370840">
                <a:tc>
                  <a:txBody>
                    <a:bodyPr/>
                    <a:lstStyle/>
                    <a:p>
                      <a:r>
                        <a:rPr lang="en-US" dirty="0"/>
                        <a:t>Brands</a:t>
                      </a:r>
                    </a:p>
                  </a:txBody>
                  <a:tcPr/>
                </a:tc>
                <a:tc>
                  <a:txBody>
                    <a:bodyPr/>
                    <a:lstStyle/>
                    <a:p>
                      <a:r>
                        <a:rPr lang="en-US" dirty="0"/>
                        <a:t>151</a:t>
                      </a:r>
                    </a:p>
                  </a:txBody>
                  <a:tcPr/>
                </a:tc>
                <a:extLst>
                  <a:ext uri="{0D108BD9-81ED-4DB2-BD59-A6C34878D82A}">
                    <a16:rowId xmlns:a16="http://schemas.microsoft.com/office/drawing/2014/main" val="3508792187"/>
                  </a:ext>
                </a:extLst>
              </a:tr>
              <a:tr h="370840">
                <a:tc>
                  <a:txBody>
                    <a:bodyPr/>
                    <a:lstStyle/>
                    <a:p>
                      <a:r>
                        <a:rPr lang="en-US" dirty="0"/>
                        <a:t>Review Type</a:t>
                      </a:r>
                    </a:p>
                  </a:txBody>
                  <a:tcPr/>
                </a:tc>
                <a:tc>
                  <a:txBody>
                    <a:bodyPr/>
                    <a:lstStyle/>
                    <a:p>
                      <a:r>
                        <a:rPr lang="en-US" dirty="0"/>
                        <a:t>6</a:t>
                      </a:r>
                    </a:p>
                  </a:txBody>
                  <a:tcPr/>
                </a:tc>
                <a:extLst>
                  <a:ext uri="{0D108BD9-81ED-4DB2-BD59-A6C34878D82A}">
                    <a16:rowId xmlns:a16="http://schemas.microsoft.com/office/drawing/2014/main" val="2898092265"/>
                  </a:ext>
                </a:extLst>
              </a:tr>
              <a:tr h="370840">
                <a:tc>
                  <a:txBody>
                    <a:bodyPr/>
                    <a:lstStyle/>
                    <a:p>
                      <a:r>
                        <a:rPr lang="en-US" dirty="0"/>
                        <a:t>Publication Range</a:t>
                      </a:r>
                    </a:p>
                  </a:txBody>
                  <a:tcPr/>
                </a:tc>
                <a:tc>
                  <a:txBody>
                    <a:bodyPr/>
                    <a:lstStyle/>
                    <a:p>
                      <a:r>
                        <a:rPr lang="en-US" dirty="0"/>
                        <a:t>2017 - 2026</a:t>
                      </a:r>
                    </a:p>
                  </a:txBody>
                  <a:tcPr/>
                </a:tc>
                <a:extLst>
                  <a:ext uri="{0D108BD9-81ED-4DB2-BD59-A6C34878D82A}">
                    <a16:rowId xmlns:a16="http://schemas.microsoft.com/office/drawing/2014/main" val="1481058154"/>
                  </a:ext>
                </a:extLst>
              </a:tr>
              <a:tr h="370840">
                <a:tc>
                  <a:txBody>
                    <a:bodyPr/>
                    <a:lstStyle/>
                    <a:p>
                      <a:r>
                        <a:rPr lang="en-US" dirty="0"/>
                        <a:t>Avg. Review Length</a:t>
                      </a:r>
                    </a:p>
                  </a:txBody>
                  <a:tcPr/>
                </a:tc>
                <a:tc>
                  <a:txBody>
                    <a:bodyPr/>
                    <a:lstStyle/>
                    <a:p>
                      <a:r>
                        <a:rPr lang="en-US" dirty="0"/>
                        <a:t>2,241 words</a:t>
                      </a:r>
                    </a:p>
                  </a:txBody>
                  <a:tcPr/>
                </a:tc>
                <a:extLst>
                  <a:ext uri="{0D108BD9-81ED-4DB2-BD59-A6C34878D82A}">
                    <a16:rowId xmlns:a16="http://schemas.microsoft.com/office/drawing/2014/main" val="3207805961"/>
                  </a:ext>
                </a:extLst>
              </a:tr>
            </a:tbl>
          </a:graphicData>
        </a:graphic>
      </p:graphicFrame>
      <p:graphicFrame>
        <p:nvGraphicFramePr>
          <p:cNvPr id="7" name="Content Placeholder 6">
            <a:extLst>
              <a:ext uri="{FF2B5EF4-FFF2-40B4-BE49-F238E27FC236}">
                <a16:creationId xmlns:a16="http://schemas.microsoft.com/office/drawing/2014/main" id="{546C7E35-5AAA-ED5A-5413-A7D06028A32C}"/>
              </a:ext>
            </a:extLst>
          </p:cNvPr>
          <p:cNvGraphicFramePr>
            <a:graphicFrameLocks noGrp="1"/>
          </p:cNvGraphicFramePr>
          <p:nvPr>
            <p:ph sz="half" idx="2"/>
            <p:extLst>
              <p:ext uri="{D42A27DB-BD31-4B8C-83A1-F6EECF244321}">
                <p14:modId xmlns:p14="http://schemas.microsoft.com/office/powerpoint/2010/main" val="156553049"/>
              </p:ext>
            </p:extLst>
          </p:nvPr>
        </p:nvGraphicFramePr>
        <p:xfrm>
          <a:off x="7191375" y="2125663"/>
          <a:ext cx="4313238"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9706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7EFFE-E9AD-F754-9F2C-540D0973A314}"/>
              </a:ext>
            </a:extLst>
          </p:cNvPr>
          <p:cNvSpPr>
            <a:spLocks noGrp="1"/>
          </p:cNvSpPr>
          <p:nvPr>
            <p:ph type="title"/>
          </p:nvPr>
        </p:nvSpPr>
        <p:spPr/>
        <p:txBody>
          <a:bodyPr/>
          <a:lstStyle/>
          <a:p>
            <a:r>
              <a:rPr lang="en-US" dirty="0"/>
              <a:t>Statistical Analysis</a:t>
            </a:r>
          </a:p>
        </p:txBody>
      </p:sp>
      <p:graphicFrame>
        <p:nvGraphicFramePr>
          <p:cNvPr id="5" name="Content Placeholder 4">
            <a:extLst>
              <a:ext uri="{FF2B5EF4-FFF2-40B4-BE49-F238E27FC236}">
                <a16:creationId xmlns:a16="http://schemas.microsoft.com/office/drawing/2014/main" id="{60C7C77C-2390-E403-2969-94ED4BB9B338}"/>
              </a:ext>
            </a:extLst>
          </p:cNvPr>
          <p:cNvGraphicFramePr>
            <a:graphicFrameLocks noGrp="1"/>
          </p:cNvGraphicFramePr>
          <p:nvPr>
            <p:ph sz="half" idx="1"/>
            <p:extLst>
              <p:ext uri="{D42A27DB-BD31-4B8C-83A1-F6EECF244321}">
                <p14:modId xmlns:p14="http://schemas.microsoft.com/office/powerpoint/2010/main" val="1522486013"/>
              </p:ext>
            </p:extLst>
          </p:nvPr>
        </p:nvGraphicFramePr>
        <p:xfrm>
          <a:off x="1437430" y="2126222"/>
          <a:ext cx="5271345" cy="1752600"/>
        </p:xfrm>
        <a:graphic>
          <a:graphicData uri="http://schemas.openxmlformats.org/drawingml/2006/table">
            <a:tbl>
              <a:tblPr firstRow="1" bandRow="1">
                <a:tableStyleId>{5C22544A-7EE6-4342-B048-85BDC9FD1C3A}</a:tableStyleId>
              </a:tblPr>
              <a:tblGrid>
                <a:gridCol w="2395855">
                  <a:extLst>
                    <a:ext uri="{9D8B030D-6E8A-4147-A177-3AD203B41FA5}">
                      <a16:colId xmlns:a16="http://schemas.microsoft.com/office/drawing/2014/main" val="3311578438"/>
                    </a:ext>
                  </a:extLst>
                </a:gridCol>
                <a:gridCol w="1437745">
                  <a:extLst>
                    <a:ext uri="{9D8B030D-6E8A-4147-A177-3AD203B41FA5}">
                      <a16:colId xmlns:a16="http://schemas.microsoft.com/office/drawing/2014/main" val="3835021097"/>
                    </a:ext>
                  </a:extLst>
                </a:gridCol>
                <a:gridCol w="1437745">
                  <a:extLst>
                    <a:ext uri="{9D8B030D-6E8A-4147-A177-3AD203B41FA5}">
                      <a16:colId xmlns:a16="http://schemas.microsoft.com/office/drawing/2014/main" val="2577170525"/>
                    </a:ext>
                  </a:extLst>
                </a:gridCol>
              </a:tblGrid>
              <a:tr h="370840">
                <a:tc>
                  <a:txBody>
                    <a:bodyPr/>
                    <a:lstStyle/>
                    <a:p>
                      <a:r>
                        <a:rPr lang="en-US" dirty="0"/>
                        <a:t>Metric</a:t>
                      </a:r>
                    </a:p>
                  </a:txBody>
                  <a:tcPr/>
                </a:tc>
                <a:tc>
                  <a:txBody>
                    <a:bodyPr/>
                    <a:lstStyle/>
                    <a:p>
                      <a:r>
                        <a:rPr lang="en-US" dirty="0"/>
                        <a:t>Retail Price</a:t>
                      </a:r>
                    </a:p>
                  </a:txBody>
                  <a:tcPr/>
                </a:tc>
                <a:tc>
                  <a:txBody>
                    <a:bodyPr/>
                    <a:lstStyle/>
                    <a:p>
                      <a:r>
                        <a:rPr lang="en-US" dirty="0"/>
                        <a:t>Review Length</a:t>
                      </a:r>
                    </a:p>
                  </a:txBody>
                  <a:tcPr/>
                </a:tc>
                <a:extLst>
                  <a:ext uri="{0D108BD9-81ED-4DB2-BD59-A6C34878D82A}">
                    <a16:rowId xmlns:a16="http://schemas.microsoft.com/office/drawing/2014/main" val="3683561951"/>
                  </a:ext>
                </a:extLst>
              </a:tr>
              <a:tr h="370840">
                <a:tc>
                  <a:txBody>
                    <a:bodyPr/>
                    <a:lstStyle/>
                    <a:p>
                      <a:r>
                        <a:rPr lang="en-US" dirty="0"/>
                        <a:t>Mean</a:t>
                      </a:r>
                    </a:p>
                  </a:txBody>
                  <a:tcPr/>
                </a:tc>
                <a:tc>
                  <a:txBody>
                    <a:bodyPr/>
                    <a:lstStyle/>
                    <a:p>
                      <a:r>
                        <a:rPr lang="en-US" dirty="0"/>
                        <a:t>$3,429</a:t>
                      </a:r>
                    </a:p>
                  </a:txBody>
                  <a:tcPr/>
                </a:tc>
                <a:tc>
                  <a:txBody>
                    <a:bodyPr/>
                    <a:lstStyle/>
                    <a:p>
                      <a:r>
                        <a:rPr lang="en-US" dirty="0"/>
                        <a:t>2,241</a:t>
                      </a:r>
                    </a:p>
                  </a:txBody>
                  <a:tcPr/>
                </a:tc>
                <a:extLst>
                  <a:ext uri="{0D108BD9-81ED-4DB2-BD59-A6C34878D82A}">
                    <a16:rowId xmlns:a16="http://schemas.microsoft.com/office/drawing/2014/main" val="3837082983"/>
                  </a:ext>
                </a:extLst>
              </a:tr>
              <a:tr h="370840">
                <a:tc>
                  <a:txBody>
                    <a:bodyPr/>
                    <a:lstStyle/>
                    <a:p>
                      <a:r>
                        <a:rPr lang="en-US" dirty="0"/>
                        <a:t>Median</a:t>
                      </a:r>
                    </a:p>
                  </a:txBody>
                  <a:tcPr/>
                </a:tc>
                <a:tc>
                  <a:txBody>
                    <a:bodyPr/>
                    <a:lstStyle/>
                    <a:p>
                      <a:r>
                        <a:rPr lang="en-US" dirty="0"/>
                        <a:t>$1,250</a:t>
                      </a:r>
                    </a:p>
                  </a:txBody>
                  <a:tcPr/>
                </a:tc>
                <a:tc>
                  <a:txBody>
                    <a:bodyPr/>
                    <a:lstStyle/>
                    <a:p>
                      <a:r>
                        <a:rPr lang="en-US" dirty="0"/>
                        <a:t>1,972</a:t>
                      </a:r>
                    </a:p>
                  </a:txBody>
                  <a:tcPr/>
                </a:tc>
                <a:extLst>
                  <a:ext uri="{0D108BD9-81ED-4DB2-BD59-A6C34878D82A}">
                    <a16:rowId xmlns:a16="http://schemas.microsoft.com/office/drawing/2014/main" val="2319044926"/>
                  </a:ext>
                </a:extLst>
              </a:tr>
              <a:tr h="370840">
                <a:tc>
                  <a:txBody>
                    <a:bodyPr/>
                    <a:lstStyle/>
                    <a:p>
                      <a:r>
                        <a:rPr lang="en-US" dirty="0"/>
                        <a:t>Skewness</a:t>
                      </a:r>
                    </a:p>
                  </a:txBody>
                  <a:tcPr/>
                </a:tc>
                <a:tc>
                  <a:txBody>
                    <a:bodyPr/>
                    <a:lstStyle/>
                    <a:p>
                      <a:r>
                        <a:rPr lang="en-US" dirty="0"/>
                        <a:t>0.83</a:t>
                      </a:r>
                    </a:p>
                  </a:txBody>
                  <a:tcPr/>
                </a:tc>
                <a:tc>
                  <a:txBody>
                    <a:bodyPr/>
                    <a:lstStyle/>
                    <a:p>
                      <a:r>
                        <a:rPr lang="en-US" dirty="0"/>
                        <a:t>0.48</a:t>
                      </a:r>
                    </a:p>
                  </a:txBody>
                  <a:tcPr/>
                </a:tc>
                <a:extLst>
                  <a:ext uri="{0D108BD9-81ED-4DB2-BD59-A6C34878D82A}">
                    <a16:rowId xmlns:a16="http://schemas.microsoft.com/office/drawing/2014/main" val="3859124218"/>
                  </a:ext>
                </a:extLst>
              </a:tr>
            </a:tbl>
          </a:graphicData>
        </a:graphic>
      </p:graphicFrame>
      <p:sp>
        <p:nvSpPr>
          <p:cNvPr id="4" name="Content Placeholder 3">
            <a:extLst>
              <a:ext uri="{FF2B5EF4-FFF2-40B4-BE49-F238E27FC236}">
                <a16:creationId xmlns:a16="http://schemas.microsoft.com/office/drawing/2014/main" id="{66B2C3E8-7487-135C-E254-04768D7AD7D3}"/>
              </a:ext>
            </a:extLst>
          </p:cNvPr>
          <p:cNvSpPr>
            <a:spLocks noGrp="1"/>
          </p:cNvSpPr>
          <p:nvPr>
            <p:ph sz="half" idx="2"/>
          </p:nvPr>
        </p:nvSpPr>
        <p:spPr/>
        <p:txBody>
          <a:bodyPr>
            <a:normAutofit fontScale="92500" lnSpcReduction="10000"/>
          </a:bodyPr>
          <a:lstStyle/>
          <a:p>
            <a:r>
              <a:rPr lang="en-US" dirty="0"/>
              <a:t>Retail prices show a moderately right-skewed distribution due to high-end bicycle and component reviews</a:t>
            </a:r>
          </a:p>
          <a:p>
            <a:r>
              <a:rPr lang="en-US" dirty="0"/>
              <a:t>Review lengths are relatively consistent, simplifying text preprocessing and tokenization</a:t>
            </a:r>
          </a:p>
          <a:p>
            <a:r>
              <a:rPr lang="en-US" dirty="0"/>
              <a:t>No missing values were identified in the review text used for NLP</a:t>
            </a:r>
          </a:p>
          <a:p>
            <a:r>
              <a:rPr lang="en-US" dirty="0"/>
              <a:t>Missing values are primarily limited to </a:t>
            </a:r>
            <a:r>
              <a:rPr lang="en-US" dirty="0" err="1"/>
              <a:t>product_name</a:t>
            </a:r>
            <a:r>
              <a:rPr lang="en-US" dirty="0"/>
              <a:t> for multi-product and editorial articles, with a small number remaining due to metadata extraction limitations.</a:t>
            </a:r>
          </a:p>
        </p:txBody>
      </p:sp>
    </p:spTree>
    <p:extLst>
      <p:ext uri="{BB962C8B-B14F-4D97-AF65-F5344CB8AC3E}">
        <p14:creationId xmlns:p14="http://schemas.microsoft.com/office/powerpoint/2010/main" val="2774108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61551-46F1-DDD1-DF55-002E7C62D9CF}"/>
              </a:ext>
            </a:extLst>
          </p:cNvPr>
          <p:cNvSpPr>
            <a:spLocks noGrp="1"/>
          </p:cNvSpPr>
          <p:nvPr>
            <p:ph type="title"/>
          </p:nvPr>
        </p:nvSpPr>
        <p:spPr/>
        <p:txBody>
          <a:bodyPr/>
          <a:lstStyle/>
          <a:p>
            <a:r>
              <a:rPr lang="en-US"/>
              <a:t>Exploratory Visualizations</a:t>
            </a:r>
            <a:endParaRPr lang="en-US" dirty="0"/>
          </a:p>
        </p:txBody>
      </p:sp>
      <p:sp>
        <p:nvSpPr>
          <p:cNvPr id="13" name="TextBox 12">
            <a:extLst>
              <a:ext uri="{FF2B5EF4-FFF2-40B4-BE49-F238E27FC236}">
                <a16:creationId xmlns:a16="http://schemas.microsoft.com/office/drawing/2014/main" id="{1CA6BC62-7EFD-3701-2B04-EF843706C1BB}"/>
              </a:ext>
            </a:extLst>
          </p:cNvPr>
          <p:cNvSpPr txBox="1"/>
          <p:nvPr/>
        </p:nvSpPr>
        <p:spPr>
          <a:xfrm>
            <a:off x="1235078" y="6091707"/>
            <a:ext cx="9721844" cy="523220"/>
          </a:xfrm>
          <a:prstGeom prst="rect">
            <a:avLst/>
          </a:prstGeom>
          <a:noFill/>
        </p:spPr>
        <p:txBody>
          <a:bodyPr wrap="square" rtlCol="0">
            <a:spAutoFit/>
          </a:bodyPr>
          <a:lstStyle/>
          <a:p>
            <a:r>
              <a:rPr lang="en-US" sz="1400"/>
              <a:t>Visual exploration confirmed consistent review lengths, broad brand representation, and structured review types, supporting feature engineering, text preprocessing, and downstream NLP model development.</a:t>
            </a:r>
            <a:endParaRPr lang="en-US" sz="1400" dirty="0"/>
          </a:p>
        </p:txBody>
      </p:sp>
      <p:pic>
        <p:nvPicPr>
          <p:cNvPr id="21" name="Picture 20">
            <a:extLst>
              <a:ext uri="{FF2B5EF4-FFF2-40B4-BE49-F238E27FC236}">
                <a16:creationId xmlns:a16="http://schemas.microsoft.com/office/drawing/2014/main" id="{5687FB81-4C1F-BD5A-FD59-850AF07E3FBC}"/>
              </a:ext>
            </a:extLst>
          </p:cNvPr>
          <p:cNvPicPr>
            <a:picLocks noChangeAspect="1"/>
          </p:cNvPicPr>
          <p:nvPr/>
        </p:nvPicPr>
        <p:blipFill>
          <a:blip r:embed="rId3"/>
          <a:stretch>
            <a:fillRect/>
          </a:stretch>
        </p:blipFill>
        <p:spPr>
          <a:xfrm>
            <a:off x="1235078" y="1264555"/>
            <a:ext cx="4987013" cy="2286000"/>
          </a:xfrm>
          <a:prstGeom prst="rect">
            <a:avLst/>
          </a:prstGeom>
        </p:spPr>
      </p:pic>
      <p:pic>
        <p:nvPicPr>
          <p:cNvPr id="23" name="Picture 22">
            <a:extLst>
              <a:ext uri="{FF2B5EF4-FFF2-40B4-BE49-F238E27FC236}">
                <a16:creationId xmlns:a16="http://schemas.microsoft.com/office/drawing/2014/main" id="{9A8E5BF5-E5D5-72E7-0630-393998BEE99E}"/>
              </a:ext>
            </a:extLst>
          </p:cNvPr>
          <p:cNvPicPr>
            <a:picLocks noChangeAspect="1"/>
          </p:cNvPicPr>
          <p:nvPr/>
        </p:nvPicPr>
        <p:blipFill>
          <a:blip r:embed="rId4"/>
          <a:stretch>
            <a:fillRect/>
          </a:stretch>
        </p:blipFill>
        <p:spPr>
          <a:xfrm>
            <a:off x="1235078" y="3550555"/>
            <a:ext cx="4983480" cy="2286000"/>
          </a:xfrm>
          <a:prstGeom prst="rect">
            <a:avLst/>
          </a:prstGeom>
        </p:spPr>
      </p:pic>
      <p:pic>
        <p:nvPicPr>
          <p:cNvPr id="51" name="Picture 50">
            <a:extLst>
              <a:ext uri="{FF2B5EF4-FFF2-40B4-BE49-F238E27FC236}">
                <a16:creationId xmlns:a16="http://schemas.microsoft.com/office/drawing/2014/main" id="{786473AF-4F5D-59C2-6788-0BF942932669}"/>
              </a:ext>
            </a:extLst>
          </p:cNvPr>
          <p:cNvPicPr>
            <a:picLocks noChangeAspect="1"/>
          </p:cNvPicPr>
          <p:nvPr/>
        </p:nvPicPr>
        <p:blipFill>
          <a:blip r:embed="rId5"/>
          <a:stretch>
            <a:fillRect/>
          </a:stretch>
        </p:blipFill>
        <p:spPr>
          <a:xfrm>
            <a:off x="6218558" y="1264555"/>
            <a:ext cx="4983480" cy="2286000"/>
          </a:xfrm>
          <a:prstGeom prst="rect">
            <a:avLst/>
          </a:prstGeom>
        </p:spPr>
      </p:pic>
      <p:pic>
        <p:nvPicPr>
          <p:cNvPr id="55" name="Picture 54">
            <a:extLst>
              <a:ext uri="{FF2B5EF4-FFF2-40B4-BE49-F238E27FC236}">
                <a16:creationId xmlns:a16="http://schemas.microsoft.com/office/drawing/2014/main" id="{B079D735-2205-09E8-852B-264A16305D89}"/>
              </a:ext>
            </a:extLst>
          </p:cNvPr>
          <p:cNvPicPr>
            <a:picLocks noChangeAspect="1"/>
          </p:cNvPicPr>
          <p:nvPr/>
        </p:nvPicPr>
        <p:blipFill>
          <a:blip r:embed="rId6"/>
          <a:stretch>
            <a:fillRect/>
          </a:stretch>
        </p:blipFill>
        <p:spPr>
          <a:xfrm>
            <a:off x="6222090" y="3550553"/>
            <a:ext cx="4979947" cy="2286001"/>
          </a:xfrm>
          <a:prstGeom prst="rect">
            <a:avLst/>
          </a:prstGeom>
        </p:spPr>
      </p:pic>
    </p:spTree>
    <p:extLst>
      <p:ext uri="{BB962C8B-B14F-4D97-AF65-F5344CB8AC3E}">
        <p14:creationId xmlns:p14="http://schemas.microsoft.com/office/powerpoint/2010/main" val="1295166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D213E-C253-E6A7-60E6-ED054747B140}"/>
              </a:ext>
            </a:extLst>
          </p:cNvPr>
          <p:cNvSpPr>
            <a:spLocks noGrp="1"/>
          </p:cNvSpPr>
          <p:nvPr>
            <p:ph type="title"/>
          </p:nvPr>
        </p:nvSpPr>
        <p:spPr/>
        <p:txBody>
          <a:bodyPr/>
          <a:lstStyle/>
          <a:p>
            <a:r>
              <a:rPr lang="en-US" dirty="0"/>
              <a:t>Feature Engineering Results</a:t>
            </a:r>
          </a:p>
        </p:txBody>
      </p:sp>
      <p:sp>
        <p:nvSpPr>
          <p:cNvPr id="3" name="Content Placeholder 2">
            <a:extLst>
              <a:ext uri="{FF2B5EF4-FFF2-40B4-BE49-F238E27FC236}">
                <a16:creationId xmlns:a16="http://schemas.microsoft.com/office/drawing/2014/main" id="{10F8231F-006A-EDF9-CFAC-42993CBB0FAD}"/>
              </a:ext>
            </a:extLst>
          </p:cNvPr>
          <p:cNvSpPr>
            <a:spLocks noGrp="1"/>
          </p:cNvSpPr>
          <p:nvPr>
            <p:ph sz="half" idx="1"/>
          </p:nvPr>
        </p:nvSpPr>
        <p:spPr>
          <a:xfrm>
            <a:off x="1360245" y="1509085"/>
            <a:ext cx="3148693" cy="3777622"/>
          </a:xfrm>
        </p:spPr>
        <p:txBody>
          <a:bodyPr/>
          <a:lstStyle/>
          <a:p>
            <a:pPr marL="0" indent="0">
              <a:buNone/>
            </a:pPr>
            <a:r>
              <a:rPr lang="en-US" sz="2000" u="sng" dirty="0"/>
              <a:t>Primary Modeling Inputs</a:t>
            </a:r>
          </a:p>
          <a:p>
            <a:r>
              <a:rPr lang="en-US" dirty="0"/>
              <a:t>Brand</a:t>
            </a:r>
          </a:p>
          <a:p>
            <a:r>
              <a:rPr lang="en-US" dirty="0"/>
              <a:t>Review Type</a:t>
            </a:r>
          </a:p>
          <a:p>
            <a:r>
              <a:rPr lang="en-US" dirty="0"/>
              <a:t>Retail Price</a:t>
            </a:r>
          </a:p>
          <a:p>
            <a:r>
              <a:rPr lang="en-US" dirty="0"/>
              <a:t>Publication Date</a:t>
            </a:r>
          </a:p>
          <a:p>
            <a:r>
              <a:rPr lang="en-US" dirty="0"/>
              <a:t>Article Title</a:t>
            </a:r>
          </a:p>
          <a:p>
            <a:r>
              <a:rPr lang="en-US" dirty="0"/>
              <a:t>Article Text</a:t>
            </a:r>
          </a:p>
        </p:txBody>
      </p:sp>
      <p:graphicFrame>
        <p:nvGraphicFramePr>
          <p:cNvPr id="6" name="Content Placeholder 5">
            <a:extLst>
              <a:ext uri="{FF2B5EF4-FFF2-40B4-BE49-F238E27FC236}">
                <a16:creationId xmlns:a16="http://schemas.microsoft.com/office/drawing/2014/main" id="{9CA95D7D-F649-A625-C3DF-5716D86EB466}"/>
              </a:ext>
            </a:extLst>
          </p:cNvPr>
          <p:cNvGraphicFramePr>
            <a:graphicFrameLocks noGrp="1"/>
          </p:cNvGraphicFramePr>
          <p:nvPr>
            <p:ph sz="half" idx="2"/>
            <p:extLst>
              <p:ext uri="{D42A27DB-BD31-4B8C-83A1-F6EECF244321}">
                <p14:modId xmlns:p14="http://schemas.microsoft.com/office/powerpoint/2010/main" val="3395417758"/>
              </p:ext>
            </p:extLst>
          </p:nvPr>
        </p:nvGraphicFramePr>
        <p:xfrm>
          <a:off x="4508938" y="1509085"/>
          <a:ext cx="7051643" cy="4216400"/>
        </p:xfrm>
        <a:graphic>
          <a:graphicData uri="http://schemas.openxmlformats.org/drawingml/2006/table">
            <a:tbl>
              <a:tblPr firstRow="1" bandRow="1">
                <a:tableStyleId>{5C22544A-7EE6-4342-B048-85BDC9FD1C3A}</a:tableStyleId>
              </a:tblPr>
              <a:tblGrid>
                <a:gridCol w="2632393">
                  <a:extLst>
                    <a:ext uri="{9D8B030D-6E8A-4147-A177-3AD203B41FA5}">
                      <a16:colId xmlns:a16="http://schemas.microsoft.com/office/drawing/2014/main" val="2501205287"/>
                    </a:ext>
                  </a:extLst>
                </a:gridCol>
                <a:gridCol w="4419250">
                  <a:extLst>
                    <a:ext uri="{9D8B030D-6E8A-4147-A177-3AD203B41FA5}">
                      <a16:colId xmlns:a16="http://schemas.microsoft.com/office/drawing/2014/main" val="3384504287"/>
                    </a:ext>
                  </a:extLst>
                </a:gridCol>
              </a:tblGrid>
              <a:tr h="370840">
                <a:tc>
                  <a:txBody>
                    <a:bodyPr/>
                    <a:lstStyle/>
                    <a:p>
                      <a:r>
                        <a:rPr lang="en-US" dirty="0"/>
                        <a:t>Engineered Feature</a:t>
                      </a:r>
                    </a:p>
                  </a:txBody>
                  <a:tcPr/>
                </a:tc>
                <a:tc>
                  <a:txBody>
                    <a:bodyPr/>
                    <a:lstStyle/>
                    <a:p>
                      <a:r>
                        <a:rPr lang="en-US" dirty="0"/>
                        <a:t>Purpose</a:t>
                      </a:r>
                    </a:p>
                  </a:txBody>
                  <a:tcPr/>
                </a:tc>
                <a:extLst>
                  <a:ext uri="{0D108BD9-81ED-4DB2-BD59-A6C34878D82A}">
                    <a16:rowId xmlns:a16="http://schemas.microsoft.com/office/drawing/2014/main" val="1814514721"/>
                  </a:ext>
                </a:extLst>
              </a:tr>
              <a:tr h="370840">
                <a:tc>
                  <a:txBody>
                    <a:bodyPr/>
                    <a:lstStyle/>
                    <a:p>
                      <a:r>
                        <a:rPr lang="en-US" dirty="0"/>
                        <a:t>Article Word Count</a:t>
                      </a:r>
                    </a:p>
                  </a:txBody>
                  <a:tcPr/>
                </a:tc>
                <a:tc>
                  <a:txBody>
                    <a:bodyPr/>
                    <a:lstStyle/>
                    <a:p>
                      <a:r>
                        <a:rPr lang="en-US" dirty="0"/>
                        <a:t>Standardize text preprocessing and analyze review complexity</a:t>
                      </a:r>
                    </a:p>
                  </a:txBody>
                  <a:tcPr/>
                </a:tc>
                <a:extLst>
                  <a:ext uri="{0D108BD9-81ED-4DB2-BD59-A6C34878D82A}">
                    <a16:rowId xmlns:a16="http://schemas.microsoft.com/office/drawing/2014/main" val="2005191742"/>
                  </a:ext>
                </a:extLst>
              </a:tr>
              <a:tr h="370840">
                <a:tc>
                  <a:txBody>
                    <a:bodyPr/>
                    <a:lstStyle/>
                    <a:p>
                      <a:r>
                        <a:rPr lang="en-US" dirty="0"/>
                        <a:t>Average Word Length</a:t>
                      </a:r>
                    </a:p>
                  </a:txBody>
                  <a:tcPr/>
                </a:tc>
                <a:tc>
                  <a:txBody>
                    <a:bodyPr/>
                    <a:lstStyle/>
                    <a:p>
                      <a:r>
                        <a:rPr lang="en-US" dirty="0"/>
                        <a:t>Quantifying writing characteristics across reviews</a:t>
                      </a:r>
                    </a:p>
                  </a:txBody>
                  <a:tcPr/>
                </a:tc>
                <a:extLst>
                  <a:ext uri="{0D108BD9-81ED-4DB2-BD59-A6C34878D82A}">
                    <a16:rowId xmlns:a16="http://schemas.microsoft.com/office/drawing/2014/main" val="62232481"/>
                  </a:ext>
                </a:extLst>
              </a:tr>
              <a:tr h="370840">
                <a:tc>
                  <a:txBody>
                    <a:bodyPr/>
                    <a:lstStyle/>
                    <a:p>
                      <a:r>
                        <a:rPr lang="en-US" dirty="0"/>
                        <a:t>Publication Year</a:t>
                      </a:r>
                    </a:p>
                  </a:txBody>
                  <a:tcPr/>
                </a:tc>
                <a:tc>
                  <a:txBody>
                    <a:bodyPr/>
                    <a:lstStyle/>
                    <a:p>
                      <a:r>
                        <a:rPr lang="en-US" dirty="0"/>
                        <a:t>Evaluate changes in reviews over time</a:t>
                      </a:r>
                    </a:p>
                  </a:txBody>
                  <a:tcPr/>
                </a:tc>
                <a:extLst>
                  <a:ext uri="{0D108BD9-81ED-4DB2-BD59-A6C34878D82A}">
                    <a16:rowId xmlns:a16="http://schemas.microsoft.com/office/drawing/2014/main" val="2625957406"/>
                  </a:ext>
                </a:extLst>
              </a:tr>
              <a:tr h="370840">
                <a:tc>
                  <a:txBody>
                    <a:bodyPr/>
                    <a:lstStyle/>
                    <a:p>
                      <a:r>
                        <a:rPr lang="en-US" dirty="0"/>
                        <a:t>Publication Month</a:t>
                      </a:r>
                    </a:p>
                  </a:txBody>
                  <a:tcPr/>
                </a:tc>
                <a:tc>
                  <a:txBody>
                    <a:bodyPr/>
                    <a:lstStyle/>
                    <a:p>
                      <a:r>
                        <a:rPr lang="en-US" dirty="0"/>
                        <a:t>Support temporal trend analysis</a:t>
                      </a:r>
                    </a:p>
                  </a:txBody>
                  <a:tcPr/>
                </a:tc>
                <a:extLst>
                  <a:ext uri="{0D108BD9-81ED-4DB2-BD59-A6C34878D82A}">
                    <a16:rowId xmlns:a16="http://schemas.microsoft.com/office/drawing/2014/main" val="1849720174"/>
                  </a:ext>
                </a:extLst>
              </a:tr>
              <a:tr h="370840">
                <a:tc>
                  <a:txBody>
                    <a:bodyPr/>
                    <a:lstStyle/>
                    <a:p>
                      <a:r>
                        <a:rPr lang="en-US" dirty="0"/>
                        <a:t>Has Price</a:t>
                      </a:r>
                    </a:p>
                  </a:txBody>
                  <a:tcPr/>
                </a:tc>
                <a:tc>
                  <a:txBody>
                    <a:bodyPr/>
                    <a:lstStyle/>
                    <a:p>
                      <a:r>
                        <a:rPr lang="en-US" dirty="0"/>
                        <a:t>Identify reviews containing structured pricing information</a:t>
                      </a:r>
                    </a:p>
                  </a:txBody>
                  <a:tcPr/>
                </a:tc>
                <a:extLst>
                  <a:ext uri="{0D108BD9-81ED-4DB2-BD59-A6C34878D82A}">
                    <a16:rowId xmlns:a16="http://schemas.microsoft.com/office/drawing/2014/main" val="1697475284"/>
                  </a:ext>
                </a:extLst>
              </a:tr>
              <a:tr h="370840">
                <a:tc>
                  <a:txBody>
                    <a:bodyPr/>
                    <a:lstStyle/>
                    <a:p>
                      <a:r>
                        <a:rPr lang="en-US" dirty="0"/>
                        <a:t>Has Product Name</a:t>
                      </a:r>
                    </a:p>
                  </a:txBody>
                  <a:tcPr/>
                </a:tc>
                <a:tc>
                  <a:txBody>
                    <a:bodyPr/>
                    <a:lstStyle/>
                    <a:p>
                      <a:r>
                        <a:rPr lang="en-US" dirty="0"/>
                        <a:t>Evaluate metadata completeness and support future ETL quality improvements</a:t>
                      </a:r>
                    </a:p>
                  </a:txBody>
                  <a:tcPr/>
                </a:tc>
                <a:extLst>
                  <a:ext uri="{0D108BD9-81ED-4DB2-BD59-A6C34878D82A}">
                    <a16:rowId xmlns:a16="http://schemas.microsoft.com/office/drawing/2014/main" val="3737685281"/>
                  </a:ext>
                </a:extLst>
              </a:tr>
            </a:tbl>
          </a:graphicData>
        </a:graphic>
      </p:graphicFrame>
      <p:sp>
        <p:nvSpPr>
          <p:cNvPr id="7" name="TextBox 6">
            <a:extLst>
              <a:ext uri="{FF2B5EF4-FFF2-40B4-BE49-F238E27FC236}">
                <a16:creationId xmlns:a16="http://schemas.microsoft.com/office/drawing/2014/main" id="{F74F3727-246F-AD20-AF86-03E03EA9D2BA}"/>
              </a:ext>
            </a:extLst>
          </p:cNvPr>
          <p:cNvSpPr txBox="1"/>
          <p:nvPr/>
        </p:nvSpPr>
        <p:spPr>
          <a:xfrm>
            <a:off x="1360245" y="5903285"/>
            <a:ext cx="10144366" cy="523220"/>
          </a:xfrm>
          <a:prstGeom prst="rect">
            <a:avLst/>
          </a:prstGeom>
          <a:noFill/>
        </p:spPr>
        <p:txBody>
          <a:bodyPr wrap="square" rtlCol="0">
            <a:spAutoFit/>
          </a:bodyPr>
          <a:lstStyle/>
          <a:p>
            <a:r>
              <a:rPr lang="en-US" sz="1400" dirty="0"/>
              <a:t>Feature engineering transformed raw review data into structured variables that support exploratory analysis, preprocessing, and downstream NLP model development.</a:t>
            </a:r>
          </a:p>
        </p:txBody>
      </p:sp>
    </p:spTree>
    <p:extLst>
      <p:ext uri="{BB962C8B-B14F-4D97-AF65-F5344CB8AC3E}">
        <p14:creationId xmlns:p14="http://schemas.microsoft.com/office/powerpoint/2010/main" val="1236310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4AB4A-F2A7-853C-5D16-5DCCDFDB505D}"/>
              </a:ext>
            </a:extLst>
          </p:cNvPr>
          <p:cNvSpPr>
            <a:spLocks noGrp="1"/>
          </p:cNvSpPr>
          <p:nvPr>
            <p:ph type="title"/>
          </p:nvPr>
        </p:nvSpPr>
        <p:spPr/>
        <p:txBody>
          <a:bodyPr/>
          <a:lstStyle/>
          <a:p>
            <a:r>
              <a:rPr lang="en-US" dirty="0"/>
              <a:t>Text Representation for NLP</a:t>
            </a:r>
          </a:p>
        </p:txBody>
      </p:sp>
      <p:graphicFrame>
        <p:nvGraphicFramePr>
          <p:cNvPr id="5" name="Content Placeholder 4">
            <a:extLst>
              <a:ext uri="{FF2B5EF4-FFF2-40B4-BE49-F238E27FC236}">
                <a16:creationId xmlns:a16="http://schemas.microsoft.com/office/drawing/2014/main" id="{23CAD89D-8646-B2A2-C5DB-DD64187DE55A}"/>
              </a:ext>
            </a:extLst>
          </p:cNvPr>
          <p:cNvGraphicFramePr>
            <a:graphicFrameLocks noGrp="1"/>
          </p:cNvGraphicFramePr>
          <p:nvPr>
            <p:ph sz="half" idx="1"/>
            <p:extLst>
              <p:ext uri="{D42A27DB-BD31-4B8C-83A1-F6EECF244321}">
                <p14:modId xmlns:p14="http://schemas.microsoft.com/office/powerpoint/2010/main" val="1511924079"/>
              </p:ext>
            </p:extLst>
          </p:nvPr>
        </p:nvGraphicFramePr>
        <p:xfrm>
          <a:off x="2589213" y="1539875"/>
          <a:ext cx="4313237"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Content Placeholder 3">
            <a:extLst>
              <a:ext uri="{FF2B5EF4-FFF2-40B4-BE49-F238E27FC236}">
                <a16:creationId xmlns:a16="http://schemas.microsoft.com/office/drawing/2014/main" id="{E193568C-8CC2-91A0-725D-5B1D28F5616A}"/>
              </a:ext>
            </a:extLst>
          </p:cNvPr>
          <p:cNvSpPr>
            <a:spLocks noGrp="1"/>
          </p:cNvSpPr>
          <p:nvPr>
            <p:ph sz="half" idx="2"/>
          </p:nvPr>
        </p:nvSpPr>
        <p:spPr>
          <a:xfrm>
            <a:off x="7187036" y="1539875"/>
            <a:ext cx="4313864" cy="3379943"/>
          </a:xfrm>
        </p:spPr>
        <p:txBody>
          <a:bodyPr/>
          <a:lstStyle/>
          <a:p>
            <a:pPr marL="0" indent="0">
              <a:buNone/>
            </a:pPr>
            <a:r>
              <a:rPr lang="en-US" sz="2000" u="sng" dirty="0"/>
              <a:t>Why no PCA?</a:t>
            </a:r>
          </a:p>
          <a:p>
            <a:r>
              <a:rPr lang="en-US" dirty="0"/>
              <a:t>Review text is converted into contextual token embeddings</a:t>
            </a:r>
          </a:p>
          <a:p>
            <a:r>
              <a:rPr lang="en-US" dirty="0"/>
              <a:t>Transformer models learn dense semantic representations automatically</a:t>
            </a:r>
          </a:p>
          <a:p>
            <a:r>
              <a:rPr lang="en-US" dirty="0"/>
              <a:t>Transformer embeddings eliminate the need for traditional dimensionality reduction techniques, such as PCA</a:t>
            </a:r>
          </a:p>
        </p:txBody>
      </p:sp>
      <p:sp>
        <p:nvSpPr>
          <p:cNvPr id="6" name="TextBox 5">
            <a:extLst>
              <a:ext uri="{FF2B5EF4-FFF2-40B4-BE49-F238E27FC236}">
                <a16:creationId xmlns:a16="http://schemas.microsoft.com/office/drawing/2014/main" id="{2CA26A49-8EBB-CA3B-D293-6FFD27FEE5B3}"/>
              </a:ext>
            </a:extLst>
          </p:cNvPr>
          <p:cNvSpPr txBox="1"/>
          <p:nvPr/>
        </p:nvSpPr>
        <p:spPr>
          <a:xfrm>
            <a:off x="2589213" y="5506165"/>
            <a:ext cx="8911687" cy="738664"/>
          </a:xfrm>
          <a:prstGeom prst="rect">
            <a:avLst/>
          </a:prstGeom>
          <a:noFill/>
        </p:spPr>
        <p:txBody>
          <a:bodyPr wrap="square" rtlCol="0">
            <a:spAutoFit/>
          </a:bodyPr>
          <a:lstStyle/>
          <a:p>
            <a:r>
              <a:rPr lang="en-US" sz="1400" dirty="0"/>
              <a:t>Rather than manually reducing dimensionality, transformer models generate contextual embeddings that preserve semantic meaning while converting raw text into dense numerical representations for machine learning.</a:t>
            </a:r>
          </a:p>
        </p:txBody>
      </p:sp>
    </p:spTree>
    <p:extLst>
      <p:ext uri="{BB962C8B-B14F-4D97-AF65-F5344CB8AC3E}">
        <p14:creationId xmlns:p14="http://schemas.microsoft.com/office/powerpoint/2010/main" val="2097213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FEE1-C173-FEE2-567E-5A8F02870864}"/>
              </a:ext>
            </a:extLst>
          </p:cNvPr>
          <p:cNvSpPr>
            <a:spLocks noGrp="1"/>
          </p:cNvSpPr>
          <p:nvPr>
            <p:ph type="title"/>
          </p:nvPr>
        </p:nvSpPr>
        <p:spPr/>
        <p:txBody>
          <a:bodyPr/>
          <a:lstStyle/>
          <a:p>
            <a:r>
              <a:rPr lang="en-US" dirty="0"/>
              <a:t>Business Interpretability</a:t>
            </a:r>
          </a:p>
        </p:txBody>
      </p:sp>
      <p:graphicFrame>
        <p:nvGraphicFramePr>
          <p:cNvPr id="5" name="Content Placeholder 4">
            <a:extLst>
              <a:ext uri="{FF2B5EF4-FFF2-40B4-BE49-F238E27FC236}">
                <a16:creationId xmlns:a16="http://schemas.microsoft.com/office/drawing/2014/main" id="{F36232D8-6F76-7264-9468-C7CD6FC79EB8}"/>
              </a:ext>
            </a:extLst>
          </p:cNvPr>
          <p:cNvGraphicFramePr>
            <a:graphicFrameLocks noGrp="1"/>
          </p:cNvGraphicFramePr>
          <p:nvPr>
            <p:ph sz="half" idx="1"/>
            <p:extLst>
              <p:ext uri="{D42A27DB-BD31-4B8C-83A1-F6EECF244321}">
                <p14:modId xmlns:p14="http://schemas.microsoft.com/office/powerpoint/2010/main" val="3988378920"/>
              </p:ext>
            </p:extLst>
          </p:nvPr>
        </p:nvGraphicFramePr>
        <p:xfrm>
          <a:off x="687388" y="1566578"/>
          <a:ext cx="6357355" cy="3571240"/>
        </p:xfrm>
        <a:graphic>
          <a:graphicData uri="http://schemas.openxmlformats.org/drawingml/2006/table">
            <a:tbl>
              <a:tblPr firstRow="1" bandRow="1">
                <a:tableStyleId>{5C22544A-7EE6-4342-B048-85BDC9FD1C3A}</a:tableStyleId>
              </a:tblPr>
              <a:tblGrid>
                <a:gridCol w="2779464">
                  <a:extLst>
                    <a:ext uri="{9D8B030D-6E8A-4147-A177-3AD203B41FA5}">
                      <a16:colId xmlns:a16="http://schemas.microsoft.com/office/drawing/2014/main" val="3186664703"/>
                    </a:ext>
                  </a:extLst>
                </a:gridCol>
                <a:gridCol w="3577891">
                  <a:extLst>
                    <a:ext uri="{9D8B030D-6E8A-4147-A177-3AD203B41FA5}">
                      <a16:colId xmlns:a16="http://schemas.microsoft.com/office/drawing/2014/main" val="2542853846"/>
                    </a:ext>
                  </a:extLst>
                </a:gridCol>
              </a:tblGrid>
              <a:tr h="370840">
                <a:tc>
                  <a:txBody>
                    <a:bodyPr/>
                    <a:lstStyle/>
                    <a:p>
                      <a:r>
                        <a:rPr lang="en-US" dirty="0"/>
                        <a:t>Feature</a:t>
                      </a:r>
                    </a:p>
                  </a:txBody>
                  <a:tcPr/>
                </a:tc>
                <a:tc>
                  <a:txBody>
                    <a:bodyPr/>
                    <a:lstStyle/>
                    <a:p>
                      <a:r>
                        <a:rPr lang="en-US" dirty="0"/>
                        <a:t>Business Insight</a:t>
                      </a:r>
                    </a:p>
                  </a:txBody>
                  <a:tcPr/>
                </a:tc>
                <a:extLst>
                  <a:ext uri="{0D108BD9-81ED-4DB2-BD59-A6C34878D82A}">
                    <a16:rowId xmlns:a16="http://schemas.microsoft.com/office/drawing/2014/main" val="2253394952"/>
                  </a:ext>
                </a:extLst>
              </a:tr>
              <a:tr h="370840">
                <a:tc>
                  <a:txBody>
                    <a:bodyPr/>
                    <a:lstStyle/>
                    <a:p>
                      <a:r>
                        <a:rPr lang="en-US" dirty="0"/>
                        <a:t>Brand</a:t>
                      </a:r>
                    </a:p>
                  </a:txBody>
                  <a:tcPr/>
                </a:tc>
                <a:tc>
                  <a:txBody>
                    <a:bodyPr/>
                    <a:lstStyle/>
                    <a:p>
                      <a:r>
                        <a:rPr lang="en-US" dirty="0"/>
                        <a:t>Compare brand perception across manufacturers</a:t>
                      </a:r>
                    </a:p>
                  </a:txBody>
                  <a:tcPr/>
                </a:tc>
                <a:extLst>
                  <a:ext uri="{0D108BD9-81ED-4DB2-BD59-A6C34878D82A}">
                    <a16:rowId xmlns:a16="http://schemas.microsoft.com/office/drawing/2014/main" val="1642732960"/>
                  </a:ext>
                </a:extLst>
              </a:tr>
              <a:tr h="370840">
                <a:tc>
                  <a:txBody>
                    <a:bodyPr/>
                    <a:lstStyle/>
                    <a:p>
                      <a:r>
                        <a:rPr lang="en-US" dirty="0"/>
                        <a:t>Review Type</a:t>
                      </a:r>
                    </a:p>
                  </a:txBody>
                  <a:tcPr/>
                </a:tc>
                <a:tc>
                  <a:txBody>
                    <a:bodyPr/>
                    <a:lstStyle/>
                    <a:p>
                      <a:r>
                        <a:rPr lang="en-US" dirty="0"/>
                        <a:t>Compare sentiment across review formats</a:t>
                      </a:r>
                    </a:p>
                  </a:txBody>
                  <a:tcPr/>
                </a:tc>
                <a:extLst>
                  <a:ext uri="{0D108BD9-81ED-4DB2-BD59-A6C34878D82A}">
                    <a16:rowId xmlns:a16="http://schemas.microsoft.com/office/drawing/2014/main" val="430993368"/>
                  </a:ext>
                </a:extLst>
              </a:tr>
              <a:tr h="370840">
                <a:tc>
                  <a:txBody>
                    <a:bodyPr/>
                    <a:lstStyle/>
                    <a:p>
                      <a:r>
                        <a:rPr lang="en-US" dirty="0"/>
                        <a:t>Retail Price</a:t>
                      </a:r>
                    </a:p>
                  </a:txBody>
                  <a:tcPr/>
                </a:tc>
                <a:tc>
                  <a:txBody>
                    <a:bodyPr/>
                    <a:lstStyle/>
                    <a:p>
                      <a:r>
                        <a:rPr lang="en-US" dirty="0"/>
                        <a:t>Analyze sentiment by product price range</a:t>
                      </a:r>
                    </a:p>
                  </a:txBody>
                  <a:tcPr/>
                </a:tc>
                <a:extLst>
                  <a:ext uri="{0D108BD9-81ED-4DB2-BD59-A6C34878D82A}">
                    <a16:rowId xmlns:a16="http://schemas.microsoft.com/office/drawing/2014/main" val="3631675956"/>
                  </a:ext>
                </a:extLst>
              </a:tr>
              <a:tr h="370840">
                <a:tc>
                  <a:txBody>
                    <a:bodyPr/>
                    <a:lstStyle/>
                    <a:p>
                      <a:r>
                        <a:rPr lang="en-US" dirty="0"/>
                        <a:t>Publication Date</a:t>
                      </a:r>
                    </a:p>
                  </a:txBody>
                  <a:tcPr/>
                </a:tc>
                <a:tc>
                  <a:txBody>
                    <a:bodyPr/>
                    <a:lstStyle/>
                    <a:p>
                      <a:r>
                        <a:rPr lang="en-US" dirty="0"/>
                        <a:t>Identify changes in sentiment over time</a:t>
                      </a:r>
                    </a:p>
                  </a:txBody>
                  <a:tcPr/>
                </a:tc>
                <a:extLst>
                  <a:ext uri="{0D108BD9-81ED-4DB2-BD59-A6C34878D82A}">
                    <a16:rowId xmlns:a16="http://schemas.microsoft.com/office/drawing/2014/main" val="4146825610"/>
                  </a:ext>
                </a:extLst>
              </a:tr>
              <a:tr h="370840">
                <a:tc>
                  <a:txBody>
                    <a:bodyPr/>
                    <a:lstStyle/>
                    <a:p>
                      <a:r>
                        <a:rPr lang="en-US" dirty="0"/>
                        <a:t>Review Text</a:t>
                      </a:r>
                    </a:p>
                  </a:txBody>
                  <a:tcPr/>
                </a:tc>
                <a:tc>
                  <a:txBody>
                    <a:bodyPr/>
                    <a:lstStyle/>
                    <a:p>
                      <a:r>
                        <a:rPr lang="en-US" dirty="0"/>
                        <a:t>Extract overall sentiment and common discussion themes</a:t>
                      </a:r>
                    </a:p>
                  </a:txBody>
                  <a:tcPr/>
                </a:tc>
                <a:extLst>
                  <a:ext uri="{0D108BD9-81ED-4DB2-BD59-A6C34878D82A}">
                    <a16:rowId xmlns:a16="http://schemas.microsoft.com/office/drawing/2014/main" val="2355833563"/>
                  </a:ext>
                </a:extLst>
              </a:tr>
            </a:tbl>
          </a:graphicData>
        </a:graphic>
      </p:graphicFrame>
      <p:sp>
        <p:nvSpPr>
          <p:cNvPr id="4" name="Content Placeholder 3">
            <a:extLst>
              <a:ext uri="{FF2B5EF4-FFF2-40B4-BE49-F238E27FC236}">
                <a16:creationId xmlns:a16="http://schemas.microsoft.com/office/drawing/2014/main" id="{443DAF5D-57BB-CEB2-76A0-EDC608821546}"/>
              </a:ext>
            </a:extLst>
          </p:cNvPr>
          <p:cNvSpPr>
            <a:spLocks noGrp="1"/>
          </p:cNvSpPr>
          <p:nvPr>
            <p:ph sz="half" idx="2"/>
          </p:nvPr>
        </p:nvSpPr>
        <p:spPr>
          <a:xfrm>
            <a:off x="7190747" y="1566578"/>
            <a:ext cx="4313864" cy="3777622"/>
          </a:xfrm>
        </p:spPr>
        <p:txBody>
          <a:bodyPr>
            <a:normAutofit lnSpcReduction="10000"/>
          </a:bodyPr>
          <a:lstStyle/>
          <a:p>
            <a:pPr marL="0" indent="0">
              <a:buNone/>
            </a:pPr>
            <a:r>
              <a:rPr lang="en-US" sz="2000" u="sng" dirty="0"/>
              <a:t>Business Applications</a:t>
            </a:r>
          </a:p>
          <a:p>
            <a:r>
              <a:rPr lang="en-US" dirty="0"/>
              <a:t>Monitor brand perception over time</a:t>
            </a:r>
          </a:p>
          <a:p>
            <a:r>
              <a:rPr lang="en-US" dirty="0"/>
              <a:t>Identify strengths and weaknesses discussed in professional reviews</a:t>
            </a:r>
          </a:p>
          <a:p>
            <a:r>
              <a:rPr lang="en-US" dirty="0"/>
              <a:t>Compare sentiment across product segments and price ranges</a:t>
            </a:r>
          </a:p>
          <a:p>
            <a:r>
              <a:rPr lang="en-US" dirty="0"/>
              <a:t>Support product development and marketing decisions</a:t>
            </a:r>
          </a:p>
          <a:p>
            <a:r>
              <a:rPr lang="en-US" dirty="0"/>
              <a:t>Track competitive positioning across manufacturers</a:t>
            </a:r>
          </a:p>
        </p:txBody>
      </p:sp>
      <p:sp>
        <p:nvSpPr>
          <p:cNvPr id="6" name="TextBox 5">
            <a:extLst>
              <a:ext uri="{FF2B5EF4-FFF2-40B4-BE49-F238E27FC236}">
                <a16:creationId xmlns:a16="http://schemas.microsoft.com/office/drawing/2014/main" id="{EBAFA6FB-739D-248C-693F-1E5147DE140A}"/>
              </a:ext>
            </a:extLst>
          </p:cNvPr>
          <p:cNvSpPr txBox="1"/>
          <p:nvPr/>
        </p:nvSpPr>
        <p:spPr>
          <a:xfrm>
            <a:off x="687388" y="5859887"/>
            <a:ext cx="10817223" cy="523220"/>
          </a:xfrm>
          <a:prstGeom prst="rect">
            <a:avLst/>
          </a:prstGeom>
          <a:noFill/>
        </p:spPr>
        <p:txBody>
          <a:bodyPr wrap="square" rtlCol="0">
            <a:spAutoFit/>
          </a:bodyPr>
          <a:lstStyle/>
          <a:p>
            <a:r>
              <a:rPr lang="en-US" sz="1400" dirty="0"/>
              <a:t>Combining structured metadata with transformer-based text analysis enables actionable business insights beyond simple positive or negative sentiment classification.</a:t>
            </a:r>
          </a:p>
        </p:txBody>
      </p:sp>
    </p:spTree>
    <p:extLst>
      <p:ext uri="{BB962C8B-B14F-4D97-AF65-F5344CB8AC3E}">
        <p14:creationId xmlns:p14="http://schemas.microsoft.com/office/powerpoint/2010/main" val="747547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F378C-4E0F-1EC3-B12F-606566DF2E23}"/>
              </a:ext>
            </a:extLst>
          </p:cNvPr>
          <p:cNvSpPr>
            <a:spLocks noGrp="1"/>
          </p:cNvSpPr>
          <p:nvPr>
            <p:ph type="title"/>
          </p:nvPr>
        </p:nvSpPr>
        <p:spPr/>
        <p:txBody>
          <a:bodyPr/>
          <a:lstStyle/>
          <a:p>
            <a:r>
              <a:rPr lang="en-US" dirty="0"/>
              <a:t>Conclusion &amp; Next Steps</a:t>
            </a:r>
          </a:p>
        </p:txBody>
      </p:sp>
      <p:sp>
        <p:nvSpPr>
          <p:cNvPr id="3" name="Content Placeholder 2">
            <a:extLst>
              <a:ext uri="{FF2B5EF4-FFF2-40B4-BE49-F238E27FC236}">
                <a16:creationId xmlns:a16="http://schemas.microsoft.com/office/drawing/2014/main" id="{C28B426B-53D0-4345-5F89-EBF67D14CBF3}"/>
              </a:ext>
            </a:extLst>
          </p:cNvPr>
          <p:cNvSpPr>
            <a:spLocks noGrp="1"/>
          </p:cNvSpPr>
          <p:nvPr>
            <p:ph sz="half" idx="1"/>
          </p:nvPr>
        </p:nvSpPr>
        <p:spPr>
          <a:xfrm>
            <a:off x="1782135" y="1919024"/>
            <a:ext cx="4863363" cy="3777622"/>
          </a:xfrm>
        </p:spPr>
        <p:txBody>
          <a:bodyPr>
            <a:normAutofit fontScale="92500"/>
          </a:bodyPr>
          <a:lstStyle/>
          <a:p>
            <a:pPr marL="0" indent="0">
              <a:buNone/>
            </a:pPr>
            <a:r>
              <a:rPr lang="en-US" sz="2200" u="sng" dirty="0"/>
              <a:t>Key Conclusions</a:t>
            </a:r>
            <a:endParaRPr lang="en-US" u="sng" dirty="0"/>
          </a:p>
          <a:p>
            <a:r>
              <a:rPr lang="en-US" dirty="0"/>
              <a:t>Exploratory analysis confirmed a clean, well-structured dataset for NLP</a:t>
            </a:r>
          </a:p>
          <a:p>
            <a:r>
              <a:rPr lang="en-US" dirty="0"/>
              <a:t>Statistical analysis identified consistent review lengths and a moderately right-skewed retail price distribution</a:t>
            </a:r>
          </a:p>
          <a:p>
            <a:r>
              <a:rPr lang="en-US" dirty="0"/>
              <a:t>Feature engineering created structured variables to support preprocessing and business interpretation</a:t>
            </a:r>
          </a:p>
          <a:p>
            <a:r>
              <a:rPr lang="en-US" dirty="0"/>
              <a:t>Transformer embeddings provide an effective text representation without requiring PCA</a:t>
            </a:r>
          </a:p>
        </p:txBody>
      </p:sp>
      <p:sp>
        <p:nvSpPr>
          <p:cNvPr id="4" name="Content Placeholder 3">
            <a:extLst>
              <a:ext uri="{FF2B5EF4-FFF2-40B4-BE49-F238E27FC236}">
                <a16:creationId xmlns:a16="http://schemas.microsoft.com/office/drawing/2014/main" id="{2E798AC2-7CAC-9D54-DE8E-A025FD9C1CE5}"/>
              </a:ext>
            </a:extLst>
          </p:cNvPr>
          <p:cNvSpPr>
            <a:spLocks noGrp="1"/>
          </p:cNvSpPr>
          <p:nvPr>
            <p:ph sz="half" idx="2"/>
          </p:nvPr>
        </p:nvSpPr>
        <p:spPr>
          <a:xfrm>
            <a:off x="7190747" y="1905000"/>
            <a:ext cx="4313864" cy="3777622"/>
          </a:xfrm>
        </p:spPr>
        <p:txBody>
          <a:bodyPr>
            <a:normAutofit fontScale="92500"/>
          </a:bodyPr>
          <a:lstStyle/>
          <a:p>
            <a:pPr marL="0" indent="0">
              <a:buNone/>
            </a:pPr>
            <a:r>
              <a:rPr lang="en-US" sz="2200" u="sng" dirty="0"/>
              <a:t>Next Steps</a:t>
            </a:r>
            <a:endParaRPr lang="en-US" u="sng" dirty="0"/>
          </a:p>
          <a:p>
            <a:r>
              <a:rPr lang="en-US" dirty="0"/>
              <a:t>Finalize the NLP training dataset</a:t>
            </a:r>
          </a:p>
          <a:p>
            <a:r>
              <a:rPr lang="en-US" dirty="0"/>
              <a:t>Generate sentiment labels for model training</a:t>
            </a:r>
          </a:p>
          <a:p>
            <a:r>
              <a:rPr lang="en-US" dirty="0"/>
              <a:t>Train and compare transformer-based NLP models</a:t>
            </a:r>
          </a:p>
          <a:p>
            <a:r>
              <a:rPr lang="en-US" dirty="0"/>
              <a:t>Evaluate model performance and business insights</a:t>
            </a:r>
          </a:p>
        </p:txBody>
      </p:sp>
      <p:sp>
        <p:nvSpPr>
          <p:cNvPr id="5" name="TextBox 4">
            <a:extLst>
              <a:ext uri="{FF2B5EF4-FFF2-40B4-BE49-F238E27FC236}">
                <a16:creationId xmlns:a16="http://schemas.microsoft.com/office/drawing/2014/main" id="{77787C35-9CD1-B62B-4828-C51F8482D05C}"/>
              </a:ext>
            </a:extLst>
          </p:cNvPr>
          <p:cNvSpPr txBox="1"/>
          <p:nvPr/>
        </p:nvSpPr>
        <p:spPr>
          <a:xfrm>
            <a:off x="1782136" y="5710670"/>
            <a:ext cx="9722475" cy="523220"/>
          </a:xfrm>
          <a:prstGeom prst="rect">
            <a:avLst/>
          </a:prstGeom>
          <a:noFill/>
        </p:spPr>
        <p:txBody>
          <a:bodyPr wrap="square" rtlCol="0">
            <a:spAutoFit/>
          </a:bodyPr>
          <a:lstStyle/>
          <a:p>
            <a:r>
              <a:rPr lang="en-US" sz="1400" dirty="0"/>
              <a:t>The project now transitions from preparing the data to building and evaluating transformer-based sentiment models capable of generating actionable business insights.</a:t>
            </a:r>
          </a:p>
        </p:txBody>
      </p:sp>
    </p:spTree>
    <p:extLst>
      <p:ext uri="{BB962C8B-B14F-4D97-AF65-F5344CB8AC3E}">
        <p14:creationId xmlns:p14="http://schemas.microsoft.com/office/powerpoint/2010/main" val="91991564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332</TotalTime>
  <Words>1791</Words>
  <Application>Microsoft Macintosh PowerPoint</Application>
  <PresentationFormat>Widescreen</PresentationFormat>
  <Paragraphs>141</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Century Gothic</vt:lpstr>
      <vt:lpstr>Wingdings 3</vt:lpstr>
      <vt:lpstr>Wisp</vt:lpstr>
      <vt:lpstr>Sentiment Intelligence for Mountain Bike Product Reviews: Exploratory Data Analysis &amp; Feature Engineering</vt:lpstr>
      <vt:lpstr>Dataset Overview</vt:lpstr>
      <vt:lpstr>Statistical Analysis</vt:lpstr>
      <vt:lpstr>Exploratory Visualizations</vt:lpstr>
      <vt:lpstr>Feature Engineering Results</vt:lpstr>
      <vt:lpstr>Text Representation for NLP</vt:lpstr>
      <vt:lpstr>Business Interpretability</vt:lpstr>
      <vt:lpstr>Conclusion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Austin Engstrom</dc:creator>
  <cp:lastModifiedBy>Austin Engstrom</cp:lastModifiedBy>
  <cp:revision>11</cp:revision>
  <dcterms:created xsi:type="dcterms:W3CDTF">2026-06-19T12:15:19Z</dcterms:created>
  <dcterms:modified xsi:type="dcterms:W3CDTF">2026-07-09T18:23:11Z</dcterms:modified>
</cp:coreProperties>
</file>