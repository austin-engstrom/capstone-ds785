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5.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6.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32"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405"/>
    <p:restoredTop sz="54571"/>
  </p:normalViewPr>
  <p:slideViewPr>
    <p:cSldViewPr snapToGrid="0">
      <p:cViewPr>
        <p:scale>
          <a:sx n="100" d="100"/>
          <a:sy n="100" d="100"/>
        </p:scale>
        <p:origin x="720" y="-5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C57375C-3CFF-3E42-8E4A-5DFBA5BB53F6}" type="doc">
      <dgm:prSet loTypeId="urn:microsoft.com/office/officeart/2005/8/layout/bProcess3" loCatId="" qsTypeId="urn:microsoft.com/office/officeart/2005/8/quickstyle/simple1" qsCatId="simple" csTypeId="urn:microsoft.com/office/officeart/2005/8/colors/accent1_2" csCatId="accent1" phldr="1"/>
      <dgm:spPr/>
      <dgm:t>
        <a:bodyPr/>
        <a:lstStyle/>
        <a:p>
          <a:endParaRPr lang="en-US"/>
        </a:p>
      </dgm:t>
    </dgm:pt>
    <dgm:pt modelId="{62C72455-C0F7-CD46-829F-8C6BA6076D65}">
      <dgm:prSet phldrT="[Text]"/>
      <dgm:spPr/>
      <dgm:t>
        <a:bodyPr/>
        <a:lstStyle/>
        <a:p>
          <a:r>
            <a:rPr lang="en-US" dirty="0"/>
            <a:t>301 Manually Labeled Reviews</a:t>
          </a:r>
        </a:p>
      </dgm:t>
    </dgm:pt>
    <dgm:pt modelId="{493FD411-209C-C94B-8EDA-87638782EBC0}" type="parTrans" cxnId="{637C68C3-B2A3-E54D-A4C6-95325C921BD2}">
      <dgm:prSet/>
      <dgm:spPr/>
      <dgm:t>
        <a:bodyPr/>
        <a:lstStyle/>
        <a:p>
          <a:endParaRPr lang="en-US"/>
        </a:p>
      </dgm:t>
    </dgm:pt>
    <dgm:pt modelId="{46B80F2B-C479-B440-B7CB-A6C32EE7871D}" type="sibTrans" cxnId="{637C68C3-B2A3-E54D-A4C6-95325C921BD2}">
      <dgm:prSet/>
      <dgm:spPr/>
      <dgm:t>
        <a:bodyPr/>
        <a:lstStyle/>
        <a:p>
          <a:endParaRPr lang="en-US"/>
        </a:p>
      </dgm:t>
    </dgm:pt>
    <dgm:pt modelId="{E7858868-2B85-F14A-B084-8E783C7D3269}">
      <dgm:prSet phldrT="[Text]"/>
      <dgm:spPr/>
      <dgm:t>
        <a:bodyPr/>
        <a:lstStyle/>
        <a:p>
          <a:r>
            <a:rPr lang="en-US" dirty="0"/>
            <a:t>Binary Sentiment Classification</a:t>
          </a:r>
        </a:p>
      </dgm:t>
    </dgm:pt>
    <dgm:pt modelId="{4C1F0BFC-CE53-B541-AD78-A2549D34C208}" type="parTrans" cxnId="{8FEDD9F4-16C1-3E40-B55D-741EF2D675E2}">
      <dgm:prSet/>
      <dgm:spPr/>
      <dgm:t>
        <a:bodyPr/>
        <a:lstStyle/>
        <a:p>
          <a:endParaRPr lang="en-US"/>
        </a:p>
      </dgm:t>
    </dgm:pt>
    <dgm:pt modelId="{9C0DF0A7-32CA-D54C-8EC6-C3E0D65C887F}" type="sibTrans" cxnId="{8FEDD9F4-16C1-3E40-B55D-741EF2D675E2}">
      <dgm:prSet/>
      <dgm:spPr/>
      <dgm:t>
        <a:bodyPr/>
        <a:lstStyle/>
        <a:p>
          <a:endParaRPr lang="en-US"/>
        </a:p>
      </dgm:t>
    </dgm:pt>
    <dgm:pt modelId="{F4154E7C-255B-BB4F-8579-596CC6767606}">
      <dgm:prSet phldrT="[Text]"/>
      <dgm:spPr/>
      <dgm:t>
        <a:bodyPr/>
        <a:lstStyle/>
        <a:p>
          <a:r>
            <a:rPr lang="en-US" dirty="0"/>
            <a:t>80/20 Train-Test Split</a:t>
          </a:r>
        </a:p>
      </dgm:t>
    </dgm:pt>
    <dgm:pt modelId="{B97C22BD-E59F-F940-AD95-486B81145225}" type="parTrans" cxnId="{0E435038-BEFC-954F-B152-0FFEBD633064}">
      <dgm:prSet/>
      <dgm:spPr/>
      <dgm:t>
        <a:bodyPr/>
        <a:lstStyle/>
        <a:p>
          <a:endParaRPr lang="en-US"/>
        </a:p>
      </dgm:t>
    </dgm:pt>
    <dgm:pt modelId="{6AE78A43-A7CB-9141-8565-94F93E632A00}" type="sibTrans" cxnId="{0E435038-BEFC-954F-B152-0FFEBD633064}">
      <dgm:prSet/>
      <dgm:spPr/>
      <dgm:t>
        <a:bodyPr/>
        <a:lstStyle/>
        <a:p>
          <a:endParaRPr lang="en-US"/>
        </a:p>
      </dgm:t>
    </dgm:pt>
    <dgm:pt modelId="{09B83BEA-BA31-A141-949F-199248014E65}">
      <dgm:prSet phldrT="[Text]"/>
      <dgm:spPr/>
      <dgm:t>
        <a:bodyPr/>
        <a:lstStyle/>
        <a:p>
          <a:r>
            <a:rPr lang="en-US" dirty="0"/>
            <a:t>5-Fold Stratified Cross-Validation</a:t>
          </a:r>
        </a:p>
      </dgm:t>
    </dgm:pt>
    <dgm:pt modelId="{B206C04C-8B9C-C144-B9E1-8A2908F3CDEB}" type="parTrans" cxnId="{E682C8D0-0482-144C-AD19-81E24F6C77D3}">
      <dgm:prSet/>
      <dgm:spPr/>
      <dgm:t>
        <a:bodyPr/>
        <a:lstStyle/>
        <a:p>
          <a:endParaRPr lang="en-US"/>
        </a:p>
      </dgm:t>
    </dgm:pt>
    <dgm:pt modelId="{6A40156A-6C6A-024E-A64A-AB0009BB72FF}" type="sibTrans" cxnId="{E682C8D0-0482-144C-AD19-81E24F6C77D3}">
      <dgm:prSet/>
      <dgm:spPr/>
      <dgm:t>
        <a:bodyPr/>
        <a:lstStyle/>
        <a:p>
          <a:endParaRPr lang="en-US"/>
        </a:p>
      </dgm:t>
    </dgm:pt>
    <dgm:pt modelId="{46E6941C-3C33-0D43-8206-FA314966790B}">
      <dgm:prSet phldrT="[Text]"/>
      <dgm:spPr/>
      <dgm:t>
        <a:bodyPr/>
        <a:lstStyle/>
        <a:p>
          <a:r>
            <a:rPr lang="en-US" dirty="0"/>
            <a:t>Hyperparameter Tuning</a:t>
          </a:r>
          <a:endParaRPr lang="en-US" i="1" dirty="0"/>
        </a:p>
      </dgm:t>
    </dgm:pt>
    <dgm:pt modelId="{4517E692-1A2C-E942-BFB2-805F48820C97}" type="parTrans" cxnId="{9418EF69-785F-CE4B-9506-6F56514D7D39}">
      <dgm:prSet/>
      <dgm:spPr/>
      <dgm:t>
        <a:bodyPr/>
        <a:lstStyle/>
        <a:p>
          <a:endParaRPr lang="en-US"/>
        </a:p>
      </dgm:t>
    </dgm:pt>
    <dgm:pt modelId="{9DE1E80C-39E6-FF41-B26A-CC63EEEB04EB}" type="sibTrans" cxnId="{9418EF69-785F-CE4B-9506-6F56514D7D39}">
      <dgm:prSet/>
      <dgm:spPr/>
      <dgm:t>
        <a:bodyPr/>
        <a:lstStyle/>
        <a:p>
          <a:endParaRPr lang="en-US"/>
        </a:p>
      </dgm:t>
    </dgm:pt>
    <dgm:pt modelId="{15920862-5BE1-4149-8F42-FC688E42AEFE}">
      <dgm:prSet phldrT="[Text]"/>
      <dgm:spPr/>
      <dgm:t>
        <a:bodyPr/>
        <a:lstStyle/>
        <a:p>
          <a:r>
            <a:rPr lang="en-US" dirty="0"/>
            <a:t>(Positive vs Not Positive)</a:t>
          </a:r>
        </a:p>
      </dgm:t>
    </dgm:pt>
    <dgm:pt modelId="{4014620B-3046-574F-8600-FD99A2E9B00D}" type="parTrans" cxnId="{2A4473CC-01E6-5245-9806-C13CAB507B55}">
      <dgm:prSet/>
      <dgm:spPr/>
      <dgm:t>
        <a:bodyPr/>
        <a:lstStyle/>
        <a:p>
          <a:endParaRPr lang="en-US"/>
        </a:p>
      </dgm:t>
    </dgm:pt>
    <dgm:pt modelId="{E3C65387-3B2A-DB40-9E42-75B13F4BDF67}" type="sibTrans" cxnId="{2A4473CC-01E6-5245-9806-C13CAB507B55}">
      <dgm:prSet/>
      <dgm:spPr/>
      <dgm:t>
        <a:bodyPr/>
        <a:lstStyle/>
        <a:p>
          <a:endParaRPr lang="en-US"/>
        </a:p>
      </dgm:t>
    </dgm:pt>
    <dgm:pt modelId="{6698E386-1962-6349-8465-8CD866353E57}">
      <dgm:prSet phldrT="[Text]"/>
      <dgm:spPr/>
      <dgm:t>
        <a:bodyPr/>
        <a:lstStyle/>
        <a:p>
          <a:r>
            <a:rPr lang="en-US" dirty="0"/>
            <a:t>Model Performance Evaluation</a:t>
          </a:r>
        </a:p>
      </dgm:t>
    </dgm:pt>
    <dgm:pt modelId="{515F82EB-BC97-D145-AA0A-D595C341349A}" type="parTrans" cxnId="{44BD8D44-307F-0041-8778-05DA6B8DD021}">
      <dgm:prSet/>
      <dgm:spPr/>
      <dgm:t>
        <a:bodyPr/>
        <a:lstStyle/>
        <a:p>
          <a:endParaRPr lang="en-US"/>
        </a:p>
      </dgm:t>
    </dgm:pt>
    <dgm:pt modelId="{B48A3229-1439-1943-B8A6-B1121BCF335D}" type="sibTrans" cxnId="{44BD8D44-307F-0041-8778-05DA6B8DD021}">
      <dgm:prSet/>
      <dgm:spPr/>
      <dgm:t>
        <a:bodyPr/>
        <a:lstStyle/>
        <a:p>
          <a:endParaRPr lang="en-US"/>
        </a:p>
      </dgm:t>
    </dgm:pt>
    <dgm:pt modelId="{AE609CC6-7708-5F42-89DD-277FEC5711BE}">
      <dgm:prSet phldrT="[Text]"/>
      <dgm:spPr/>
      <dgm:t>
        <a:bodyPr/>
        <a:lstStyle/>
        <a:p>
          <a:r>
            <a:rPr lang="en-US" dirty="0"/>
            <a:t>Ground Truth</a:t>
          </a:r>
        </a:p>
      </dgm:t>
    </dgm:pt>
    <dgm:pt modelId="{2F68A96B-82B9-9440-8CAC-2FF46DBC2004}" type="parTrans" cxnId="{97A04A68-DD59-334A-8116-E06F5382F63A}">
      <dgm:prSet/>
      <dgm:spPr/>
      <dgm:t>
        <a:bodyPr/>
        <a:lstStyle/>
        <a:p>
          <a:endParaRPr lang="en-US"/>
        </a:p>
      </dgm:t>
    </dgm:pt>
    <dgm:pt modelId="{C91CC8D6-D33C-CC41-804B-0E3881ADCFEC}" type="sibTrans" cxnId="{97A04A68-DD59-334A-8116-E06F5382F63A}">
      <dgm:prSet/>
      <dgm:spPr/>
      <dgm:t>
        <a:bodyPr/>
        <a:lstStyle/>
        <a:p>
          <a:endParaRPr lang="en-US"/>
        </a:p>
      </dgm:t>
    </dgm:pt>
    <dgm:pt modelId="{D73D8580-12E7-2B41-A581-96AF2592FF9E}">
      <dgm:prSet phldrT="[Text]"/>
      <dgm:spPr/>
      <dgm:t>
        <a:bodyPr/>
        <a:lstStyle/>
        <a:p>
          <a:r>
            <a:rPr lang="en-US" dirty="0"/>
            <a:t>240 Positive</a:t>
          </a:r>
        </a:p>
      </dgm:t>
    </dgm:pt>
    <dgm:pt modelId="{1D5DC787-F4C4-8E42-B683-C9C90671340C}" type="parTrans" cxnId="{ECE7A729-467C-314D-B55F-A2F937F57BC5}">
      <dgm:prSet/>
      <dgm:spPr/>
      <dgm:t>
        <a:bodyPr/>
        <a:lstStyle/>
        <a:p>
          <a:endParaRPr lang="en-US"/>
        </a:p>
      </dgm:t>
    </dgm:pt>
    <dgm:pt modelId="{6C688755-7610-9648-A288-6CF9FC188C76}" type="sibTrans" cxnId="{ECE7A729-467C-314D-B55F-A2F937F57BC5}">
      <dgm:prSet/>
      <dgm:spPr/>
      <dgm:t>
        <a:bodyPr/>
        <a:lstStyle/>
        <a:p>
          <a:endParaRPr lang="en-US"/>
        </a:p>
      </dgm:t>
    </dgm:pt>
    <dgm:pt modelId="{0A7D158D-52BA-8444-9E4E-B8299AB957DF}">
      <dgm:prSet phldrT="[Text]"/>
      <dgm:spPr/>
      <dgm:t>
        <a:bodyPr/>
        <a:lstStyle/>
        <a:p>
          <a:r>
            <a:rPr lang="en-US" dirty="0"/>
            <a:t>61 Not Positive</a:t>
          </a:r>
        </a:p>
      </dgm:t>
    </dgm:pt>
    <dgm:pt modelId="{05EA7589-02F7-3941-AEEB-BDBCCE529612}" type="parTrans" cxnId="{91F82324-7122-F742-B8A6-D7D955E93223}">
      <dgm:prSet/>
      <dgm:spPr/>
      <dgm:t>
        <a:bodyPr/>
        <a:lstStyle/>
        <a:p>
          <a:endParaRPr lang="en-US"/>
        </a:p>
      </dgm:t>
    </dgm:pt>
    <dgm:pt modelId="{6C522811-FC8C-9149-B9D4-7ACF224591A8}" type="sibTrans" cxnId="{91F82324-7122-F742-B8A6-D7D955E93223}">
      <dgm:prSet/>
      <dgm:spPr/>
      <dgm:t>
        <a:bodyPr/>
        <a:lstStyle/>
        <a:p>
          <a:endParaRPr lang="en-US"/>
        </a:p>
      </dgm:t>
    </dgm:pt>
    <dgm:pt modelId="{F5B2BDEA-45CD-D540-9F97-1ABF2AFF22D7}">
      <dgm:prSet/>
      <dgm:spPr/>
      <dgm:t>
        <a:bodyPr/>
        <a:lstStyle/>
        <a:p>
          <a:r>
            <a:rPr lang="en-US" i="1" dirty="0"/>
            <a:t>(</a:t>
          </a:r>
          <a:r>
            <a:rPr lang="en-US" i="1" dirty="0" err="1"/>
            <a:t>GridSearchCV</a:t>
          </a:r>
          <a:r>
            <a:rPr lang="en-US" i="1" dirty="0"/>
            <a:t>)</a:t>
          </a:r>
        </a:p>
      </dgm:t>
    </dgm:pt>
    <dgm:pt modelId="{1BC8471A-C4C0-D74B-98FE-76FD9FA1DC97}" type="parTrans" cxnId="{424889FD-E26A-6040-B1B2-FEB735309C8E}">
      <dgm:prSet/>
      <dgm:spPr/>
      <dgm:t>
        <a:bodyPr/>
        <a:lstStyle/>
        <a:p>
          <a:endParaRPr lang="en-US"/>
        </a:p>
      </dgm:t>
    </dgm:pt>
    <dgm:pt modelId="{C7332E94-0E9A-DA4E-92CA-F960D4D182D4}" type="sibTrans" cxnId="{424889FD-E26A-6040-B1B2-FEB735309C8E}">
      <dgm:prSet/>
      <dgm:spPr/>
      <dgm:t>
        <a:bodyPr/>
        <a:lstStyle/>
        <a:p>
          <a:endParaRPr lang="en-US"/>
        </a:p>
      </dgm:t>
    </dgm:pt>
    <dgm:pt modelId="{CFD45791-E367-1F49-BB06-3BA549F07C87}">
      <dgm:prSet/>
      <dgm:spPr/>
      <dgm:t>
        <a:bodyPr/>
        <a:lstStyle/>
        <a:p>
          <a:r>
            <a:rPr lang="en-US" dirty="0"/>
            <a:t>Accuracy - F1 - AUC</a:t>
          </a:r>
        </a:p>
      </dgm:t>
    </dgm:pt>
    <dgm:pt modelId="{9A360C37-D606-D84F-ABBD-31AE845BB714}" type="parTrans" cxnId="{3A45B009-B2A7-FA4F-A97D-88876DF71B69}">
      <dgm:prSet/>
      <dgm:spPr/>
    </dgm:pt>
    <dgm:pt modelId="{1ADA9264-41CE-0A4B-A17D-FE30CC97BF26}" type="sibTrans" cxnId="{3A45B009-B2A7-FA4F-A97D-88876DF71B69}">
      <dgm:prSet/>
      <dgm:spPr/>
    </dgm:pt>
    <dgm:pt modelId="{DC4B51DE-D47D-DC4F-B2D2-88EE6E5A8DD6}" type="pres">
      <dgm:prSet presAssocID="{1C57375C-3CFF-3E42-8E4A-5DFBA5BB53F6}" presName="Name0" presStyleCnt="0">
        <dgm:presLayoutVars>
          <dgm:dir/>
          <dgm:resizeHandles val="exact"/>
        </dgm:presLayoutVars>
      </dgm:prSet>
      <dgm:spPr/>
    </dgm:pt>
    <dgm:pt modelId="{283BD4CE-7CDA-3C41-88F7-4186B82C6873}" type="pres">
      <dgm:prSet presAssocID="{62C72455-C0F7-CD46-829F-8C6BA6076D65}" presName="node" presStyleLbl="node1" presStyleIdx="0" presStyleCnt="6">
        <dgm:presLayoutVars>
          <dgm:bulletEnabled val="1"/>
        </dgm:presLayoutVars>
      </dgm:prSet>
      <dgm:spPr/>
    </dgm:pt>
    <dgm:pt modelId="{ED04D484-EB24-B948-BA13-111A2C931D07}" type="pres">
      <dgm:prSet presAssocID="{46B80F2B-C479-B440-B7CB-A6C32EE7871D}" presName="sibTrans" presStyleLbl="sibTrans1D1" presStyleIdx="0" presStyleCnt="5"/>
      <dgm:spPr/>
    </dgm:pt>
    <dgm:pt modelId="{9C7982B8-5EF7-A541-AFEE-D5218C6969DF}" type="pres">
      <dgm:prSet presAssocID="{46B80F2B-C479-B440-B7CB-A6C32EE7871D}" presName="connectorText" presStyleLbl="sibTrans1D1" presStyleIdx="0" presStyleCnt="5"/>
      <dgm:spPr/>
    </dgm:pt>
    <dgm:pt modelId="{F8BCAF80-36A1-0048-A202-88C6DBFA804D}" type="pres">
      <dgm:prSet presAssocID="{E7858868-2B85-F14A-B084-8E783C7D3269}" presName="node" presStyleLbl="node1" presStyleIdx="1" presStyleCnt="6">
        <dgm:presLayoutVars>
          <dgm:bulletEnabled val="1"/>
        </dgm:presLayoutVars>
      </dgm:prSet>
      <dgm:spPr/>
    </dgm:pt>
    <dgm:pt modelId="{AE132CAD-27BC-D14F-886C-4782095FBA2F}" type="pres">
      <dgm:prSet presAssocID="{9C0DF0A7-32CA-D54C-8EC6-C3E0D65C887F}" presName="sibTrans" presStyleLbl="sibTrans1D1" presStyleIdx="1" presStyleCnt="5"/>
      <dgm:spPr/>
    </dgm:pt>
    <dgm:pt modelId="{133D75FB-7850-144E-984F-7682C3D3BDEE}" type="pres">
      <dgm:prSet presAssocID="{9C0DF0A7-32CA-D54C-8EC6-C3E0D65C887F}" presName="connectorText" presStyleLbl="sibTrans1D1" presStyleIdx="1" presStyleCnt="5"/>
      <dgm:spPr/>
    </dgm:pt>
    <dgm:pt modelId="{6E73FDDD-995F-734E-83BB-ECE8C5883E33}" type="pres">
      <dgm:prSet presAssocID="{F4154E7C-255B-BB4F-8579-596CC6767606}" presName="node" presStyleLbl="node1" presStyleIdx="2" presStyleCnt="6">
        <dgm:presLayoutVars>
          <dgm:bulletEnabled val="1"/>
        </dgm:presLayoutVars>
      </dgm:prSet>
      <dgm:spPr/>
    </dgm:pt>
    <dgm:pt modelId="{0962AAB8-3A17-8144-BFA7-70073AB3E1B0}" type="pres">
      <dgm:prSet presAssocID="{6AE78A43-A7CB-9141-8565-94F93E632A00}" presName="sibTrans" presStyleLbl="sibTrans1D1" presStyleIdx="2" presStyleCnt="5"/>
      <dgm:spPr/>
    </dgm:pt>
    <dgm:pt modelId="{8687500F-3F89-F849-8E97-A7AD784E8375}" type="pres">
      <dgm:prSet presAssocID="{6AE78A43-A7CB-9141-8565-94F93E632A00}" presName="connectorText" presStyleLbl="sibTrans1D1" presStyleIdx="2" presStyleCnt="5"/>
      <dgm:spPr/>
    </dgm:pt>
    <dgm:pt modelId="{BFEF3B8A-9DBE-474F-95D2-0ED47680FEC5}" type="pres">
      <dgm:prSet presAssocID="{09B83BEA-BA31-A141-949F-199248014E65}" presName="node" presStyleLbl="node1" presStyleIdx="3" presStyleCnt="6">
        <dgm:presLayoutVars>
          <dgm:bulletEnabled val="1"/>
        </dgm:presLayoutVars>
      </dgm:prSet>
      <dgm:spPr/>
    </dgm:pt>
    <dgm:pt modelId="{EEA27423-702D-C947-8903-E470AA1D230E}" type="pres">
      <dgm:prSet presAssocID="{6A40156A-6C6A-024E-A64A-AB0009BB72FF}" presName="sibTrans" presStyleLbl="sibTrans1D1" presStyleIdx="3" presStyleCnt="5"/>
      <dgm:spPr/>
    </dgm:pt>
    <dgm:pt modelId="{4B13B902-A4AF-384E-9BC1-4DDCE988A26F}" type="pres">
      <dgm:prSet presAssocID="{6A40156A-6C6A-024E-A64A-AB0009BB72FF}" presName="connectorText" presStyleLbl="sibTrans1D1" presStyleIdx="3" presStyleCnt="5"/>
      <dgm:spPr/>
    </dgm:pt>
    <dgm:pt modelId="{3A40CFE3-0222-524B-97A7-B2E0E5FC74DA}" type="pres">
      <dgm:prSet presAssocID="{46E6941C-3C33-0D43-8206-FA314966790B}" presName="node" presStyleLbl="node1" presStyleIdx="4" presStyleCnt="6">
        <dgm:presLayoutVars>
          <dgm:bulletEnabled val="1"/>
        </dgm:presLayoutVars>
      </dgm:prSet>
      <dgm:spPr/>
    </dgm:pt>
    <dgm:pt modelId="{25C68FF4-9092-0B44-B6FD-B1798F5BC5F2}" type="pres">
      <dgm:prSet presAssocID="{9DE1E80C-39E6-FF41-B26A-CC63EEEB04EB}" presName="sibTrans" presStyleLbl="sibTrans1D1" presStyleIdx="4" presStyleCnt="5"/>
      <dgm:spPr/>
    </dgm:pt>
    <dgm:pt modelId="{8F8E036A-B050-FA4F-921F-6A1A00C0F68F}" type="pres">
      <dgm:prSet presAssocID="{9DE1E80C-39E6-FF41-B26A-CC63EEEB04EB}" presName="connectorText" presStyleLbl="sibTrans1D1" presStyleIdx="4" presStyleCnt="5"/>
      <dgm:spPr/>
    </dgm:pt>
    <dgm:pt modelId="{46D0CF87-0869-584A-ACE0-6F3E04D41660}" type="pres">
      <dgm:prSet presAssocID="{6698E386-1962-6349-8465-8CD866353E57}" presName="node" presStyleLbl="node1" presStyleIdx="5" presStyleCnt="6">
        <dgm:presLayoutVars>
          <dgm:bulletEnabled val="1"/>
        </dgm:presLayoutVars>
      </dgm:prSet>
      <dgm:spPr/>
    </dgm:pt>
  </dgm:ptLst>
  <dgm:cxnLst>
    <dgm:cxn modelId="{365E2A01-489E-7148-8004-38A25B35258B}" type="presOf" srcId="{46B80F2B-C479-B440-B7CB-A6C32EE7871D}" destId="{ED04D484-EB24-B948-BA13-111A2C931D07}" srcOrd="0" destOrd="0" presId="urn:microsoft.com/office/officeart/2005/8/layout/bProcess3"/>
    <dgm:cxn modelId="{3A45B009-B2A7-FA4F-A97D-88876DF71B69}" srcId="{6698E386-1962-6349-8465-8CD866353E57}" destId="{CFD45791-E367-1F49-BB06-3BA549F07C87}" srcOrd="0" destOrd="0" parTransId="{9A360C37-D606-D84F-ABBD-31AE845BB714}" sibTransId="{1ADA9264-41CE-0A4B-A17D-FE30CC97BF26}"/>
    <dgm:cxn modelId="{21ED010F-206C-9C47-9D23-73AFBAAA253E}" type="presOf" srcId="{F5B2BDEA-45CD-D540-9F97-1ABF2AFF22D7}" destId="{3A40CFE3-0222-524B-97A7-B2E0E5FC74DA}" srcOrd="0" destOrd="1" presId="urn:microsoft.com/office/officeart/2005/8/layout/bProcess3"/>
    <dgm:cxn modelId="{91F82324-7122-F742-B8A6-D7D955E93223}" srcId="{62C72455-C0F7-CD46-829F-8C6BA6076D65}" destId="{0A7D158D-52BA-8444-9E4E-B8299AB957DF}" srcOrd="2" destOrd="0" parTransId="{05EA7589-02F7-3941-AEEB-BDBCCE529612}" sibTransId="{6C522811-FC8C-9149-B9D4-7ACF224591A8}"/>
    <dgm:cxn modelId="{ECE7A729-467C-314D-B55F-A2F937F57BC5}" srcId="{62C72455-C0F7-CD46-829F-8C6BA6076D65}" destId="{D73D8580-12E7-2B41-A581-96AF2592FF9E}" srcOrd="1" destOrd="0" parTransId="{1D5DC787-F4C4-8E42-B683-C9C90671340C}" sibTransId="{6C688755-7610-9648-A288-6CF9FC188C76}"/>
    <dgm:cxn modelId="{7BEF6B2D-7CC5-474F-9C1F-E1F19EB70C1F}" type="presOf" srcId="{E7858868-2B85-F14A-B084-8E783C7D3269}" destId="{F8BCAF80-36A1-0048-A202-88C6DBFA804D}" srcOrd="0" destOrd="0" presId="urn:microsoft.com/office/officeart/2005/8/layout/bProcess3"/>
    <dgm:cxn modelId="{DE6FC132-108F-1F4D-97CC-AC7454EBD7A9}" type="presOf" srcId="{6AE78A43-A7CB-9141-8565-94F93E632A00}" destId="{8687500F-3F89-F849-8E97-A7AD784E8375}" srcOrd="1" destOrd="0" presId="urn:microsoft.com/office/officeart/2005/8/layout/bProcess3"/>
    <dgm:cxn modelId="{0E435038-BEFC-954F-B152-0FFEBD633064}" srcId="{1C57375C-3CFF-3E42-8E4A-5DFBA5BB53F6}" destId="{F4154E7C-255B-BB4F-8579-596CC6767606}" srcOrd="2" destOrd="0" parTransId="{B97C22BD-E59F-F940-AD95-486B81145225}" sibTransId="{6AE78A43-A7CB-9141-8565-94F93E632A00}"/>
    <dgm:cxn modelId="{A148963A-1E16-5849-A0AB-2A9BE88A422A}" type="presOf" srcId="{15920862-5BE1-4149-8F42-FC688E42AEFE}" destId="{F8BCAF80-36A1-0048-A202-88C6DBFA804D}" srcOrd="0" destOrd="1" presId="urn:microsoft.com/office/officeart/2005/8/layout/bProcess3"/>
    <dgm:cxn modelId="{44BD8D44-307F-0041-8778-05DA6B8DD021}" srcId="{1C57375C-3CFF-3E42-8E4A-5DFBA5BB53F6}" destId="{6698E386-1962-6349-8465-8CD866353E57}" srcOrd="5" destOrd="0" parTransId="{515F82EB-BC97-D145-AA0A-D595C341349A}" sibTransId="{B48A3229-1439-1943-B8A6-B1121BCF335D}"/>
    <dgm:cxn modelId="{215B364F-76D6-CE4C-A53B-98FCC0748538}" type="presOf" srcId="{6698E386-1962-6349-8465-8CD866353E57}" destId="{46D0CF87-0869-584A-ACE0-6F3E04D41660}" srcOrd="0" destOrd="0" presId="urn:microsoft.com/office/officeart/2005/8/layout/bProcess3"/>
    <dgm:cxn modelId="{97A04A68-DD59-334A-8116-E06F5382F63A}" srcId="{62C72455-C0F7-CD46-829F-8C6BA6076D65}" destId="{AE609CC6-7708-5F42-89DD-277FEC5711BE}" srcOrd="0" destOrd="0" parTransId="{2F68A96B-82B9-9440-8CAC-2FF46DBC2004}" sibTransId="{C91CC8D6-D33C-CC41-804B-0E3881ADCFEC}"/>
    <dgm:cxn modelId="{76DBDF68-8449-5A48-960B-6338928C7328}" type="presOf" srcId="{F4154E7C-255B-BB4F-8579-596CC6767606}" destId="{6E73FDDD-995F-734E-83BB-ECE8C5883E33}" srcOrd="0" destOrd="0" presId="urn:microsoft.com/office/officeart/2005/8/layout/bProcess3"/>
    <dgm:cxn modelId="{9418EF69-785F-CE4B-9506-6F56514D7D39}" srcId="{1C57375C-3CFF-3E42-8E4A-5DFBA5BB53F6}" destId="{46E6941C-3C33-0D43-8206-FA314966790B}" srcOrd="4" destOrd="0" parTransId="{4517E692-1A2C-E942-BFB2-805F48820C97}" sibTransId="{9DE1E80C-39E6-FF41-B26A-CC63EEEB04EB}"/>
    <dgm:cxn modelId="{6AC47F79-0B6A-CA41-9DA1-AE74421D8AF3}" type="presOf" srcId="{46E6941C-3C33-0D43-8206-FA314966790B}" destId="{3A40CFE3-0222-524B-97A7-B2E0E5FC74DA}" srcOrd="0" destOrd="0" presId="urn:microsoft.com/office/officeart/2005/8/layout/bProcess3"/>
    <dgm:cxn modelId="{590F527B-BA60-1443-B72F-9740F364873C}" type="presOf" srcId="{1C57375C-3CFF-3E42-8E4A-5DFBA5BB53F6}" destId="{DC4B51DE-D47D-DC4F-B2D2-88EE6E5A8DD6}" srcOrd="0" destOrd="0" presId="urn:microsoft.com/office/officeart/2005/8/layout/bProcess3"/>
    <dgm:cxn modelId="{46CED889-CD9B-DA4C-A071-650C43050F8E}" type="presOf" srcId="{6AE78A43-A7CB-9141-8565-94F93E632A00}" destId="{0962AAB8-3A17-8144-BFA7-70073AB3E1B0}" srcOrd="0" destOrd="0" presId="urn:microsoft.com/office/officeart/2005/8/layout/bProcess3"/>
    <dgm:cxn modelId="{0283288E-3A3F-034D-943D-B33FCE18982B}" type="presOf" srcId="{AE609CC6-7708-5F42-89DD-277FEC5711BE}" destId="{283BD4CE-7CDA-3C41-88F7-4186B82C6873}" srcOrd="0" destOrd="1" presId="urn:microsoft.com/office/officeart/2005/8/layout/bProcess3"/>
    <dgm:cxn modelId="{79F9DD91-428F-914A-AD7F-EC0428548B86}" type="presOf" srcId="{9DE1E80C-39E6-FF41-B26A-CC63EEEB04EB}" destId="{25C68FF4-9092-0B44-B6FD-B1798F5BC5F2}" srcOrd="0" destOrd="0" presId="urn:microsoft.com/office/officeart/2005/8/layout/bProcess3"/>
    <dgm:cxn modelId="{2B654093-9C0F-8346-AA52-6F018C40344D}" type="presOf" srcId="{46B80F2B-C479-B440-B7CB-A6C32EE7871D}" destId="{9C7982B8-5EF7-A541-AFEE-D5218C6969DF}" srcOrd="1" destOrd="0" presId="urn:microsoft.com/office/officeart/2005/8/layout/bProcess3"/>
    <dgm:cxn modelId="{0567E494-0259-8448-928A-83E917029D3A}" type="presOf" srcId="{CFD45791-E367-1F49-BB06-3BA549F07C87}" destId="{46D0CF87-0869-584A-ACE0-6F3E04D41660}" srcOrd="0" destOrd="1" presId="urn:microsoft.com/office/officeart/2005/8/layout/bProcess3"/>
    <dgm:cxn modelId="{A53958A3-74C7-1648-968C-8D6A172713A0}" type="presOf" srcId="{09B83BEA-BA31-A141-949F-199248014E65}" destId="{BFEF3B8A-9DBE-474F-95D2-0ED47680FEC5}" srcOrd="0" destOrd="0" presId="urn:microsoft.com/office/officeart/2005/8/layout/bProcess3"/>
    <dgm:cxn modelId="{1F5003AE-DCA8-A443-94A8-02EE03FA3EC4}" type="presOf" srcId="{62C72455-C0F7-CD46-829F-8C6BA6076D65}" destId="{283BD4CE-7CDA-3C41-88F7-4186B82C6873}" srcOrd="0" destOrd="0" presId="urn:microsoft.com/office/officeart/2005/8/layout/bProcess3"/>
    <dgm:cxn modelId="{F2E99EBE-2B05-9F40-A6D1-43598513D6B7}" type="presOf" srcId="{0A7D158D-52BA-8444-9E4E-B8299AB957DF}" destId="{283BD4CE-7CDA-3C41-88F7-4186B82C6873}" srcOrd="0" destOrd="3" presId="urn:microsoft.com/office/officeart/2005/8/layout/bProcess3"/>
    <dgm:cxn modelId="{637C68C3-B2A3-E54D-A4C6-95325C921BD2}" srcId="{1C57375C-3CFF-3E42-8E4A-5DFBA5BB53F6}" destId="{62C72455-C0F7-CD46-829F-8C6BA6076D65}" srcOrd="0" destOrd="0" parTransId="{493FD411-209C-C94B-8EDA-87638782EBC0}" sibTransId="{46B80F2B-C479-B440-B7CB-A6C32EE7871D}"/>
    <dgm:cxn modelId="{63F92FC4-EE5C-7C4D-979C-E551DF2905DA}" type="presOf" srcId="{6A40156A-6C6A-024E-A64A-AB0009BB72FF}" destId="{EEA27423-702D-C947-8903-E470AA1D230E}" srcOrd="0" destOrd="0" presId="urn:microsoft.com/office/officeart/2005/8/layout/bProcess3"/>
    <dgm:cxn modelId="{93D530C6-9390-1846-9EC1-DB86DEEA346C}" type="presOf" srcId="{6A40156A-6C6A-024E-A64A-AB0009BB72FF}" destId="{4B13B902-A4AF-384E-9BC1-4DDCE988A26F}" srcOrd="1" destOrd="0" presId="urn:microsoft.com/office/officeart/2005/8/layout/bProcess3"/>
    <dgm:cxn modelId="{2A4473CC-01E6-5245-9806-C13CAB507B55}" srcId="{E7858868-2B85-F14A-B084-8E783C7D3269}" destId="{15920862-5BE1-4149-8F42-FC688E42AEFE}" srcOrd="0" destOrd="0" parTransId="{4014620B-3046-574F-8600-FD99A2E9B00D}" sibTransId="{E3C65387-3B2A-DB40-9E42-75B13F4BDF67}"/>
    <dgm:cxn modelId="{E682C8D0-0482-144C-AD19-81E24F6C77D3}" srcId="{1C57375C-3CFF-3E42-8E4A-5DFBA5BB53F6}" destId="{09B83BEA-BA31-A141-949F-199248014E65}" srcOrd="3" destOrd="0" parTransId="{B206C04C-8B9C-C144-B9E1-8A2908F3CDEB}" sibTransId="{6A40156A-6C6A-024E-A64A-AB0009BB72FF}"/>
    <dgm:cxn modelId="{36079CD3-0115-C146-83E1-802067A6572A}" type="presOf" srcId="{9C0DF0A7-32CA-D54C-8EC6-C3E0D65C887F}" destId="{133D75FB-7850-144E-984F-7682C3D3BDEE}" srcOrd="1" destOrd="0" presId="urn:microsoft.com/office/officeart/2005/8/layout/bProcess3"/>
    <dgm:cxn modelId="{A36425DD-1E7A-8C4C-8838-6F53DA1C05D6}" type="presOf" srcId="{9DE1E80C-39E6-FF41-B26A-CC63EEEB04EB}" destId="{8F8E036A-B050-FA4F-921F-6A1A00C0F68F}" srcOrd="1" destOrd="0" presId="urn:microsoft.com/office/officeart/2005/8/layout/bProcess3"/>
    <dgm:cxn modelId="{8FEDD9F4-16C1-3E40-B55D-741EF2D675E2}" srcId="{1C57375C-3CFF-3E42-8E4A-5DFBA5BB53F6}" destId="{E7858868-2B85-F14A-B084-8E783C7D3269}" srcOrd="1" destOrd="0" parTransId="{4C1F0BFC-CE53-B541-AD78-A2549D34C208}" sibTransId="{9C0DF0A7-32CA-D54C-8EC6-C3E0D65C887F}"/>
    <dgm:cxn modelId="{93B129FC-A297-0246-BB27-2F7FAB33A0B9}" type="presOf" srcId="{D73D8580-12E7-2B41-A581-96AF2592FF9E}" destId="{283BD4CE-7CDA-3C41-88F7-4186B82C6873}" srcOrd="0" destOrd="2" presId="urn:microsoft.com/office/officeart/2005/8/layout/bProcess3"/>
    <dgm:cxn modelId="{424889FD-E26A-6040-B1B2-FEB735309C8E}" srcId="{46E6941C-3C33-0D43-8206-FA314966790B}" destId="{F5B2BDEA-45CD-D540-9F97-1ABF2AFF22D7}" srcOrd="0" destOrd="0" parTransId="{1BC8471A-C4C0-D74B-98FE-76FD9FA1DC97}" sibTransId="{C7332E94-0E9A-DA4E-92CA-F960D4D182D4}"/>
    <dgm:cxn modelId="{DA167DFF-5132-034B-8C82-EC5011700A82}" type="presOf" srcId="{9C0DF0A7-32CA-D54C-8EC6-C3E0D65C887F}" destId="{AE132CAD-27BC-D14F-886C-4782095FBA2F}" srcOrd="0" destOrd="0" presId="urn:microsoft.com/office/officeart/2005/8/layout/bProcess3"/>
    <dgm:cxn modelId="{42C0AF2B-ED6D-6746-91DC-F19FD919648F}" type="presParOf" srcId="{DC4B51DE-D47D-DC4F-B2D2-88EE6E5A8DD6}" destId="{283BD4CE-7CDA-3C41-88F7-4186B82C6873}" srcOrd="0" destOrd="0" presId="urn:microsoft.com/office/officeart/2005/8/layout/bProcess3"/>
    <dgm:cxn modelId="{19832F4C-45D7-3F48-BFA8-CCAD4DEDA6B5}" type="presParOf" srcId="{DC4B51DE-D47D-DC4F-B2D2-88EE6E5A8DD6}" destId="{ED04D484-EB24-B948-BA13-111A2C931D07}" srcOrd="1" destOrd="0" presId="urn:microsoft.com/office/officeart/2005/8/layout/bProcess3"/>
    <dgm:cxn modelId="{95956566-5D2F-2940-848B-CCFF3437261F}" type="presParOf" srcId="{ED04D484-EB24-B948-BA13-111A2C931D07}" destId="{9C7982B8-5EF7-A541-AFEE-D5218C6969DF}" srcOrd="0" destOrd="0" presId="urn:microsoft.com/office/officeart/2005/8/layout/bProcess3"/>
    <dgm:cxn modelId="{CD42B38E-E81D-FD40-BD80-D15B2F08AD1A}" type="presParOf" srcId="{DC4B51DE-D47D-DC4F-B2D2-88EE6E5A8DD6}" destId="{F8BCAF80-36A1-0048-A202-88C6DBFA804D}" srcOrd="2" destOrd="0" presId="urn:microsoft.com/office/officeart/2005/8/layout/bProcess3"/>
    <dgm:cxn modelId="{829C1CD6-278A-CE44-9350-25367E0E46B4}" type="presParOf" srcId="{DC4B51DE-D47D-DC4F-B2D2-88EE6E5A8DD6}" destId="{AE132CAD-27BC-D14F-886C-4782095FBA2F}" srcOrd="3" destOrd="0" presId="urn:microsoft.com/office/officeart/2005/8/layout/bProcess3"/>
    <dgm:cxn modelId="{2514753D-5DCE-CB4B-A285-05F9BF03F83E}" type="presParOf" srcId="{AE132CAD-27BC-D14F-886C-4782095FBA2F}" destId="{133D75FB-7850-144E-984F-7682C3D3BDEE}" srcOrd="0" destOrd="0" presId="urn:microsoft.com/office/officeart/2005/8/layout/bProcess3"/>
    <dgm:cxn modelId="{4BF3B834-9B33-E04A-9C36-BB6BF18E95FA}" type="presParOf" srcId="{DC4B51DE-D47D-DC4F-B2D2-88EE6E5A8DD6}" destId="{6E73FDDD-995F-734E-83BB-ECE8C5883E33}" srcOrd="4" destOrd="0" presId="urn:microsoft.com/office/officeart/2005/8/layout/bProcess3"/>
    <dgm:cxn modelId="{775C7913-763D-4B42-9EEE-8D5FD4BB89A1}" type="presParOf" srcId="{DC4B51DE-D47D-DC4F-B2D2-88EE6E5A8DD6}" destId="{0962AAB8-3A17-8144-BFA7-70073AB3E1B0}" srcOrd="5" destOrd="0" presId="urn:microsoft.com/office/officeart/2005/8/layout/bProcess3"/>
    <dgm:cxn modelId="{D45E31F6-581E-974F-A79D-4397C1E17F47}" type="presParOf" srcId="{0962AAB8-3A17-8144-BFA7-70073AB3E1B0}" destId="{8687500F-3F89-F849-8E97-A7AD784E8375}" srcOrd="0" destOrd="0" presId="urn:microsoft.com/office/officeart/2005/8/layout/bProcess3"/>
    <dgm:cxn modelId="{466AFC88-A61D-2F4C-A64B-A56BA1AB54A9}" type="presParOf" srcId="{DC4B51DE-D47D-DC4F-B2D2-88EE6E5A8DD6}" destId="{BFEF3B8A-9DBE-474F-95D2-0ED47680FEC5}" srcOrd="6" destOrd="0" presId="urn:microsoft.com/office/officeart/2005/8/layout/bProcess3"/>
    <dgm:cxn modelId="{9723EEA3-47C0-F54F-B2A8-9A7D4F209C02}" type="presParOf" srcId="{DC4B51DE-D47D-DC4F-B2D2-88EE6E5A8DD6}" destId="{EEA27423-702D-C947-8903-E470AA1D230E}" srcOrd="7" destOrd="0" presId="urn:microsoft.com/office/officeart/2005/8/layout/bProcess3"/>
    <dgm:cxn modelId="{580DF810-0022-8A4B-AB36-BD3EC972CA35}" type="presParOf" srcId="{EEA27423-702D-C947-8903-E470AA1D230E}" destId="{4B13B902-A4AF-384E-9BC1-4DDCE988A26F}" srcOrd="0" destOrd="0" presId="urn:microsoft.com/office/officeart/2005/8/layout/bProcess3"/>
    <dgm:cxn modelId="{62852EB6-0037-924A-9B1D-B7ABC14B7595}" type="presParOf" srcId="{DC4B51DE-D47D-DC4F-B2D2-88EE6E5A8DD6}" destId="{3A40CFE3-0222-524B-97A7-B2E0E5FC74DA}" srcOrd="8" destOrd="0" presId="urn:microsoft.com/office/officeart/2005/8/layout/bProcess3"/>
    <dgm:cxn modelId="{D13F28E1-9D9A-104A-AFF4-C9764F213E7B}" type="presParOf" srcId="{DC4B51DE-D47D-DC4F-B2D2-88EE6E5A8DD6}" destId="{25C68FF4-9092-0B44-B6FD-B1798F5BC5F2}" srcOrd="9" destOrd="0" presId="urn:microsoft.com/office/officeart/2005/8/layout/bProcess3"/>
    <dgm:cxn modelId="{890150E7-97AB-FF4C-90C0-F85D5FCBDBA5}" type="presParOf" srcId="{25C68FF4-9092-0B44-B6FD-B1798F5BC5F2}" destId="{8F8E036A-B050-FA4F-921F-6A1A00C0F68F}" srcOrd="0" destOrd="0" presId="urn:microsoft.com/office/officeart/2005/8/layout/bProcess3"/>
    <dgm:cxn modelId="{0D6E75C0-08A6-1D4A-8B5B-8815F179D635}" type="presParOf" srcId="{DC4B51DE-D47D-DC4F-B2D2-88EE6E5A8DD6}" destId="{46D0CF87-0869-584A-ACE0-6F3E04D41660}" srcOrd="10" destOrd="0" presId="urn:microsoft.com/office/officeart/2005/8/layout/bProcess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463689E0-3758-2F4A-AE87-B3B42ED1282F}" type="doc">
      <dgm:prSet loTypeId="urn:microsoft.com/office/officeart/2005/8/layout/process5" loCatId="" qsTypeId="urn:microsoft.com/office/officeart/2005/8/quickstyle/simple1" qsCatId="simple" csTypeId="urn:microsoft.com/office/officeart/2005/8/colors/accent1_2" csCatId="accent1" phldr="1"/>
      <dgm:spPr/>
    </dgm:pt>
    <dgm:pt modelId="{1146D45A-5C72-E441-80D6-EA462475E44B}">
      <dgm:prSet phldrT="[Text]"/>
      <dgm:spPr/>
      <dgm:t>
        <a:bodyPr/>
        <a:lstStyle/>
        <a:p>
          <a:r>
            <a:rPr lang="en-US" dirty="0"/>
            <a:t>Review Text</a:t>
          </a:r>
        </a:p>
      </dgm:t>
    </dgm:pt>
    <dgm:pt modelId="{106A8D51-3040-254B-B082-067D5291AA87}" type="parTrans" cxnId="{DBECC6ED-DEDC-8C44-AFE8-D2E45C280556}">
      <dgm:prSet/>
      <dgm:spPr/>
      <dgm:t>
        <a:bodyPr/>
        <a:lstStyle/>
        <a:p>
          <a:endParaRPr lang="en-US"/>
        </a:p>
      </dgm:t>
    </dgm:pt>
    <dgm:pt modelId="{7E888389-654B-5840-8716-962495F3004D}" type="sibTrans" cxnId="{DBECC6ED-DEDC-8C44-AFE8-D2E45C280556}">
      <dgm:prSet/>
      <dgm:spPr/>
      <dgm:t>
        <a:bodyPr/>
        <a:lstStyle/>
        <a:p>
          <a:endParaRPr lang="en-US"/>
        </a:p>
      </dgm:t>
    </dgm:pt>
    <dgm:pt modelId="{1B6480A7-5BF9-7B48-BF47-191654727974}">
      <dgm:prSet phldrT="[Text]"/>
      <dgm:spPr/>
      <dgm:t>
        <a:bodyPr/>
        <a:lstStyle/>
        <a:p>
          <a:r>
            <a:rPr lang="en-US" dirty="0"/>
            <a:t>Sentiment Scores</a:t>
          </a:r>
        </a:p>
      </dgm:t>
    </dgm:pt>
    <dgm:pt modelId="{149B9157-8718-7F4E-9D1A-2F696606ED57}" type="parTrans" cxnId="{67B9AB9C-5A42-564D-80DB-A77C6A459005}">
      <dgm:prSet/>
      <dgm:spPr/>
      <dgm:t>
        <a:bodyPr/>
        <a:lstStyle/>
        <a:p>
          <a:endParaRPr lang="en-US"/>
        </a:p>
      </dgm:t>
    </dgm:pt>
    <dgm:pt modelId="{171775ED-BA22-3940-8BC0-C2896BD78A42}" type="sibTrans" cxnId="{67B9AB9C-5A42-564D-80DB-A77C6A459005}">
      <dgm:prSet/>
      <dgm:spPr/>
      <dgm:t>
        <a:bodyPr/>
        <a:lstStyle/>
        <a:p>
          <a:endParaRPr lang="en-US"/>
        </a:p>
      </dgm:t>
    </dgm:pt>
    <dgm:pt modelId="{3676C4CE-43C0-2744-A8BD-8B3E9D8007FD}">
      <dgm:prSet phldrT="[Text]"/>
      <dgm:spPr/>
      <dgm:t>
        <a:bodyPr/>
        <a:lstStyle/>
        <a:p>
          <a:r>
            <a:rPr lang="en-US" dirty="0"/>
            <a:t>Final Sentiment</a:t>
          </a:r>
        </a:p>
      </dgm:t>
    </dgm:pt>
    <dgm:pt modelId="{D73783A4-8242-984F-B11F-F37B6DDD1F92}" type="parTrans" cxnId="{DB9627AC-5544-B648-AE51-63C3296B5572}">
      <dgm:prSet/>
      <dgm:spPr/>
      <dgm:t>
        <a:bodyPr/>
        <a:lstStyle/>
        <a:p>
          <a:endParaRPr lang="en-US"/>
        </a:p>
      </dgm:t>
    </dgm:pt>
    <dgm:pt modelId="{0551E22B-9DCC-D44B-A8AC-13158212B95D}" type="sibTrans" cxnId="{DB9627AC-5544-B648-AE51-63C3296B5572}">
      <dgm:prSet/>
      <dgm:spPr/>
      <dgm:t>
        <a:bodyPr/>
        <a:lstStyle/>
        <a:p>
          <a:endParaRPr lang="en-US"/>
        </a:p>
      </dgm:t>
    </dgm:pt>
    <dgm:pt modelId="{F1069A5F-E338-6144-BF41-25979C6FE5AC}">
      <dgm:prSet phldrT="[Text]"/>
      <dgm:spPr/>
      <dgm:t>
        <a:bodyPr/>
        <a:lstStyle/>
        <a:p>
          <a:r>
            <a:rPr lang="en-US" dirty="0"/>
            <a:t>Lexicon &amp; Rules</a:t>
          </a:r>
        </a:p>
      </dgm:t>
    </dgm:pt>
    <dgm:pt modelId="{0523BAEC-2732-3745-99B8-08A7AF2E8A5E}" type="parTrans" cxnId="{32A86599-7C46-D14B-903C-BF1E7637801A}">
      <dgm:prSet/>
      <dgm:spPr/>
      <dgm:t>
        <a:bodyPr/>
        <a:lstStyle/>
        <a:p>
          <a:endParaRPr lang="en-US"/>
        </a:p>
      </dgm:t>
    </dgm:pt>
    <dgm:pt modelId="{E526B738-470F-604B-9F31-5192A7E2A9BF}" type="sibTrans" cxnId="{32A86599-7C46-D14B-903C-BF1E7637801A}">
      <dgm:prSet/>
      <dgm:spPr/>
      <dgm:t>
        <a:bodyPr/>
        <a:lstStyle/>
        <a:p>
          <a:endParaRPr lang="en-US"/>
        </a:p>
      </dgm:t>
    </dgm:pt>
    <dgm:pt modelId="{E1DAC896-3388-6A4A-B633-C97FFD3AA535}" type="pres">
      <dgm:prSet presAssocID="{463689E0-3758-2F4A-AE87-B3B42ED1282F}" presName="diagram" presStyleCnt="0">
        <dgm:presLayoutVars>
          <dgm:dir/>
          <dgm:resizeHandles val="exact"/>
        </dgm:presLayoutVars>
      </dgm:prSet>
      <dgm:spPr/>
    </dgm:pt>
    <dgm:pt modelId="{7C17CC8B-F15F-EF49-A580-28160E629D86}" type="pres">
      <dgm:prSet presAssocID="{1146D45A-5C72-E441-80D6-EA462475E44B}" presName="node" presStyleLbl="node1" presStyleIdx="0" presStyleCnt="4">
        <dgm:presLayoutVars>
          <dgm:bulletEnabled val="1"/>
        </dgm:presLayoutVars>
      </dgm:prSet>
      <dgm:spPr/>
    </dgm:pt>
    <dgm:pt modelId="{C8D5B272-F7EB-CB4A-B449-27BD24ADD5A8}" type="pres">
      <dgm:prSet presAssocID="{7E888389-654B-5840-8716-962495F3004D}" presName="sibTrans" presStyleLbl="sibTrans2D1" presStyleIdx="0" presStyleCnt="3"/>
      <dgm:spPr/>
    </dgm:pt>
    <dgm:pt modelId="{BB94CA27-A5EA-AD4E-B111-58F1218CA0B5}" type="pres">
      <dgm:prSet presAssocID="{7E888389-654B-5840-8716-962495F3004D}" presName="connectorText" presStyleLbl="sibTrans2D1" presStyleIdx="0" presStyleCnt="3"/>
      <dgm:spPr/>
    </dgm:pt>
    <dgm:pt modelId="{F6D3565F-5AC3-9F48-89AD-DD06DD1D6527}" type="pres">
      <dgm:prSet presAssocID="{F1069A5F-E338-6144-BF41-25979C6FE5AC}" presName="node" presStyleLbl="node1" presStyleIdx="1" presStyleCnt="4">
        <dgm:presLayoutVars>
          <dgm:bulletEnabled val="1"/>
        </dgm:presLayoutVars>
      </dgm:prSet>
      <dgm:spPr/>
    </dgm:pt>
    <dgm:pt modelId="{A5D79D36-352B-494F-BDAE-A59B5EDA23D9}" type="pres">
      <dgm:prSet presAssocID="{E526B738-470F-604B-9F31-5192A7E2A9BF}" presName="sibTrans" presStyleLbl="sibTrans2D1" presStyleIdx="1" presStyleCnt="3"/>
      <dgm:spPr/>
    </dgm:pt>
    <dgm:pt modelId="{793F542F-8B34-9A43-9EA7-3FBFF21FCA0B}" type="pres">
      <dgm:prSet presAssocID="{E526B738-470F-604B-9F31-5192A7E2A9BF}" presName="connectorText" presStyleLbl="sibTrans2D1" presStyleIdx="1" presStyleCnt="3"/>
      <dgm:spPr/>
    </dgm:pt>
    <dgm:pt modelId="{442AE801-EED4-8D42-90CC-F010C197D195}" type="pres">
      <dgm:prSet presAssocID="{1B6480A7-5BF9-7B48-BF47-191654727974}" presName="node" presStyleLbl="node1" presStyleIdx="2" presStyleCnt="4">
        <dgm:presLayoutVars>
          <dgm:bulletEnabled val="1"/>
        </dgm:presLayoutVars>
      </dgm:prSet>
      <dgm:spPr/>
    </dgm:pt>
    <dgm:pt modelId="{4DF6FC18-A46C-E846-BF69-50E921976BAE}" type="pres">
      <dgm:prSet presAssocID="{171775ED-BA22-3940-8BC0-C2896BD78A42}" presName="sibTrans" presStyleLbl="sibTrans2D1" presStyleIdx="2" presStyleCnt="3"/>
      <dgm:spPr/>
    </dgm:pt>
    <dgm:pt modelId="{35F01B6C-5C54-D342-A654-A9E8888337BB}" type="pres">
      <dgm:prSet presAssocID="{171775ED-BA22-3940-8BC0-C2896BD78A42}" presName="connectorText" presStyleLbl="sibTrans2D1" presStyleIdx="2" presStyleCnt="3"/>
      <dgm:spPr/>
    </dgm:pt>
    <dgm:pt modelId="{F348F1D3-39A3-6D42-BF4F-A76128FAFB43}" type="pres">
      <dgm:prSet presAssocID="{3676C4CE-43C0-2744-A8BD-8B3E9D8007FD}" presName="node" presStyleLbl="node1" presStyleIdx="3" presStyleCnt="4">
        <dgm:presLayoutVars>
          <dgm:bulletEnabled val="1"/>
        </dgm:presLayoutVars>
      </dgm:prSet>
      <dgm:spPr/>
    </dgm:pt>
  </dgm:ptLst>
  <dgm:cxnLst>
    <dgm:cxn modelId="{D2A44B1A-EA00-9E48-A786-DEA896A5F7CF}" type="presOf" srcId="{E526B738-470F-604B-9F31-5192A7E2A9BF}" destId="{793F542F-8B34-9A43-9EA7-3FBFF21FCA0B}" srcOrd="1" destOrd="0" presId="urn:microsoft.com/office/officeart/2005/8/layout/process5"/>
    <dgm:cxn modelId="{E2CDCC4C-43E3-C641-81A8-7D3F4A651D09}" type="presOf" srcId="{1146D45A-5C72-E441-80D6-EA462475E44B}" destId="{7C17CC8B-F15F-EF49-A580-28160E629D86}" srcOrd="0" destOrd="0" presId="urn:microsoft.com/office/officeart/2005/8/layout/process5"/>
    <dgm:cxn modelId="{2543DD53-C997-3940-A074-79806C58EE75}" type="presOf" srcId="{463689E0-3758-2F4A-AE87-B3B42ED1282F}" destId="{E1DAC896-3388-6A4A-B633-C97FFD3AA535}" srcOrd="0" destOrd="0" presId="urn:microsoft.com/office/officeart/2005/8/layout/process5"/>
    <dgm:cxn modelId="{C3658560-BF9B-5846-B60D-48D39A877706}" type="presOf" srcId="{171775ED-BA22-3940-8BC0-C2896BD78A42}" destId="{35F01B6C-5C54-D342-A654-A9E8888337BB}" srcOrd="1" destOrd="0" presId="urn:microsoft.com/office/officeart/2005/8/layout/process5"/>
    <dgm:cxn modelId="{B45DBF76-BC26-304C-A692-903A30DB36D9}" type="presOf" srcId="{F1069A5F-E338-6144-BF41-25979C6FE5AC}" destId="{F6D3565F-5AC3-9F48-89AD-DD06DD1D6527}" srcOrd="0" destOrd="0" presId="urn:microsoft.com/office/officeart/2005/8/layout/process5"/>
    <dgm:cxn modelId="{32A86599-7C46-D14B-903C-BF1E7637801A}" srcId="{463689E0-3758-2F4A-AE87-B3B42ED1282F}" destId="{F1069A5F-E338-6144-BF41-25979C6FE5AC}" srcOrd="1" destOrd="0" parTransId="{0523BAEC-2732-3745-99B8-08A7AF2E8A5E}" sibTransId="{E526B738-470F-604B-9F31-5192A7E2A9BF}"/>
    <dgm:cxn modelId="{C519609A-ED9A-1449-B423-26B21F6D881F}" type="presOf" srcId="{171775ED-BA22-3940-8BC0-C2896BD78A42}" destId="{4DF6FC18-A46C-E846-BF69-50E921976BAE}" srcOrd="0" destOrd="0" presId="urn:microsoft.com/office/officeart/2005/8/layout/process5"/>
    <dgm:cxn modelId="{67B9AB9C-5A42-564D-80DB-A77C6A459005}" srcId="{463689E0-3758-2F4A-AE87-B3B42ED1282F}" destId="{1B6480A7-5BF9-7B48-BF47-191654727974}" srcOrd="2" destOrd="0" parTransId="{149B9157-8718-7F4E-9D1A-2F696606ED57}" sibTransId="{171775ED-BA22-3940-8BC0-C2896BD78A42}"/>
    <dgm:cxn modelId="{D7723EAB-2D17-6C4F-9F68-B6DE69FE97CF}" type="presOf" srcId="{7E888389-654B-5840-8716-962495F3004D}" destId="{C8D5B272-F7EB-CB4A-B449-27BD24ADD5A8}" srcOrd="0" destOrd="0" presId="urn:microsoft.com/office/officeart/2005/8/layout/process5"/>
    <dgm:cxn modelId="{DB9627AC-5544-B648-AE51-63C3296B5572}" srcId="{463689E0-3758-2F4A-AE87-B3B42ED1282F}" destId="{3676C4CE-43C0-2744-A8BD-8B3E9D8007FD}" srcOrd="3" destOrd="0" parTransId="{D73783A4-8242-984F-B11F-F37B6DDD1F92}" sibTransId="{0551E22B-9DCC-D44B-A8AC-13158212B95D}"/>
    <dgm:cxn modelId="{F48A26C9-3CE0-9B4F-BC44-0F8E23AEA36A}" type="presOf" srcId="{7E888389-654B-5840-8716-962495F3004D}" destId="{BB94CA27-A5EA-AD4E-B111-58F1218CA0B5}" srcOrd="1" destOrd="0" presId="urn:microsoft.com/office/officeart/2005/8/layout/process5"/>
    <dgm:cxn modelId="{8E3AA8D4-B5A0-5E46-8CD8-486A54AA55EA}" type="presOf" srcId="{3676C4CE-43C0-2744-A8BD-8B3E9D8007FD}" destId="{F348F1D3-39A3-6D42-BF4F-A76128FAFB43}" srcOrd="0" destOrd="0" presId="urn:microsoft.com/office/officeart/2005/8/layout/process5"/>
    <dgm:cxn modelId="{B11196E9-2928-A241-924E-CA2C05ED09BA}" type="presOf" srcId="{E526B738-470F-604B-9F31-5192A7E2A9BF}" destId="{A5D79D36-352B-494F-BDAE-A59B5EDA23D9}" srcOrd="0" destOrd="0" presId="urn:microsoft.com/office/officeart/2005/8/layout/process5"/>
    <dgm:cxn modelId="{DBECC6ED-DEDC-8C44-AFE8-D2E45C280556}" srcId="{463689E0-3758-2F4A-AE87-B3B42ED1282F}" destId="{1146D45A-5C72-E441-80D6-EA462475E44B}" srcOrd="0" destOrd="0" parTransId="{106A8D51-3040-254B-B082-067D5291AA87}" sibTransId="{7E888389-654B-5840-8716-962495F3004D}"/>
    <dgm:cxn modelId="{4C31B3F3-E463-7E42-877C-2221532F49FD}" type="presOf" srcId="{1B6480A7-5BF9-7B48-BF47-191654727974}" destId="{442AE801-EED4-8D42-90CC-F010C197D195}" srcOrd="0" destOrd="0" presId="urn:microsoft.com/office/officeart/2005/8/layout/process5"/>
    <dgm:cxn modelId="{F64FFB25-5A03-9B40-9A4B-DAD7AD5124B0}" type="presParOf" srcId="{E1DAC896-3388-6A4A-B633-C97FFD3AA535}" destId="{7C17CC8B-F15F-EF49-A580-28160E629D86}" srcOrd="0" destOrd="0" presId="urn:microsoft.com/office/officeart/2005/8/layout/process5"/>
    <dgm:cxn modelId="{59358067-A35B-BA40-8008-6754E3D04B19}" type="presParOf" srcId="{E1DAC896-3388-6A4A-B633-C97FFD3AA535}" destId="{C8D5B272-F7EB-CB4A-B449-27BD24ADD5A8}" srcOrd="1" destOrd="0" presId="urn:microsoft.com/office/officeart/2005/8/layout/process5"/>
    <dgm:cxn modelId="{5F2F5706-E815-5642-BCB1-249F531DBCAC}" type="presParOf" srcId="{C8D5B272-F7EB-CB4A-B449-27BD24ADD5A8}" destId="{BB94CA27-A5EA-AD4E-B111-58F1218CA0B5}" srcOrd="0" destOrd="0" presId="urn:microsoft.com/office/officeart/2005/8/layout/process5"/>
    <dgm:cxn modelId="{55D7D753-D607-C14B-947C-7E8B26E39A1C}" type="presParOf" srcId="{E1DAC896-3388-6A4A-B633-C97FFD3AA535}" destId="{F6D3565F-5AC3-9F48-89AD-DD06DD1D6527}" srcOrd="2" destOrd="0" presId="urn:microsoft.com/office/officeart/2005/8/layout/process5"/>
    <dgm:cxn modelId="{3B89E0B2-30B4-1A46-9CAF-019A5CCEE1B5}" type="presParOf" srcId="{E1DAC896-3388-6A4A-B633-C97FFD3AA535}" destId="{A5D79D36-352B-494F-BDAE-A59B5EDA23D9}" srcOrd="3" destOrd="0" presId="urn:microsoft.com/office/officeart/2005/8/layout/process5"/>
    <dgm:cxn modelId="{BEC6EF03-4C4F-C54A-8219-1FC8724B4727}" type="presParOf" srcId="{A5D79D36-352B-494F-BDAE-A59B5EDA23D9}" destId="{793F542F-8B34-9A43-9EA7-3FBFF21FCA0B}" srcOrd="0" destOrd="0" presId="urn:microsoft.com/office/officeart/2005/8/layout/process5"/>
    <dgm:cxn modelId="{31BAAFD1-B12B-8A47-9AB2-26FC45787B68}" type="presParOf" srcId="{E1DAC896-3388-6A4A-B633-C97FFD3AA535}" destId="{442AE801-EED4-8D42-90CC-F010C197D195}" srcOrd="4" destOrd="0" presId="urn:microsoft.com/office/officeart/2005/8/layout/process5"/>
    <dgm:cxn modelId="{5516AC95-C280-0B4D-B443-89E8B8ADA68B}" type="presParOf" srcId="{E1DAC896-3388-6A4A-B633-C97FFD3AA535}" destId="{4DF6FC18-A46C-E846-BF69-50E921976BAE}" srcOrd="5" destOrd="0" presId="urn:microsoft.com/office/officeart/2005/8/layout/process5"/>
    <dgm:cxn modelId="{E0784714-72CF-C54F-B6D8-127529D2BE0C}" type="presParOf" srcId="{4DF6FC18-A46C-E846-BF69-50E921976BAE}" destId="{35F01B6C-5C54-D342-A654-A9E8888337BB}" srcOrd="0" destOrd="0" presId="urn:microsoft.com/office/officeart/2005/8/layout/process5"/>
    <dgm:cxn modelId="{09D6DD8A-6614-0844-B087-98942EAE2D52}" type="presParOf" srcId="{E1DAC896-3388-6A4A-B633-C97FFD3AA535}" destId="{F348F1D3-39A3-6D42-BF4F-A76128FAFB43}" srcOrd="6" destOrd="0" presId="urn:microsoft.com/office/officeart/2005/8/layout/process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AABE89C8-A755-8444-9D6A-19031FA06398}" type="doc">
      <dgm:prSet loTypeId="urn:microsoft.com/office/officeart/2005/8/layout/process5" loCatId="" qsTypeId="urn:microsoft.com/office/officeart/2005/8/quickstyle/simple1" qsCatId="simple" csTypeId="urn:microsoft.com/office/officeart/2005/8/colors/accent1_2" csCatId="accent1" phldr="1"/>
      <dgm:spPr/>
    </dgm:pt>
    <dgm:pt modelId="{871FE7D6-4254-0244-9774-AD4962B99541}">
      <dgm:prSet phldrT="[Text]"/>
      <dgm:spPr/>
      <dgm:t>
        <a:bodyPr/>
        <a:lstStyle/>
        <a:p>
          <a:r>
            <a:rPr lang="en-US" dirty="0"/>
            <a:t>Review Text</a:t>
          </a:r>
        </a:p>
      </dgm:t>
    </dgm:pt>
    <dgm:pt modelId="{BCA80D69-2CD4-A045-92F0-491ED87C3C1A}" type="parTrans" cxnId="{39A683C0-3217-3049-B01A-0C825170AC69}">
      <dgm:prSet/>
      <dgm:spPr/>
      <dgm:t>
        <a:bodyPr/>
        <a:lstStyle/>
        <a:p>
          <a:endParaRPr lang="en-US"/>
        </a:p>
      </dgm:t>
    </dgm:pt>
    <dgm:pt modelId="{81DCEC85-5F5C-BA44-AE4B-8ADC05F475A7}" type="sibTrans" cxnId="{39A683C0-3217-3049-B01A-0C825170AC69}">
      <dgm:prSet/>
      <dgm:spPr/>
      <dgm:t>
        <a:bodyPr/>
        <a:lstStyle/>
        <a:p>
          <a:endParaRPr lang="en-US"/>
        </a:p>
      </dgm:t>
    </dgm:pt>
    <dgm:pt modelId="{97D8219D-DAF9-7643-825F-C41E6A2A9021}">
      <dgm:prSet phldrT="[Text]"/>
      <dgm:spPr/>
      <dgm:t>
        <a:bodyPr/>
        <a:lstStyle/>
        <a:p>
          <a:r>
            <a:rPr lang="en-US" dirty="0" err="1"/>
            <a:t>RoBERTa</a:t>
          </a:r>
          <a:r>
            <a:rPr lang="en-US" dirty="0"/>
            <a:t> Sentiment Model</a:t>
          </a:r>
        </a:p>
      </dgm:t>
    </dgm:pt>
    <dgm:pt modelId="{BED3DFE9-6DFC-7340-81CC-32B716F5BB00}" type="parTrans" cxnId="{A8D85E3E-8D22-6644-BF3E-2E2A52E867CF}">
      <dgm:prSet/>
      <dgm:spPr/>
      <dgm:t>
        <a:bodyPr/>
        <a:lstStyle/>
        <a:p>
          <a:endParaRPr lang="en-US"/>
        </a:p>
      </dgm:t>
    </dgm:pt>
    <dgm:pt modelId="{AC492CB3-EF5C-A648-B64F-329AB7023B98}" type="sibTrans" cxnId="{A8D85E3E-8D22-6644-BF3E-2E2A52E867CF}">
      <dgm:prSet/>
      <dgm:spPr/>
      <dgm:t>
        <a:bodyPr/>
        <a:lstStyle/>
        <a:p>
          <a:endParaRPr lang="en-US"/>
        </a:p>
      </dgm:t>
    </dgm:pt>
    <dgm:pt modelId="{7C11841D-447D-D643-A771-DDDB2A7D3D08}">
      <dgm:prSet phldrT="[Text]"/>
      <dgm:spPr/>
      <dgm:t>
        <a:bodyPr/>
        <a:lstStyle/>
        <a:p>
          <a:r>
            <a:rPr lang="en-US" dirty="0"/>
            <a:t>Aggregate Article Prediction</a:t>
          </a:r>
        </a:p>
      </dgm:t>
    </dgm:pt>
    <dgm:pt modelId="{CD95B4DA-7D00-D143-8B15-535EC32D8BD3}" type="parTrans" cxnId="{9910F130-6CCB-BC4E-BC21-D0075D86599B}">
      <dgm:prSet/>
      <dgm:spPr/>
      <dgm:t>
        <a:bodyPr/>
        <a:lstStyle/>
        <a:p>
          <a:endParaRPr lang="en-US"/>
        </a:p>
      </dgm:t>
    </dgm:pt>
    <dgm:pt modelId="{260FB354-5DA9-3747-9B97-10961D82F1F0}" type="sibTrans" cxnId="{9910F130-6CCB-BC4E-BC21-D0075D86599B}">
      <dgm:prSet/>
      <dgm:spPr/>
      <dgm:t>
        <a:bodyPr/>
        <a:lstStyle/>
        <a:p>
          <a:endParaRPr lang="en-US"/>
        </a:p>
      </dgm:t>
    </dgm:pt>
    <dgm:pt modelId="{1E3CEF0C-05C2-154B-8858-A55B98ED2ACF}">
      <dgm:prSet phldrT="[Text]"/>
      <dgm:spPr/>
      <dgm:t>
        <a:bodyPr/>
        <a:lstStyle/>
        <a:p>
          <a:r>
            <a:rPr lang="en-US" dirty="0"/>
            <a:t>Chunk Long Articles</a:t>
          </a:r>
        </a:p>
      </dgm:t>
    </dgm:pt>
    <dgm:pt modelId="{AC13541D-A7D3-054A-AE51-CDFF5BC994BC}" type="parTrans" cxnId="{629308B2-A303-5A49-8BAB-22B3E24B4512}">
      <dgm:prSet/>
      <dgm:spPr/>
      <dgm:t>
        <a:bodyPr/>
        <a:lstStyle/>
        <a:p>
          <a:endParaRPr lang="en-US"/>
        </a:p>
      </dgm:t>
    </dgm:pt>
    <dgm:pt modelId="{54FB8FC1-503E-414B-A609-3BE09A8D7629}" type="sibTrans" cxnId="{629308B2-A303-5A49-8BAB-22B3E24B4512}">
      <dgm:prSet/>
      <dgm:spPr/>
      <dgm:t>
        <a:bodyPr/>
        <a:lstStyle/>
        <a:p>
          <a:endParaRPr lang="en-US"/>
        </a:p>
      </dgm:t>
    </dgm:pt>
    <dgm:pt modelId="{18959738-35C3-0F44-826E-3813821E62F4}">
      <dgm:prSet phldrT="[Text]"/>
      <dgm:spPr/>
      <dgm:t>
        <a:bodyPr/>
        <a:lstStyle/>
        <a:p>
          <a:r>
            <a:rPr lang="en-US" dirty="0"/>
            <a:t>Final Sentiment</a:t>
          </a:r>
        </a:p>
      </dgm:t>
    </dgm:pt>
    <dgm:pt modelId="{F8FBB88F-AFA5-6249-97BF-58633C60CDBD}" type="parTrans" cxnId="{21223008-A464-B343-AF17-6A578F8B2F60}">
      <dgm:prSet/>
      <dgm:spPr/>
      <dgm:t>
        <a:bodyPr/>
        <a:lstStyle/>
        <a:p>
          <a:endParaRPr lang="en-US"/>
        </a:p>
      </dgm:t>
    </dgm:pt>
    <dgm:pt modelId="{DDEE9A71-AA66-254C-B261-A8C810051C9D}" type="sibTrans" cxnId="{21223008-A464-B343-AF17-6A578F8B2F60}">
      <dgm:prSet/>
      <dgm:spPr/>
      <dgm:t>
        <a:bodyPr/>
        <a:lstStyle/>
        <a:p>
          <a:endParaRPr lang="en-US"/>
        </a:p>
      </dgm:t>
    </dgm:pt>
    <dgm:pt modelId="{8CEC660A-E7CF-4448-AADA-07D8EEB6FA06}" type="pres">
      <dgm:prSet presAssocID="{AABE89C8-A755-8444-9D6A-19031FA06398}" presName="diagram" presStyleCnt="0">
        <dgm:presLayoutVars>
          <dgm:dir/>
          <dgm:resizeHandles val="exact"/>
        </dgm:presLayoutVars>
      </dgm:prSet>
      <dgm:spPr/>
    </dgm:pt>
    <dgm:pt modelId="{6F820CA8-1CFD-E74A-94D3-9F6E241F7F5B}" type="pres">
      <dgm:prSet presAssocID="{871FE7D6-4254-0244-9774-AD4962B99541}" presName="node" presStyleLbl="node1" presStyleIdx="0" presStyleCnt="5">
        <dgm:presLayoutVars>
          <dgm:bulletEnabled val="1"/>
        </dgm:presLayoutVars>
      </dgm:prSet>
      <dgm:spPr/>
    </dgm:pt>
    <dgm:pt modelId="{D7455074-6A5C-F64A-8BE7-3A826259740A}" type="pres">
      <dgm:prSet presAssocID="{81DCEC85-5F5C-BA44-AE4B-8ADC05F475A7}" presName="sibTrans" presStyleLbl="sibTrans2D1" presStyleIdx="0" presStyleCnt="4"/>
      <dgm:spPr/>
    </dgm:pt>
    <dgm:pt modelId="{18C81172-1086-904B-B5FF-2BFFF25737CA}" type="pres">
      <dgm:prSet presAssocID="{81DCEC85-5F5C-BA44-AE4B-8ADC05F475A7}" presName="connectorText" presStyleLbl="sibTrans2D1" presStyleIdx="0" presStyleCnt="4"/>
      <dgm:spPr/>
    </dgm:pt>
    <dgm:pt modelId="{EFAAFB53-6FB5-474F-B892-A04B5318D032}" type="pres">
      <dgm:prSet presAssocID="{1E3CEF0C-05C2-154B-8858-A55B98ED2ACF}" presName="node" presStyleLbl="node1" presStyleIdx="1" presStyleCnt="5">
        <dgm:presLayoutVars>
          <dgm:bulletEnabled val="1"/>
        </dgm:presLayoutVars>
      </dgm:prSet>
      <dgm:spPr/>
    </dgm:pt>
    <dgm:pt modelId="{CB5ADEAE-16B9-8D4A-914F-CBED9179A93F}" type="pres">
      <dgm:prSet presAssocID="{54FB8FC1-503E-414B-A609-3BE09A8D7629}" presName="sibTrans" presStyleLbl="sibTrans2D1" presStyleIdx="1" presStyleCnt="4"/>
      <dgm:spPr/>
    </dgm:pt>
    <dgm:pt modelId="{A14ACF28-9533-C149-A81F-4938CF783639}" type="pres">
      <dgm:prSet presAssocID="{54FB8FC1-503E-414B-A609-3BE09A8D7629}" presName="connectorText" presStyleLbl="sibTrans2D1" presStyleIdx="1" presStyleCnt="4"/>
      <dgm:spPr/>
    </dgm:pt>
    <dgm:pt modelId="{497C8F9D-C30D-9946-B026-0143E9BADECE}" type="pres">
      <dgm:prSet presAssocID="{97D8219D-DAF9-7643-825F-C41E6A2A9021}" presName="node" presStyleLbl="node1" presStyleIdx="2" presStyleCnt="5">
        <dgm:presLayoutVars>
          <dgm:bulletEnabled val="1"/>
        </dgm:presLayoutVars>
      </dgm:prSet>
      <dgm:spPr/>
    </dgm:pt>
    <dgm:pt modelId="{C3849EB2-0AD3-BE4E-9BFA-EED9B4F3981B}" type="pres">
      <dgm:prSet presAssocID="{AC492CB3-EF5C-A648-B64F-329AB7023B98}" presName="sibTrans" presStyleLbl="sibTrans2D1" presStyleIdx="2" presStyleCnt="4"/>
      <dgm:spPr/>
    </dgm:pt>
    <dgm:pt modelId="{3F685D97-464E-1C4E-9D9B-D3D69B12C7D4}" type="pres">
      <dgm:prSet presAssocID="{AC492CB3-EF5C-A648-B64F-329AB7023B98}" presName="connectorText" presStyleLbl="sibTrans2D1" presStyleIdx="2" presStyleCnt="4"/>
      <dgm:spPr/>
    </dgm:pt>
    <dgm:pt modelId="{52CC8C45-300A-4D46-BB37-284C2CB2BF53}" type="pres">
      <dgm:prSet presAssocID="{7C11841D-447D-D643-A771-DDDB2A7D3D08}" presName="node" presStyleLbl="node1" presStyleIdx="3" presStyleCnt="5">
        <dgm:presLayoutVars>
          <dgm:bulletEnabled val="1"/>
        </dgm:presLayoutVars>
      </dgm:prSet>
      <dgm:spPr/>
    </dgm:pt>
    <dgm:pt modelId="{9493EBE0-8E70-EF4E-89E7-6168420545D6}" type="pres">
      <dgm:prSet presAssocID="{260FB354-5DA9-3747-9B97-10961D82F1F0}" presName="sibTrans" presStyleLbl="sibTrans2D1" presStyleIdx="3" presStyleCnt="4"/>
      <dgm:spPr/>
    </dgm:pt>
    <dgm:pt modelId="{40CE6F78-3F8D-874E-ABA5-926F3678CC7B}" type="pres">
      <dgm:prSet presAssocID="{260FB354-5DA9-3747-9B97-10961D82F1F0}" presName="connectorText" presStyleLbl="sibTrans2D1" presStyleIdx="3" presStyleCnt="4"/>
      <dgm:spPr/>
    </dgm:pt>
    <dgm:pt modelId="{4FF29ACD-C86E-BB4C-AA23-C5D4E56BF43E}" type="pres">
      <dgm:prSet presAssocID="{18959738-35C3-0F44-826E-3813821E62F4}" presName="node" presStyleLbl="node1" presStyleIdx="4" presStyleCnt="5">
        <dgm:presLayoutVars>
          <dgm:bulletEnabled val="1"/>
        </dgm:presLayoutVars>
      </dgm:prSet>
      <dgm:spPr/>
    </dgm:pt>
  </dgm:ptLst>
  <dgm:cxnLst>
    <dgm:cxn modelId="{249CDE05-AF6B-6244-AD2F-4083D4FB3E98}" type="presOf" srcId="{7C11841D-447D-D643-A771-DDDB2A7D3D08}" destId="{52CC8C45-300A-4D46-BB37-284C2CB2BF53}" srcOrd="0" destOrd="0" presId="urn:microsoft.com/office/officeart/2005/8/layout/process5"/>
    <dgm:cxn modelId="{21223008-A464-B343-AF17-6A578F8B2F60}" srcId="{AABE89C8-A755-8444-9D6A-19031FA06398}" destId="{18959738-35C3-0F44-826E-3813821E62F4}" srcOrd="4" destOrd="0" parTransId="{F8FBB88F-AFA5-6249-97BF-58633C60CDBD}" sibTransId="{DDEE9A71-AA66-254C-B261-A8C810051C9D}"/>
    <dgm:cxn modelId="{1CB9910E-905D-CE47-BFAC-906CB9C7B335}" type="presOf" srcId="{81DCEC85-5F5C-BA44-AE4B-8ADC05F475A7}" destId="{D7455074-6A5C-F64A-8BE7-3A826259740A}" srcOrd="0" destOrd="0" presId="urn:microsoft.com/office/officeart/2005/8/layout/process5"/>
    <dgm:cxn modelId="{F23C5920-5EB1-594E-90D0-CB30BF98F89C}" type="presOf" srcId="{81DCEC85-5F5C-BA44-AE4B-8ADC05F475A7}" destId="{18C81172-1086-904B-B5FF-2BFFF25737CA}" srcOrd="1" destOrd="0" presId="urn:microsoft.com/office/officeart/2005/8/layout/process5"/>
    <dgm:cxn modelId="{E3DC0D25-E607-2840-9E6A-C8890B374D1D}" type="presOf" srcId="{54FB8FC1-503E-414B-A609-3BE09A8D7629}" destId="{A14ACF28-9533-C149-A81F-4938CF783639}" srcOrd="1" destOrd="0" presId="urn:microsoft.com/office/officeart/2005/8/layout/process5"/>
    <dgm:cxn modelId="{9910F130-6CCB-BC4E-BC21-D0075D86599B}" srcId="{AABE89C8-A755-8444-9D6A-19031FA06398}" destId="{7C11841D-447D-D643-A771-DDDB2A7D3D08}" srcOrd="3" destOrd="0" parTransId="{CD95B4DA-7D00-D143-8B15-535EC32D8BD3}" sibTransId="{260FB354-5DA9-3747-9B97-10961D82F1F0}"/>
    <dgm:cxn modelId="{A8D85E3E-8D22-6644-BF3E-2E2A52E867CF}" srcId="{AABE89C8-A755-8444-9D6A-19031FA06398}" destId="{97D8219D-DAF9-7643-825F-C41E6A2A9021}" srcOrd="2" destOrd="0" parTransId="{BED3DFE9-6DFC-7340-81CC-32B716F5BB00}" sibTransId="{AC492CB3-EF5C-A648-B64F-329AB7023B98}"/>
    <dgm:cxn modelId="{84993F56-4810-0C45-BC8E-61C1CD9122D2}" type="presOf" srcId="{54FB8FC1-503E-414B-A609-3BE09A8D7629}" destId="{CB5ADEAE-16B9-8D4A-914F-CBED9179A93F}" srcOrd="0" destOrd="0" presId="urn:microsoft.com/office/officeart/2005/8/layout/process5"/>
    <dgm:cxn modelId="{E1C17B5D-F4A2-8E46-BF19-291DC1FF5C38}" type="presOf" srcId="{1E3CEF0C-05C2-154B-8858-A55B98ED2ACF}" destId="{EFAAFB53-6FB5-474F-B892-A04B5318D032}" srcOrd="0" destOrd="0" presId="urn:microsoft.com/office/officeart/2005/8/layout/process5"/>
    <dgm:cxn modelId="{4EB9AF61-0660-D24A-BEC8-4471E1E3BD4D}" type="presOf" srcId="{AABE89C8-A755-8444-9D6A-19031FA06398}" destId="{8CEC660A-E7CF-4448-AADA-07D8EEB6FA06}" srcOrd="0" destOrd="0" presId="urn:microsoft.com/office/officeart/2005/8/layout/process5"/>
    <dgm:cxn modelId="{EB8C697B-225A-E444-AF01-71F02314CDE4}" type="presOf" srcId="{AC492CB3-EF5C-A648-B64F-329AB7023B98}" destId="{C3849EB2-0AD3-BE4E-9BFA-EED9B4F3981B}" srcOrd="0" destOrd="0" presId="urn:microsoft.com/office/officeart/2005/8/layout/process5"/>
    <dgm:cxn modelId="{9EDFB47B-E118-384B-84A3-01A949E5948F}" type="presOf" srcId="{260FB354-5DA9-3747-9B97-10961D82F1F0}" destId="{9493EBE0-8E70-EF4E-89E7-6168420545D6}" srcOrd="0" destOrd="0" presId="urn:microsoft.com/office/officeart/2005/8/layout/process5"/>
    <dgm:cxn modelId="{36680BA5-E5A8-6B42-B06E-C8F91F61C387}" type="presOf" srcId="{18959738-35C3-0F44-826E-3813821E62F4}" destId="{4FF29ACD-C86E-BB4C-AA23-C5D4E56BF43E}" srcOrd="0" destOrd="0" presId="urn:microsoft.com/office/officeart/2005/8/layout/process5"/>
    <dgm:cxn modelId="{567515AB-AD2D-DA4B-AA06-4243FFE1DD11}" type="presOf" srcId="{871FE7D6-4254-0244-9774-AD4962B99541}" destId="{6F820CA8-1CFD-E74A-94D3-9F6E241F7F5B}" srcOrd="0" destOrd="0" presId="urn:microsoft.com/office/officeart/2005/8/layout/process5"/>
    <dgm:cxn modelId="{629308B2-A303-5A49-8BAB-22B3E24B4512}" srcId="{AABE89C8-A755-8444-9D6A-19031FA06398}" destId="{1E3CEF0C-05C2-154B-8858-A55B98ED2ACF}" srcOrd="1" destOrd="0" parTransId="{AC13541D-A7D3-054A-AE51-CDFF5BC994BC}" sibTransId="{54FB8FC1-503E-414B-A609-3BE09A8D7629}"/>
    <dgm:cxn modelId="{39A683C0-3217-3049-B01A-0C825170AC69}" srcId="{AABE89C8-A755-8444-9D6A-19031FA06398}" destId="{871FE7D6-4254-0244-9774-AD4962B99541}" srcOrd="0" destOrd="0" parTransId="{BCA80D69-2CD4-A045-92F0-491ED87C3C1A}" sibTransId="{81DCEC85-5F5C-BA44-AE4B-8ADC05F475A7}"/>
    <dgm:cxn modelId="{B487B9C2-2DB5-F541-905F-A9E8D191DB8B}" type="presOf" srcId="{260FB354-5DA9-3747-9B97-10961D82F1F0}" destId="{40CE6F78-3F8D-874E-ABA5-926F3678CC7B}" srcOrd="1" destOrd="0" presId="urn:microsoft.com/office/officeart/2005/8/layout/process5"/>
    <dgm:cxn modelId="{651ADACD-958E-EB4A-A259-5B8C46754172}" type="presOf" srcId="{AC492CB3-EF5C-A648-B64F-329AB7023B98}" destId="{3F685D97-464E-1C4E-9D9B-D3D69B12C7D4}" srcOrd="1" destOrd="0" presId="urn:microsoft.com/office/officeart/2005/8/layout/process5"/>
    <dgm:cxn modelId="{C24787E0-6B33-204F-8054-EEB7761B588A}" type="presOf" srcId="{97D8219D-DAF9-7643-825F-C41E6A2A9021}" destId="{497C8F9D-C30D-9946-B026-0143E9BADECE}" srcOrd="0" destOrd="0" presId="urn:microsoft.com/office/officeart/2005/8/layout/process5"/>
    <dgm:cxn modelId="{6BD1D8FD-3B66-E24A-B1D0-548C9363D51C}" type="presParOf" srcId="{8CEC660A-E7CF-4448-AADA-07D8EEB6FA06}" destId="{6F820CA8-1CFD-E74A-94D3-9F6E241F7F5B}" srcOrd="0" destOrd="0" presId="urn:microsoft.com/office/officeart/2005/8/layout/process5"/>
    <dgm:cxn modelId="{963FFF8F-97C2-7240-B609-D80C3201E1E6}" type="presParOf" srcId="{8CEC660A-E7CF-4448-AADA-07D8EEB6FA06}" destId="{D7455074-6A5C-F64A-8BE7-3A826259740A}" srcOrd="1" destOrd="0" presId="urn:microsoft.com/office/officeart/2005/8/layout/process5"/>
    <dgm:cxn modelId="{A0BE56ED-C69C-DE44-A02D-895B1082AC20}" type="presParOf" srcId="{D7455074-6A5C-F64A-8BE7-3A826259740A}" destId="{18C81172-1086-904B-B5FF-2BFFF25737CA}" srcOrd="0" destOrd="0" presId="urn:microsoft.com/office/officeart/2005/8/layout/process5"/>
    <dgm:cxn modelId="{1B65DCE0-2C93-5B42-9143-601AF0CAB537}" type="presParOf" srcId="{8CEC660A-E7CF-4448-AADA-07D8EEB6FA06}" destId="{EFAAFB53-6FB5-474F-B892-A04B5318D032}" srcOrd="2" destOrd="0" presId="urn:microsoft.com/office/officeart/2005/8/layout/process5"/>
    <dgm:cxn modelId="{D2CB1085-FFEA-D541-BE70-975029229FF2}" type="presParOf" srcId="{8CEC660A-E7CF-4448-AADA-07D8EEB6FA06}" destId="{CB5ADEAE-16B9-8D4A-914F-CBED9179A93F}" srcOrd="3" destOrd="0" presId="urn:microsoft.com/office/officeart/2005/8/layout/process5"/>
    <dgm:cxn modelId="{3FD7A40E-3156-0C4A-BD49-DCD15E1EE2E5}" type="presParOf" srcId="{CB5ADEAE-16B9-8D4A-914F-CBED9179A93F}" destId="{A14ACF28-9533-C149-A81F-4938CF783639}" srcOrd="0" destOrd="0" presId="urn:microsoft.com/office/officeart/2005/8/layout/process5"/>
    <dgm:cxn modelId="{1BAC9A4F-4872-874E-9C0A-FC639686B2F9}" type="presParOf" srcId="{8CEC660A-E7CF-4448-AADA-07D8EEB6FA06}" destId="{497C8F9D-C30D-9946-B026-0143E9BADECE}" srcOrd="4" destOrd="0" presId="urn:microsoft.com/office/officeart/2005/8/layout/process5"/>
    <dgm:cxn modelId="{75ADE054-1213-FC45-B5FF-005092A21AC9}" type="presParOf" srcId="{8CEC660A-E7CF-4448-AADA-07D8EEB6FA06}" destId="{C3849EB2-0AD3-BE4E-9BFA-EED9B4F3981B}" srcOrd="5" destOrd="0" presId="urn:microsoft.com/office/officeart/2005/8/layout/process5"/>
    <dgm:cxn modelId="{A8CBAFFD-B67C-8242-8F12-30D6DA1381B3}" type="presParOf" srcId="{C3849EB2-0AD3-BE4E-9BFA-EED9B4F3981B}" destId="{3F685D97-464E-1C4E-9D9B-D3D69B12C7D4}" srcOrd="0" destOrd="0" presId="urn:microsoft.com/office/officeart/2005/8/layout/process5"/>
    <dgm:cxn modelId="{C8C34B7F-9D68-D04E-A119-89AE1CFE1D90}" type="presParOf" srcId="{8CEC660A-E7CF-4448-AADA-07D8EEB6FA06}" destId="{52CC8C45-300A-4D46-BB37-284C2CB2BF53}" srcOrd="6" destOrd="0" presId="urn:microsoft.com/office/officeart/2005/8/layout/process5"/>
    <dgm:cxn modelId="{4B43A850-A651-094F-BB1D-881BD7A14435}" type="presParOf" srcId="{8CEC660A-E7CF-4448-AADA-07D8EEB6FA06}" destId="{9493EBE0-8E70-EF4E-89E7-6168420545D6}" srcOrd="7" destOrd="0" presId="urn:microsoft.com/office/officeart/2005/8/layout/process5"/>
    <dgm:cxn modelId="{160B0F3B-75F5-644A-9153-147FC157C48E}" type="presParOf" srcId="{9493EBE0-8E70-EF4E-89E7-6168420545D6}" destId="{40CE6F78-3F8D-874E-ABA5-926F3678CC7B}" srcOrd="0" destOrd="0" presId="urn:microsoft.com/office/officeart/2005/8/layout/process5"/>
    <dgm:cxn modelId="{7C01748C-E38E-7B49-A977-9D502D4814C0}" type="presParOf" srcId="{8CEC660A-E7CF-4448-AADA-07D8EEB6FA06}" destId="{4FF29ACD-C86E-BB4C-AA23-C5D4E56BF43E}" srcOrd="8" destOrd="0" presId="urn:microsoft.com/office/officeart/2005/8/layout/process5"/>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E32CA4B6-4BB7-6243-8007-C195883350F1}" type="doc">
      <dgm:prSet loTypeId="urn:microsoft.com/office/officeart/2005/8/layout/StepDownProcess" loCatId="" qsTypeId="urn:microsoft.com/office/officeart/2005/8/quickstyle/simple1" qsCatId="simple" csTypeId="urn:microsoft.com/office/officeart/2005/8/colors/accent1_2" csCatId="accent1" phldr="1"/>
      <dgm:spPr/>
      <dgm:t>
        <a:bodyPr/>
        <a:lstStyle/>
        <a:p>
          <a:endParaRPr lang="en-US"/>
        </a:p>
      </dgm:t>
    </dgm:pt>
    <dgm:pt modelId="{5CE8AEF9-95AB-5B40-9E47-A9B5EFAB4612}">
      <dgm:prSet phldrT="[Text]"/>
      <dgm:spPr/>
      <dgm:t>
        <a:bodyPr/>
        <a:lstStyle/>
        <a:p>
          <a:r>
            <a:rPr lang="en-US" dirty="0"/>
            <a:t>Review Article</a:t>
          </a:r>
        </a:p>
      </dgm:t>
    </dgm:pt>
    <dgm:pt modelId="{9DB6CD65-5232-B548-BC34-824598586AF5}" type="parTrans" cxnId="{7EDF5BE1-4839-6749-B45C-C27226DBA470}">
      <dgm:prSet/>
      <dgm:spPr/>
      <dgm:t>
        <a:bodyPr/>
        <a:lstStyle/>
        <a:p>
          <a:endParaRPr lang="en-US"/>
        </a:p>
      </dgm:t>
    </dgm:pt>
    <dgm:pt modelId="{803013AD-3AA0-BD4D-B243-7E07DA1854EA}" type="sibTrans" cxnId="{7EDF5BE1-4839-6749-B45C-C27226DBA470}">
      <dgm:prSet/>
      <dgm:spPr/>
      <dgm:t>
        <a:bodyPr/>
        <a:lstStyle/>
        <a:p>
          <a:endParaRPr lang="en-US"/>
        </a:p>
      </dgm:t>
    </dgm:pt>
    <dgm:pt modelId="{71A6B345-E40C-7845-AFC4-56D9286FD23D}">
      <dgm:prSet phldrT="[Text]"/>
      <dgm:spPr/>
      <dgm:t>
        <a:bodyPr/>
        <a:lstStyle/>
        <a:p>
          <a:r>
            <a:rPr lang="en-US" dirty="0"/>
            <a:t>TF-IDF Vectorization</a:t>
          </a:r>
        </a:p>
      </dgm:t>
    </dgm:pt>
    <dgm:pt modelId="{F22DD840-374B-4E40-94EE-18BDF3B35881}" type="parTrans" cxnId="{830775B6-6752-2045-9898-1F95E2119FB7}">
      <dgm:prSet/>
      <dgm:spPr/>
      <dgm:t>
        <a:bodyPr/>
        <a:lstStyle/>
        <a:p>
          <a:endParaRPr lang="en-US"/>
        </a:p>
      </dgm:t>
    </dgm:pt>
    <dgm:pt modelId="{3C85B3C8-C097-784B-9D7E-3C5ADF9828E8}" type="sibTrans" cxnId="{830775B6-6752-2045-9898-1F95E2119FB7}">
      <dgm:prSet/>
      <dgm:spPr/>
      <dgm:t>
        <a:bodyPr/>
        <a:lstStyle/>
        <a:p>
          <a:endParaRPr lang="en-US"/>
        </a:p>
      </dgm:t>
    </dgm:pt>
    <dgm:pt modelId="{0B3EEA89-776D-AE4D-951F-45775682AD08}">
      <dgm:prSet phldrT="[Text]"/>
      <dgm:spPr/>
      <dgm:t>
        <a:bodyPr/>
        <a:lstStyle/>
        <a:p>
          <a:r>
            <a:rPr lang="en-US" dirty="0"/>
            <a:t>TF-IDF Feature Matrix</a:t>
          </a:r>
        </a:p>
      </dgm:t>
    </dgm:pt>
    <dgm:pt modelId="{497C2ED5-984C-D748-BC1B-B93C685DA652}" type="parTrans" cxnId="{1155C459-D73D-994C-B132-1DB0491CD897}">
      <dgm:prSet/>
      <dgm:spPr/>
      <dgm:t>
        <a:bodyPr/>
        <a:lstStyle/>
        <a:p>
          <a:endParaRPr lang="en-US"/>
        </a:p>
      </dgm:t>
    </dgm:pt>
    <dgm:pt modelId="{4AE97B03-B06B-0E40-A050-0557C2681A35}" type="sibTrans" cxnId="{1155C459-D73D-994C-B132-1DB0491CD897}">
      <dgm:prSet/>
      <dgm:spPr/>
      <dgm:t>
        <a:bodyPr/>
        <a:lstStyle/>
        <a:p>
          <a:endParaRPr lang="en-US"/>
        </a:p>
      </dgm:t>
    </dgm:pt>
    <dgm:pt modelId="{E9223896-ABBB-7C41-8876-62216AF19150}">
      <dgm:prSet phldrT="[Text]"/>
      <dgm:spPr/>
      <dgm:t>
        <a:bodyPr/>
        <a:lstStyle/>
        <a:p>
          <a:r>
            <a:rPr lang="en-US" dirty="0"/>
            <a:t>Logistic Regression Model</a:t>
          </a:r>
        </a:p>
      </dgm:t>
    </dgm:pt>
    <dgm:pt modelId="{90F7FF5A-1253-8840-8A42-0334442E5D69}" type="parTrans" cxnId="{DCBC6CBC-0F26-1E41-8B5E-13C7985876AD}">
      <dgm:prSet/>
      <dgm:spPr/>
      <dgm:t>
        <a:bodyPr/>
        <a:lstStyle/>
        <a:p>
          <a:endParaRPr lang="en-US"/>
        </a:p>
      </dgm:t>
    </dgm:pt>
    <dgm:pt modelId="{76A9898A-4974-A443-869A-EF245C775FC3}" type="sibTrans" cxnId="{DCBC6CBC-0F26-1E41-8B5E-13C7985876AD}">
      <dgm:prSet/>
      <dgm:spPr/>
      <dgm:t>
        <a:bodyPr/>
        <a:lstStyle/>
        <a:p>
          <a:endParaRPr lang="en-US"/>
        </a:p>
      </dgm:t>
    </dgm:pt>
    <dgm:pt modelId="{371F84F2-BEF2-944E-8408-241FF4E548DA}">
      <dgm:prSet phldrT="[Text]"/>
      <dgm:spPr/>
      <dgm:t>
        <a:bodyPr/>
        <a:lstStyle/>
        <a:p>
          <a:r>
            <a:rPr lang="en-US" dirty="0"/>
            <a:t>Positive / Not Positive</a:t>
          </a:r>
        </a:p>
      </dgm:t>
    </dgm:pt>
    <dgm:pt modelId="{9B93B9BA-4991-8946-86E8-9DA57B9F8E09}" type="parTrans" cxnId="{555260D6-F277-FE4E-8CBE-615D4296943E}">
      <dgm:prSet/>
      <dgm:spPr/>
      <dgm:t>
        <a:bodyPr/>
        <a:lstStyle/>
        <a:p>
          <a:endParaRPr lang="en-US"/>
        </a:p>
      </dgm:t>
    </dgm:pt>
    <dgm:pt modelId="{799958F5-6787-3342-8EE2-962CD6894C31}" type="sibTrans" cxnId="{555260D6-F277-FE4E-8CBE-615D4296943E}">
      <dgm:prSet/>
      <dgm:spPr/>
      <dgm:t>
        <a:bodyPr/>
        <a:lstStyle/>
        <a:p>
          <a:endParaRPr lang="en-US"/>
        </a:p>
      </dgm:t>
    </dgm:pt>
    <dgm:pt modelId="{5D2F9FF3-45CE-4246-B218-5C7427F53065}" type="pres">
      <dgm:prSet presAssocID="{E32CA4B6-4BB7-6243-8007-C195883350F1}" presName="rootnode" presStyleCnt="0">
        <dgm:presLayoutVars>
          <dgm:chMax/>
          <dgm:chPref/>
          <dgm:dir/>
          <dgm:animLvl val="lvl"/>
        </dgm:presLayoutVars>
      </dgm:prSet>
      <dgm:spPr/>
    </dgm:pt>
    <dgm:pt modelId="{CFCDB7C1-D00E-974B-AF4E-95775E9EFA7D}" type="pres">
      <dgm:prSet presAssocID="{5CE8AEF9-95AB-5B40-9E47-A9B5EFAB4612}" presName="composite" presStyleCnt="0"/>
      <dgm:spPr/>
    </dgm:pt>
    <dgm:pt modelId="{BF6EC090-73C9-F84E-BD62-8C8B34F3C498}" type="pres">
      <dgm:prSet presAssocID="{5CE8AEF9-95AB-5B40-9E47-A9B5EFAB4612}" presName="bentUpArrow1" presStyleLbl="alignImgPlace1" presStyleIdx="0" presStyleCnt="4"/>
      <dgm:spPr/>
    </dgm:pt>
    <dgm:pt modelId="{105AB784-B08B-4840-AC2F-28DDCCCA7DC4}" type="pres">
      <dgm:prSet presAssocID="{5CE8AEF9-95AB-5B40-9E47-A9B5EFAB4612}" presName="ParentText" presStyleLbl="node1" presStyleIdx="0" presStyleCnt="5">
        <dgm:presLayoutVars>
          <dgm:chMax val="1"/>
          <dgm:chPref val="1"/>
          <dgm:bulletEnabled val="1"/>
        </dgm:presLayoutVars>
      </dgm:prSet>
      <dgm:spPr/>
    </dgm:pt>
    <dgm:pt modelId="{05E8A74A-E91C-FE48-94A5-B6A70962CFE6}" type="pres">
      <dgm:prSet presAssocID="{5CE8AEF9-95AB-5B40-9E47-A9B5EFAB4612}" presName="ChildText" presStyleLbl="revTx" presStyleIdx="0" presStyleCnt="4">
        <dgm:presLayoutVars>
          <dgm:chMax val="0"/>
          <dgm:chPref val="0"/>
          <dgm:bulletEnabled val="1"/>
        </dgm:presLayoutVars>
      </dgm:prSet>
      <dgm:spPr/>
    </dgm:pt>
    <dgm:pt modelId="{D303F4A1-E418-5242-AEE5-C1C36E291DBB}" type="pres">
      <dgm:prSet presAssocID="{803013AD-3AA0-BD4D-B243-7E07DA1854EA}" presName="sibTrans" presStyleCnt="0"/>
      <dgm:spPr/>
    </dgm:pt>
    <dgm:pt modelId="{6F6DFB3A-C3EC-9A46-A89C-64CD946255C3}" type="pres">
      <dgm:prSet presAssocID="{71A6B345-E40C-7845-AFC4-56D9286FD23D}" presName="composite" presStyleCnt="0"/>
      <dgm:spPr/>
    </dgm:pt>
    <dgm:pt modelId="{13238F4D-1565-6A46-964E-611F3C5327C4}" type="pres">
      <dgm:prSet presAssocID="{71A6B345-E40C-7845-AFC4-56D9286FD23D}" presName="bentUpArrow1" presStyleLbl="alignImgPlace1" presStyleIdx="1" presStyleCnt="4"/>
      <dgm:spPr/>
    </dgm:pt>
    <dgm:pt modelId="{23CE332D-F3B8-3247-8420-9827AFAC6D37}" type="pres">
      <dgm:prSet presAssocID="{71A6B345-E40C-7845-AFC4-56D9286FD23D}" presName="ParentText" presStyleLbl="node1" presStyleIdx="1" presStyleCnt="5">
        <dgm:presLayoutVars>
          <dgm:chMax val="1"/>
          <dgm:chPref val="1"/>
          <dgm:bulletEnabled val="1"/>
        </dgm:presLayoutVars>
      </dgm:prSet>
      <dgm:spPr/>
    </dgm:pt>
    <dgm:pt modelId="{F52A83D1-E369-2B49-B468-707A6450986C}" type="pres">
      <dgm:prSet presAssocID="{71A6B345-E40C-7845-AFC4-56D9286FD23D}" presName="ChildText" presStyleLbl="revTx" presStyleIdx="1" presStyleCnt="4">
        <dgm:presLayoutVars>
          <dgm:chMax val="0"/>
          <dgm:chPref val="0"/>
          <dgm:bulletEnabled val="1"/>
        </dgm:presLayoutVars>
      </dgm:prSet>
      <dgm:spPr/>
    </dgm:pt>
    <dgm:pt modelId="{241329F9-7B71-FB41-BDAB-9772C4546683}" type="pres">
      <dgm:prSet presAssocID="{3C85B3C8-C097-784B-9D7E-3C5ADF9828E8}" presName="sibTrans" presStyleCnt="0"/>
      <dgm:spPr/>
    </dgm:pt>
    <dgm:pt modelId="{EAC43B84-3B18-F849-B72A-F28F22BA444D}" type="pres">
      <dgm:prSet presAssocID="{0B3EEA89-776D-AE4D-951F-45775682AD08}" presName="composite" presStyleCnt="0"/>
      <dgm:spPr/>
    </dgm:pt>
    <dgm:pt modelId="{DC664268-A230-FD43-A201-D1AAFA8C8CB9}" type="pres">
      <dgm:prSet presAssocID="{0B3EEA89-776D-AE4D-951F-45775682AD08}" presName="bentUpArrow1" presStyleLbl="alignImgPlace1" presStyleIdx="2" presStyleCnt="4"/>
      <dgm:spPr/>
    </dgm:pt>
    <dgm:pt modelId="{4CDF9180-85F4-5743-8F22-FCC1ED8F98E0}" type="pres">
      <dgm:prSet presAssocID="{0B3EEA89-776D-AE4D-951F-45775682AD08}" presName="ParentText" presStyleLbl="node1" presStyleIdx="2" presStyleCnt="5">
        <dgm:presLayoutVars>
          <dgm:chMax val="1"/>
          <dgm:chPref val="1"/>
          <dgm:bulletEnabled val="1"/>
        </dgm:presLayoutVars>
      </dgm:prSet>
      <dgm:spPr/>
    </dgm:pt>
    <dgm:pt modelId="{49AD0523-3A1E-4840-B020-8E4E67B288E2}" type="pres">
      <dgm:prSet presAssocID="{0B3EEA89-776D-AE4D-951F-45775682AD08}" presName="ChildText" presStyleLbl="revTx" presStyleIdx="2" presStyleCnt="4">
        <dgm:presLayoutVars>
          <dgm:chMax val="0"/>
          <dgm:chPref val="0"/>
          <dgm:bulletEnabled val="1"/>
        </dgm:presLayoutVars>
      </dgm:prSet>
      <dgm:spPr/>
    </dgm:pt>
    <dgm:pt modelId="{B828AA39-7236-5F44-A3CE-95CF56008029}" type="pres">
      <dgm:prSet presAssocID="{4AE97B03-B06B-0E40-A050-0557C2681A35}" presName="sibTrans" presStyleCnt="0"/>
      <dgm:spPr/>
    </dgm:pt>
    <dgm:pt modelId="{BD5977CC-CA96-4049-9F05-C9F8CA255157}" type="pres">
      <dgm:prSet presAssocID="{E9223896-ABBB-7C41-8876-62216AF19150}" presName="composite" presStyleCnt="0"/>
      <dgm:spPr/>
    </dgm:pt>
    <dgm:pt modelId="{F309C9A2-B758-9544-8155-B8357113C4DE}" type="pres">
      <dgm:prSet presAssocID="{E9223896-ABBB-7C41-8876-62216AF19150}" presName="bentUpArrow1" presStyleLbl="alignImgPlace1" presStyleIdx="3" presStyleCnt="4"/>
      <dgm:spPr/>
    </dgm:pt>
    <dgm:pt modelId="{573193D1-2D4E-2E4C-BB8E-A59DDDE2B591}" type="pres">
      <dgm:prSet presAssocID="{E9223896-ABBB-7C41-8876-62216AF19150}" presName="ParentText" presStyleLbl="node1" presStyleIdx="3" presStyleCnt="5">
        <dgm:presLayoutVars>
          <dgm:chMax val="1"/>
          <dgm:chPref val="1"/>
          <dgm:bulletEnabled val="1"/>
        </dgm:presLayoutVars>
      </dgm:prSet>
      <dgm:spPr/>
    </dgm:pt>
    <dgm:pt modelId="{3301070A-FF60-D040-9BE8-FC58129E599D}" type="pres">
      <dgm:prSet presAssocID="{E9223896-ABBB-7C41-8876-62216AF19150}" presName="ChildText" presStyleLbl="revTx" presStyleIdx="3" presStyleCnt="4">
        <dgm:presLayoutVars>
          <dgm:chMax val="0"/>
          <dgm:chPref val="0"/>
          <dgm:bulletEnabled val="1"/>
        </dgm:presLayoutVars>
      </dgm:prSet>
      <dgm:spPr/>
    </dgm:pt>
    <dgm:pt modelId="{BAA6CAF7-6387-C243-805E-FDDE5893913E}" type="pres">
      <dgm:prSet presAssocID="{76A9898A-4974-A443-869A-EF245C775FC3}" presName="sibTrans" presStyleCnt="0"/>
      <dgm:spPr/>
    </dgm:pt>
    <dgm:pt modelId="{8D547650-A1B2-AC47-B797-B95CF1776144}" type="pres">
      <dgm:prSet presAssocID="{371F84F2-BEF2-944E-8408-241FF4E548DA}" presName="composite" presStyleCnt="0"/>
      <dgm:spPr/>
    </dgm:pt>
    <dgm:pt modelId="{AB5E920B-98DD-954C-91CA-BF6D6F43B001}" type="pres">
      <dgm:prSet presAssocID="{371F84F2-BEF2-944E-8408-241FF4E548DA}" presName="ParentText" presStyleLbl="node1" presStyleIdx="4" presStyleCnt="5">
        <dgm:presLayoutVars>
          <dgm:chMax val="1"/>
          <dgm:chPref val="1"/>
          <dgm:bulletEnabled val="1"/>
        </dgm:presLayoutVars>
      </dgm:prSet>
      <dgm:spPr/>
    </dgm:pt>
  </dgm:ptLst>
  <dgm:cxnLst>
    <dgm:cxn modelId="{2604CC0C-1566-3443-9985-D346753BD4B2}" type="presOf" srcId="{E9223896-ABBB-7C41-8876-62216AF19150}" destId="{573193D1-2D4E-2E4C-BB8E-A59DDDE2B591}" srcOrd="0" destOrd="0" presId="urn:microsoft.com/office/officeart/2005/8/layout/StepDownProcess"/>
    <dgm:cxn modelId="{755E8D1D-CA6F-CA46-BEB3-CA3D3B2D2CA9}" type="presOf" srcId="{0B3EEA89-776D-AE4D-951F-45775682AD08}" destId="{4CDF9180-85F4-5743-8F22-FCC1ED8F98E0}" srcOrd="0" destOrd="0" presId="urn:microsoft.com/office/officeart/2005/8/layout/StepDownProcess"/>
    <dgm:cxn modelId="{6492B44E-549D-444E-B9E1-48229596AAF4}" type="presOf" srcId="{71A6B345-E40C-7845-AFC4-56D9286FD23D}" destId="{23CE332D-F3B8-3247-8420-9827AFAC6D37}" srcOrd="0" destOrd="0" presId="urn:microsoft.com/office/officeart/2005/8/layout/StepDownProcess"/>
    <dgm:cxn modelId="{1FFD9A58-D422-D646-B6A1-9D5D7EFF5404}" type="presOf" srcId="{5CE8AEF9-95AB-5B40-9E47-A9B5EFAB4612}" destId="{105AB784-B08B-4840-AC2F-28DDCCCA7DC4}" srcOrd="0" destOrd="0" presId="urn:microsoft.com/office/officeart/2005/8/layout/StepDownProcess"/>
    <dgm:cxn modelId="{1155C459-D73D-994C-B132-1DB0491CD897}" srcId="{E32CA4B6-4BB7-6243-8007-C195883350F1}" destId="{0B3EEA89-776D-AE4D-951F-45775682AD08}" srcOrd="2" destOrd="0" parTransId="{497C2ED5-984C-D748-BC1B-B93C685DA652}" sibTransId="{4AE97B03-B06B-0E40-A050-0557C2681A35}"/>
    <dgm:cxn modelId="{830775B6-6752-2045-9898-1F95E2119FB7}" srcId="{E32CA4B6-4BB7-6243-8007-C195883350F1}" destId="{71A6B345-E40C-7845-AFC4-56D9286FD23D}" srcOrd="1" destOrd="0" parTransId="{F22DD840-374B-4E40-94EE-18BDF3B35881}" sibTransId="{3C85B3C8-C097-784B-9D7E-3C5ADF9828E8}"/>
    <dgm:cxn modelId="{DCBC6CBC-0F26-1E41-8B5E-13C7985876AD}" srcId="{E32CA4B6-4BB7-6243-8007-C195883350F1}" destId="{E9223896-ABBB-7C41-8876-62216AF19150}" srcOrd="3" destOrd="0" parTransId="{90F7FF5A-1253-8840-8A42-0334442E5D69}" sibTransId="{76A9898A-4974-A443-869A-EF245C775FC3}"/>
    <dgm:cxn modelId="{88B87CC1-FF78-3247-9A4E-56561153E02B}" type="presOf" srcId="{E32CA4B6-4BB7-6243-8007-C195883350F1}" destId="{5D2F9FF3-45CE-4246-B218-5C7427F53065}" srcOrd="0" destOrd="0" presId="urn:microsoft.com/office/officeart/2005/8/layout/StepDownProcess"/>
    <dgm:cxn modelId="{6567CCCB-4DBB-134C-987F-B42142739CF8}" type="presOf" srcId="{371F84F2-BEF2-944E-8408-241FF4E548DA}" destId="{AB5E920B-98DD-954C-91CA-BF6D6F43B001}" srcOrd="0" destOrd="0" presId="urn:microsoft.com/office/officeart/2005/8/layout/StepDownProcess"/>
    <dgm:cxn modelId="{555260D6-F277-FE4E-8CBE-615D4296943E}" srcId="{E32CA4B6-4BB7-6243-8007-C195883350F1}" destId="{371F84F2-BEF2-944E-8408-241FF4E548DA}" srcOrd="4" destOrd="0" parTransId="{9B93B9BA-4991-8946-86E8-9DA57B9F8E09}" sibTransId="{799958F5-6787-3342-8EE2-962CD6894C31}"/>
    <dgm:cxn modelId="{7EDF5BE1-4839-6749-B45C-C27226DBA470}" srcId="{E32CA4B6-4BB7-6243-8007-C195883350F1}" destId="{5CE8AEF9-95AB-5B40-9E47-A9B5EFAB4612}" srcOrd="0" destOrd="0" parTransId="{9DB6CD65-5232-B548-BC34-824598586AF5}" sibTransId="{803013AD-3AA0-BD4D-B243-7E07DA1854EA}"/>
    <dgm:cxn modelId="{ED46FAF2-D37F-B24A-95E6-C5662116399C}" type="presParOf" srcId="{5D2F9FF3-45CE-4246-B218-5C7427F53065}" destId="{CFCDB7C1-D00E-974B-AF4E-95775E9EFA7D}" srcOrd="0" destOrd="0" presId="urn:microsoft.com/office/officeart/2005/8/layout/StepDownProcess"/>
    <dgm:cxn modelId="{E943681C-524B-0A4D-97DE-F6A56D4D0E3D}" type="presParOf" srcId="{CFCDB7C1-D00E-974B-AF4E-95775E9EFA7D}" destId="{BF6EC090-73C9-F84E-BD62-8C8B34F3C498}" srcOrd="0" destOrd="0" presId="urn:microsoft.com/office/officeart/2005/8/layout/StepDownProcess"/>
    <dgm:cxn modelId="{462AF69D-723C-F941-8A60-98313709023A}" type="presParOf" srcId="{CFCDB7C1-D00E-974B-AF4E-95775E9EFA7D}" destId="{105AB784-B08B-4840-AC2F-28DDCCCA7DC4}" srcOrd="1" destOrd="0" presId="urn:microsoft.com/office/officeart/2005/8/layout/StepDownProcess"/>
    <dgm:cxn modelId="{202FF92A-ADFF-C841-9730-49062271A097}" type="presParOf" srcId="{CFCDB7C1-D00E-974B-AF4E-95775E9EFA7D}" destId="{05E8A74A-E91C-FE48-94A5-B6A70962CFE6}" srcOrd="2" destOrd="0" presId="urn:microsoft.com/office/officeart/2005/8/layout/StepDownProcess"/>
    <dgm:cxn modelId="{A7358E0E-0E14-FF4B-8CD7-5336DC60BE58}" type="presParOf" srcId="{5D2F9FF3-45CE-4246-B218-5C7427F53065}" destId="{D303F4A1-E418-5242-AEE5-C1C36E291DBB}" srcOrd="1" destOrd="0" presId="urn:microsoft.com/office/officeart/2005/8/layout/StepDownProcess"/>
    <dgm:cxn modelId="{F8D3A2B1-D699-F846-BA18-5B6C62B0DE16}" type="presParOf" srcId="{5D2F9FF3-45CE-4246-B218-5C7427F53065}" destId="{6F6DFB3A-C3EC-9A46-A89C-64CD946255C3}" srcOrd="2" destOrd="0" presId="urn:microsoft.com/office/officeart/2005/8/layout/StepDownProcess"/>
    <dgm:cxn modelId="{BF642790-4BE5-044C-AA7C-CCB9A36E5AC9}" type="presParOf" srcId="{6F6DFB3A-C3EC-9A46-A89C-64CD946255C3}" destId="{13238F4D-1565-6A46-964E-611F3C5327C4}" srcOrd="0" destOrd="0" presId="urn:microsoft.com/office/officeart/2005/8/layout/StepDownProcess"/>
    <dgm:cxn modelId="{48393926-1970-7C44-8F4C-FF41CA43A479}" type="presParOf" srcId="{6F6DFB3A-C3EC-9A46-A89C-64CD946255C3}" destId="{23CE332D-F3B8-3247-8420-9827AFAC6D37}" srcOrd="1" destOrd="0" presId="urn:microsoft.com/office/officeart/2005/8/layout/StepDownProcess"/>
    <dgm:cxn modelId="{BCCBF911-3F66-1E40-BCC8-9C97E52E8AF2}" type="presParOf" srcId="{6F6DFB3A-C3EC-9A46-A89C-64CD946255C3}" destId="{F52A83D1-E369-2B49-B468-707A6450986C}" srcOrd="2" destOrd="0" presId="urn:microsoft.com/office/officeart/2005/8/layout/StepDownProcess"/>
    <dgm:cxn modelId="{8480CE71-4878-8847-8EE4-E53D466929E0}" type="presParOf" srcId="{5D2F9FF3-45CE-4246-B218-5C7427F53065}" destId="{241329F9-7B71-FB41-BDAB-9772C4546683}" srcOrd="3" destOrd="0" presId="urn:microsoft.com/office/officeart/2005/8/layout/StepDownProcess"/>
    <dgm:cxn modelId="{D9AB5A6C-84B0-3D4D-9A10-27A1742FA37F}" type="presParOf" srcId="{5D2F9FF3-45CE-4246-B218-5C7427F53065}" destId="{EAC43B84-3B18-F849-B72A-F28F22BA444D}" srcOrd="4" destOrd="0" presId="urn:microsoft.com/office/officeart/2005/8/layout/StepDownProcess"/>
    <dgm:cxn modelId="{310173B0-0742-EB4A-AEFA-2B2162DC89CE}" type="presParOf" srcId="{EAC43B84-3B18-F849-B72A-F28F22BA444D}" destId="{DC664268-A230-FD43-A201-D1AAFA8C8CB9}" srcOrd="0" destOrd="0" presId="urn:microsoft.com/office/officeart/2005/8/layout/StepDownProcess"/>
    <dgm:cxn modelId="{EAC8F8F7-8D9C-8D4F-96EF-63F93B17974C}" type="presParOf" srcId="{EAC43B84-3B18-F849-B72A-F28F22BA444D}" destId="{4CDF9180-85F4-5743-8F22-FCC1ED8F98E0}" srcOrd="1" destOrd="0" presId="urn:microsoft.com/office/officeart/2005/8/layout/StepDownProcess"/>
    <dgm:cxn modelId="{99C996F2-0D5E-E64A-8D4F-3529BE07FE23}" type="presParOf" srcId="{EAC43B84-3B18-F849-B72A-F28F22BA444D}" destId="{49AD0523-3A1E-4840-B020-8E4E67B288E2}" srcOrd="2" destOrd="0" presId="urn:microsoft.com/office/officeart/2005/8/layout/StepDownProcess"/>
    <dgm:cxn modelId="{906D7626-B483-DA49-8862-831983D78F1C}" type="presParOf" srcId="{5D2F9FF3-45CE-4246-B218-5C7427F53065}" destId="{B828AA39-7236-5F44-A3CE-95CF56008029}" srcOrd="5" destOrd="0" presId="urn:microsoft.com/office/officeart/2005/8/layout/StepDownProcess"/>
    <dgm:cxn modelId="{ABEA5753-2C8E-3B45-83AA-43E19E6B926E}" type="presParOf" srcId="{5D2F9FF3-45CE-4246-B218-5C7427F53065}" destId="{BD5977CC-CA96-4049-9F05-C9F8CA255157}" srcOrd="6" destOrd="0" presId="urn:microsoft.com/office/officeart/2005/8/layout/StepDownProcess"/>
    <dgm:cxn modelId="{FB91630F-6D7D-6E4F-A9BC-208C8C15F0E6}" type="presParOf" srcId="{BD5977CC-CA96-4049-9F05-C9F8CA255157}" destId="{F309C9A2-B758-9544-8155-B8357113C4DE}" srcOrd="0" destOrd="0" presId="urn:microsoft.com/office/officeart/2005/8/layout/StepDownProcess"/>
    <dgm:cxn modelId="{EDDDFEF8-873E-1C40-B64F-B85278D8B8C2}" type="presParOf" srcId="{BD5977CC-CA96-4049-9F05-C9F8CA255157}" destId="{573193D1-2D4E-2E4C-BB8E-A59DDDE2B591}" srcOrd="1" destOrd="0" presId="urn:microsoft.com/office/officeart/2005/8/layout/StepDownProcess"/>
    <dgm:cxn modelId="{B1F4BFC4-E495-1645-B0AE-AF1E0ABBDB7D}" type="presParOf" srcId="{BD5977CC-CA96-4049-9F05-C9F8CA255157}" destId="{3301070A-FF60-D040-9BE8-FC58129E599D}" srcOrd="2" destOrd="0" presId="urn:microsoft.com/office/officeart/2005/8/layout/StepDownProcess"/>
    <dgm:cxn modelId="{D5B3C781-D8E1-4247-AF9A-27897BC8D47D}" type="presParOf" srcId="{5D2F9FF3-45CE-4246-B218-5C7427F53065}" destId="{BAA6CAF7-6387-C243-805E-FDDE5893913E}" srcOrd="7" destOrd="0" presId="urn:microsoft.com/office/officeart/2005/8/layout/StepDownProcess"/>
    <dgm:cxn modelId="{B5FF12AB-ED42-9642-A64F-07414BFF6DD2}" type="presParOf" srcId="{5D2F9FF3-45CE-4246-B218-5C7427F53065}" destId="{8D547650-A1B2-AC47-B797-B95CF1776144}" srcOrd="8" destOrd="0" presId="urn:microsoft.com/office/officeart/2005/8/layout/StepDownProcess"/>
    <dgm:cxn modelId="{3C165DD0-5FEB-1D41-86E9-75775E8FE2AE}" type="presParOf" srcId="{8D547650-A1B2-AC47-B797-B95CF1776144}" destId="{AB5E920B-98DD-954C-91CA-BF6D6F43B001}" srcOrd="0" destOrd="0" presId="urn:microsoft.com/office/officeart/2005/8/layout/StepDownProcess"/>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CB60A737-1519-DC48-81B7-562FEF72B727}" type="doc">
      <dgm:prSet loTypeId="urn:microsoft.com/office/officeart/2005/8/layout/process5" loCatId="" qsTypeId="urn:microsoft.com/office/officeart/2005/8/quickstyle/simple1" qsCatId="simple" csTypeId="urn:microsoft.com/office/officeart/2005/8/colors/accent1_2" csCatId="accent1" phldr="1"/>
      <dgm:spPr/>
      <dgm:t>
        <a:bodyPr/>
        <a:lstStyle/>
        <a:p>
          <a:endParaRPr lang="en-US"/>
        </a:p>
      </dgm:t>
    </dgm:pt>
    <dgm:pt modelId="{D1DCE460-7579-DA4A-A970-ED1BBC588CAA}">
      <dgm:prSet phldrT="[Text]"/>
      <dgm:spPr/>
      <dgm:t>
        <a:bodyPr/>
        <a:lstStyle/>
        <a:p>
          <a:r>
            <a:rPr lang="en-US" dirty="0"/>
            <a:t>TF-IDF Logistic Regression</a:t>
          </a:r>
        </a:p>
      </dgm:t>
    </dgm:pt>
    <dgm:pt modelId="{3C2AE87D-1F70-2B48-9259-24B597335E0D}" type="parTrans" cxnId="{C8C7A563-6019-0B4D-B4C2-E06AFC238269}">
      <dgm:prSet/>
      <dgm:spPr/>
      <dgm:t>
        <a:bodyPr/>
        <a:lstStyle/>
        <a:p>
          <a:endParaRPr lang="en-US"/>
        </a:p>
      </dgm:t>
    </dgm:pt>
    <dgm:pt modelId="{7B968091-9754-F747-8095-F45BAD2D878B}" type="sibTrans" cxnId="{C8C7A563-6019-0B4D-B4C2-E06AFC238269}">
      <dgm:prSet/>
      <dgm:spPr/>
      <dgm:t>
        <a:bodyPr/>
        <a:lstStyle/>
        <a:p>
          <a:endParaRPr lang="en-US"/>
        </a:p>
      </dgm:t>
    </dgm:pt>
    <dgm:pt modelId="{325DF43F-D70A-DF4A-B4A5-0D57E0FA28BC}">
      <dgm:prSet phldrT="[Text]"/>
      <dgm:spPr/>
      <dgm:t>
        <a:bodyPr/>
        <a:lstStyle/>
        <a:p>
          <a:r>
            <a:rPr lang="en-US" dirty="0"/>
            <a:t>Parameter Grid</a:t>
          </a:r>
        </a:p>
      </dgm:t>
    </dgm:pt>
    <dgm:pt modelId="{0E0040A1-79BC-D548-A443-B0ECB6CBC1BD}" type="parTrans" cxnId="{62BAE56C-3716-4545-917C-0FF799D92C5B}">
      <dgm:prSet/>
      <dgm:spPr/>
      <dgm:t>
        <a:bodyPr/>
        <a:lstStyle/>
        <a:p>
          <a:endParaRPr lang="en-US"/>
        </a:p>
      </dgm:t>
    </dgm:pt>
    <dgm:pt modelId="{50630A00-47E3-AF40-8DF1-ADD341C2C7C7}" type="sibTrans" cxnId="{62BAE56C-3716-4545-917C-0FF799D92C5B}">
      <dgm:prSet/>
      <dgm:spPr/>
      <dgm:t>
        <a:bodyPr/>
        <a:lstStyle/>
        <a:p>
          <a:endParaRPr lang="en-US"/>
        </a:p>
      </dgm:t>
    </dgm:pt>
    <dgm:pt modelId="{A05F9680-854B-0B41-8D47-90394A58EA8D}">
      <dgm:prSet phldrT="[Text]"/>
      <dgm:spPr/>
      <dgm:t>
        <a:bodyPr/>
        <a:lstStyle/>
        <a:p>
          <a:r>
            <a:rPr lang="en-US" dirty="0"/>
            <a:t>5-Fold Stratified Cross-Validation</a:t>
          </a:r>
        </a:p>
      </dgm:t>
    </dgm:pt>
    <dgm:pt modelId="{F970442B-0453-E548-854B-2FCC8CBA67FE}" type="parTrans" cxnId="{EA37F5A2-C47E-C843-AF49-12045485E6E2}">
      <dgm:prSet/>
      <dgm:spPr/>
      <dgm:t>
        <a:bodyPr/>
        <a:lstStyle/>
        <a:p>
          <a:endParaRPr lang="en-US"/>
        </a:p>
      </dgm:t>
    </dgm:pt>
    <dgm:pt modelId="{922D94C1-3747-C94B-A091-14A2C755EC8C}" type="sibTrans" cxnId="{EA37F5A2-C47E-C843-AF49-12045485E6E2}">
      <dgm:prSet/>
      <dgm:spPr/>
      <dgm:t>
        <a:bodyPr/>
        <a:lstStyle/>
        <a:p>
          <a:endParaRPr lang="en-US"/>
        </a:p>
      </dgm:t>
    </dgm:pt>
    <dgm:pt modelId="{9AA245D6-3F4D-9A41-8354-68545A255847}">
      <dgm:prSet phldrT="[Text]"/>
      <dgm:spPr/>
      <dgm:t>
        <a:bodyPr/>
        <a:lstStyle/>
        <a:p>
          <a:r>
            <a:rPr lang="en-US" dirty="0"/>
            <a:t>Select Optimal Model</a:t>
          </a:r>
        </a:p>
      </dgm:t>
    </dgm:pt>
    <dgm:pt modelId="{11019C4C-3A65-814B-B735-B0EDC89C729D}" type="parTrans" cxnId="{5D2C0039-B786-0343-B629-E2E7CEBF12F1}">
      <dgm:prSet/>
      <dgm:spPr/>
      <dgm:t>
        <a:bodyPr/>
        <a:lstStyle/>
        <a:p>
          <a:endParaRPr lang="en-US"/>
        </a:p>
      </dgm:t>
    </dgm:pt>
    <dgm:pt modelId="{F5589BAE-A7AF-6A4F-A6A0-A774D1F9847C}" type="sibTrans" cxnId="{5D2C0039-B786-0343-B629-E2E7CEBF12F1}">
      <dgm:prSet/>
      <dgm:spPr/>
      <dgm:t>
        <a:bodyPr/>
        <a:lstStyle/>
        <a:p>
          <a:endParaRPr lang="en-US"/>
        </a:p>
      </dgm:t>
    </dgm:pt>
    <dgm:pt modelId="{52163AB6-2698-024A-8761-31861F921A6D}">
      <dgm:prSet phldrT="[Text]"/>
      <dgm:spPr/>
      <dgm:t>
        <a:bodyPr/>
        <a:lstStyle/>
        <a:p>
          <a:r>
            <a:rPr lang="en-US" dirty="0"/>
            <a:t>120 Parameter Combinations</a:t>
          </a:r>
        </a:p>
      </dgm:t>
    </dgm:pt>
    <dgm:pt modelId="{28928D71-AA10-1142-B820-62573651982D}" type="parTrans" cxnId="{6B9D22B7-C7E8-C543-B5AD-83043D7A3742}">
      <dgm:prSet/>
      <dgm:spPr/>
      <dgm:t>
        <a:bodyPr/>
        <a:lstStyle/>
        <a:p>
          <a:endParaRPr lang="en-US"/>
        </a:p>
      </dgm:t>
    </dgm:pt>
    <dgm:pt modelId="{FC3675BE-5352-D14F-A63E-DD3CE8BAF178}" type="sibTrans" cxnId="{6B9D22B7-C7E8-C543-B5AD-83043D7A3742}">
      <dgm:prSet/>
      <dgm:spPr/>
      <dgm:t>
        <a:bodyPr/>
        <a:lstStyle/>
        <a:p>
          <a:endParaRPr lang="en-US"/>
        </a:p>
      </dgm:t>
    </dgm:pt>
    <dgm:pt modelId="{17C6EA0B-B51A-5D40-9607-A3D8AA7CC0E3}">
      <dgm:prSet phldrT="[Text]"/>
      <dgm:spPr/>
      <dgm:t>
        <a:bodyPr/>
        <a:lstStyle/>
        <a:p>
          <a:r>
            <a:rPr lang="en-US" dirty="0"/>
            <a:t>Highest Macro F1</a:t>
          </a:r>
        </a:p>
      </dgm:t>
    </dgm:pt>
    <dgm:pt modelId="{A9F5F2F7-6E39-DF40-BB38-9FB75EF55957}" type="parTrans" cxnId="{AD1C2602-FF56-B24D-A829-ECDDC0D0879B}">
      <dgm:prSet/>
      <dgm:spPr/>
      <dgm:t>
        <a:bodyPr/>
        <a:lstStyle/>
        <a:p>
          <a:endParaRPr lang="en-US"/>
        </a:p>
      </dgm:t>
    </dgm:pt>
    <dgm:pt modelId="{5F67515A-81B8-1444-ADE3-B955D465869F}" type="sibTrans" cxnId="{AD1C2602-FF56-B24D-A829-ECDDC0D0879B}">
      <dgm:prSet/>
      <dgm:spPr/>
      <dgm:t>
        <a:bodyPr/>
        <a:lstStyle/>
        <a:p>
          <a:endParaRPr lang="en-US"/>
        </a:p>
      </dgm:t>
    </dgm:pt>
    <dgm:pt modelId="{E71CCDAC-65A1-7E49-9085-8918C9F59AAB}" type="pres">
      <dgm:prSet presAssocID="{CB60A737-1519-DC48-81B7-562FEF72B727}" presName="diagram" presStyleCnt="0">
        <dgm:presLayoutVars>
          <dgm:dir/>
          <dgm:resizeHandles val="exact"/>
        </dgm:presLayoutVars>
      </dgm:prSet>
      <dgm:spPr/>
    </dgm:pt>
    <dgm:pt modelId="{A6622106-7317-9A41-93CC-B8740ABB532A}" type="pres">
      <dgm:prSet presAssocID="{D1DCE460-7579-DA4A-A970-ED1BBC588CAA}" presName="node" presStyleLbl="node1" presStyleIdx="0" presStyleCnt="4">
        <dgm:presLayoutVars>
          <dgm:bulletEnabled val="1"/>
        </dgm:presLayoutVars>
      </dgm:prSet>
      <dgm:spPr/>
    </dgm:pt>
    <dgm:pt modelId="{AABCA12E-04DA-464C-801D-D98015F1F59D}" type="pres">
      <dgm:prSet presAssocID="{7B968091-9754-F747-8095-F45BAD2D878B}" presName="sibTrans" presStyleLbl="sibTrans2D1" presStyleIdx="0" presStyleCnt="3"/>
      <dgm:spPr/>
    </dgm:pt>
    <dgm:pt modelId="{16214C22-BD4C-4742-92B0-FBD3BB8FA60C}" type="pres">
      <dgm:prSet presAssocID="{7B968091-9754-F747-8095-F45BAD2D878B}" presName="connectorText" presStyleLbl="sibTrans2D1" presStyleIdx="0" presStyleCnt="3"/>
      <dgm:spPr/>
    </dgm:pt>
    <dgm:pt modelId="{7F1BEE40-2803-7345-B23C-5987F4ECA68C}" type="pres">
      <dgm:prSet presAssocID="{325DF43F-D70A-DF4A-B4A5-0D57E0FA28BC}" presName="node" presStyleLbl="node1" presStyleIdx="1" presStyleCnt="4">
        <dgm:presLayoutVars>
          <dgm:bulletEnabled val="1"/>
        </dgm:presLayoutVars>
      </dgm:prSet>
      <dgm:spPr/>
    </dgm:pt>
    <dgm:pt modelId="{9C0FA56A-9507-424E-8A30-FB94EBF79465}" type="pres">
      <dgm:prSet presAssocID="{50630A00-47E3-AF40-8DF1-ADD341C2C7C7}" presName="sibTrans" presStyleLbl="sibTrans2D1" presStyleIdx="1" presStyleCnt="3"/>
      <dgm:spPr/>
    </dgm:pt>
    <dgm:pt modelId="{2D04D80E-CBBE-7B49-9B97-7881EB90721E}" type="pres">
      <dgm:prSet presAssocID="{50630A00-47E3-AF40-8DF1-ADD341C2C7C7}" presName="connectorText" presStyleLbl="sibTrans2D1" presStyleIdx="1" presStyleCnt="3"/>
      <dgm:spPr/>
    </dgm:pt>
    <dgm:pt modelId="{CA28B3B5-03D5-8340-9072-F4254FD9666A}" type="pres">
      <dgm:prSet presAssocID="{A05F9680-854B-0B41-8D47-90394A58EA8D}" presName="node" presStyleLbl="node1" presStyleIdx="2" presStyleCnt="4">
        <dgm:presLayoutVars>
          <dgm:bulletEnabled val="1"/>
        </dgm:presLayoutVars>
      </dgm:prSet>
      <dgm:spPr/>
    </dgm:pt>
    <dgm:pt modelId="{F76FE272-D29C-BB45-9934-E49F9D5B8FE2}" type="pres">
      <dgm:prSet presAssocID="{922D94C1-3747-C94B-A091-14A2C755EC8C}" presName="sibTrans" presStyleLbl="sibTrans2D1" presStyleIdx="2" presStyleCnt="3"/>
      <dgm:spPr/>
    </dgm:pt>
    <dgm:pt modelId="{BB405C2B-33A1-4A4E-8162-410E69B7712D}" type="pres">
      <dgm:prSet presAssocID="{922D94C1-3747-C94B-A091-14A2C755EC8C}" presName="connectorText" presStyleLbl="sibTrans2D1" presStyleIdx="2" presStyleCnt="3"/>
      <dgm:spPr/>
    </dgm:pt>
    <dgm:pt modelId="{51CC654E-E6A6-444C-872F-F690362DF9D0}" type="pres">
      <dgm:prSet presAssocID="{9AA245D6-3F4D-9A41-8354-68545A255847}" presName="node" presStyleLbl="node1" presStyleIdx="3" presStyleCnt="4">
        <dgm:presLayoutVars>
          <dgm:bulletEnabled val="1"/>
        </dgm:presLayoutVars>
      </dgm:prSet>
      <dgm:spPr/>
    </dgm:pt>
  </dgm:ptLst>
  <dgm:cxnLst>
    <dgm:cxn modelId="{AD1C2602-FF56-B24D-A829-ECDDC0D0879B}" srcId="{9AA245D6-3F4D-9A41-8354-68545A255847}" destId="{17C6EA0B-B51A-5D40-9607-A3D8AA7CC0E3}" srcOrd="0" destOrd="0" parTransId="{A9F5F2F7-6E39-DF40-BB38-9FB75EF55957}" sibTransId="{5F67515A-81B8-1444-ADE3-B955D465869F}"/>
    <dgm:cxn modelId="{72FCF211-BE31-3943-B106-9A05E0FD0667}" type="presOf" srcId="{A05F9680-854B-0B41-8D47-90394A58EA8D}" destId="{CA28B3B5-03D5-8340-9072-F4254FD9666A}" srcOrd="0" destOrd="0" presId="urn:microsoft.com/office/officeart/2005/8/layout/process5"/>
    <dgm:cxn modelId="{5D2C0039-B786-0343-B629-E2E7CEBF12F1}" srcId="{CB60A737-1519-DC48-81B7-562FEF72B727}" destId="{9AA245D6-3F4D-9A41-8354-68545A255847}" srcOrd="3" destOrd="0" parTransId="{11019C4C-3A65-814B-B735-B0EDC89C729D}" sibTransId="{F5589BAE-A7AF-6A4F-A6A0-A774D1F9847C}"/>
    <dgm:cxn modelId="{C1402547-E5C1-224B-B545-C0DAA5042344}" type="presOf" srcId="{7B968091-9754-F747-8095-F45BAD2D878B}" destId="{16214C22-BD4C-4742-92B0-FBD3BB8FA60C}" srcOrd="1" destOrd="0" presId="urn:microsoft.com/office/officeart/2005/8/layout/process5"/>
    <dgm:cxn modelId="{B275C64B-5A44-124A-9B25-ACA2C9ACB939}" type="presOf" srcId="{CB60A737-1519-DC48-81B7-562FEF72B727}" destId="{E71CCDAC-65A1-7E49-9085-8918C9F59AAB}" srcOrd="0" destOrd="0" presId="urn:microsoft.com/office/officeart/2005/8/layout/process5"/>
    <dgm:cxn modelId="{809EE55F-06DB-9942-B743-F495D71E9CEF}" type="presOf" srcId="{D1DCE460-7579-DA4A-A970-ED1BBC588CAA}" destId="{A6622106-7317-9A41-93CC-B8740ABB532A}" srcOrd="0" destOrd="0" presId="urn:microsoft.com/office/officeart/2005/8/layout/process5"/>
    <dgm:cxn modelId="{C8C7A563-6019-0B4D-B4C2-E06AFC238269}" srcId="{CB60A737-1519-DC48-81B7-562FEF72B727}" destId="{D1DCE460-7579-DA4A-A970-ED1BBC588CAA}" srcOrd="0" destOrd="0" parTransId="{3C2AE87D-1F70-2B48-9259-24B597335E0D}" sibTransId="{7B968091-9754-F747-8095-F45BAD2D878B}"/>
    <dgm:cxn modelId="{62BAE56C-3716-4545-917C-0FF799D92C5B}" srcId="{CB60A737-1519-DC48-81B7-562FEF72B727}" destId="{325DF43F-D70A-DF4A-B4A5-0D57E0FA28BC}" srcOrd="1" destOrd="0" parTransId="{0E0040A1-79BC-D548-A443-B0ECB6CBC1BD}" sibTransId="{50630A00-47E3-AF40-8DF1-ADD341C2C7C7}"/>
    <dgm:cxn modelId="{3DE62177-E8BC-FA4E-BBD5-AF087F574F7F}" type="presOf" srcId="{9AA245D6-3F4D-9A41-8354-68545A255847}" destId="{51CC654E-E6A6-444C-872F-F690362DF9D0}" srcOrd="0" destOrd="0" presId="urn:microsoft.com/office/officeart/2005/8/layout/process5"/>
    <dgm:cxn modelId="{87A50D7C-8C5C-0445-B13D-550C2181A23F}" type="presOf" srcId="{52163AB6-2698-024A-8761-31861F921A6D}" destId="{7F1BEE40-2803-7345-B23C-5987F4ECA68C}" srcOrd="0" destOrd="1" presId="urn:microsoft.com/office/officeart/2005/8/layout/process5"/>
    <dgm:cxn modelId="{83736199-F315-1D4D-8CBF-B80EE2F472E3}" type="presOf" srcId="{922D94C1-3747-C94B-A091-14A2C755EC8C}" destId="{F76FE272-D29C-BB45-9934-E49F9D5B8FE2}" srcOrd="0" destOrd="0" presId="urn:microsoft.com/office/officeart/2005/8/layout/process5"/>
    <dgm:cxn modelId="{EA37F5A2-C47E-C843-AF49-12045485E6E2}" srcId="{CB60A737-1519-DC48-81B7-562FEF72B727}" destId="{A05F9680-854B-0B41-8D47-90394A58EA8D}" srcOrd="2" destOrd="0" parTransId="{F970442B-0453-E548-854B-2FCC8CBA67FE}" sibTransId="{922D94C1-3747-C94B-A091-14A2C755EC8C}"/>
    <dgm:cxn modelId="{7573B2AB-5C2D-0E4D-8FD6-295ACE00F63A}" type="presOf" srcId="{50630A00-47E3-AF40-8DF1-ADD341C2C7C7}" destId="{2D04D80E-CBBE-7B49-9B97-7881EB90721E}" srcOrd="1" destOrd="0" presId="urn:microsoft.com/office/officeart/2005/8/layout/process5"/>
    <dgm:cxn modelId="{6B9D22B7-C7E8-C543-B5AD-83043D7A3742}" srcId="{325DF43F-D70A-DF4A-B4A5-0D57E0FA28BC}" destId="{52163AB6-2698-024A-8761-31861F921A6D}" srcOrd="0" destOrd="0" parTransId="{28928D71-AA10-1142-B820-62573651982D}" sibTransId="{FC3675BE-5352-D14F-A63E-DD3CE8BAF178}"/>
    <dgm:cxn modelId="{DBB837BF-8AE1-B54F-BCE4-863BA4ACA253}" type="presOf" srcId="{17C6EA0B-B51A-5D40-9607-A3D8AA7CC0E3}" destId="{51CC654E-E6A6-444C-872F-F690362DF9D0}" srcOrd="0" destOrd="1" presId="urn:microsoft.com/office/officeart/2005/8/layout/process5"/>
    <dgm:cxn modelId="{51E13CDE-86A2-A44A-A451-0866FFA32448}" type="presOf" srcId="{7B968091-9754-F747-8095-F45BAD2D878B}" destId="{AABCA12E-04DA-464C-801D-D98015F1F59D}" srcOrd="0" destOrd="0" presId="urn:microsoft.com/office/officeart/2005/8/layout/process5"/>
    <dgm:cxn modelId="{DEC2F0E0-1D9C-304E-8B51-BA438DCA1033}" type="presOf" srcId="{50630A00-47E3-AF40-8DF1-ADD341C2C7C7}" destId="{9C0FA56A-9507-424E-8A30-FB94EBF79465}" srcOrd="0" destOrd="0" presId="urn:microsoft.com/office/officeart/2005/8/layout/process5"/>
    <dgm:cxn modelId="{A49204E5-19C4-054B-A6C5-725BE16B3CB7}" type="presOf" srcId="{922D94C1-3747-C94B-A091-14A2C755EC8C}" destId="{BB405C2B-33A1-4A4E-8162-410E69B7712D}" srcOrd="1" destOrd="0" presId="urn:microsoft.com/office/officeart/2005/8/layout/process5"/>
    <dgm:cxn modelId="{9D32AFEC-6D2E-0D4D-894C-E15FAC7E15AB}" type="presOf" srcId="{325DF43F-D70A-DF4A-B4A5-0D57E0FA28BC}" destId="{7F1BEE40-2803-7345-B23C-5987F4ECA68C}" srcOrd="0" destOrd="0" presId="urn:microsoft.com/office/officeart/2005/8/layout/process5"/>
    <dgm:cxn modelId="{53ACF918-F586-A044-A122-C42D91C992DD}" type="presParOf" srcId="{E71CCDAC-65A1-7E49-9085-8918C9F59AAB}" destId="{A6622106-7317-9A41-93CC-B8740ABB532A}" srcOrd="0" destOrd="0" presId="urn:microsoft.com/office/officeart/2005/8/layout/process5"/>
    <dgm:cxn modelId="{BF9CCA9A-1F4D-6548-9E41-15FC542E73C3}" type="presParOf" srcId="{E71CCDAC-65A1-7E49-9085-8918C9F59AAB}" destId="{AABCA12E-04DA-464C-801D-D98015F1F59D}" srcOrd="1" destOrd="0" presId="urn:microsoft.com/office/officeart/2005/8/layout/process5"/>
    <dgm:cxn modelId="{951C91C6-BFFC-B449-9AE7-DD666E8DB63A}" type="presParOf" srcId="{AABCA12E-04DA-464C-801D-D98015F1F59D}" destId="{16214C22-BD4C-4742-92B0-FBD3BB8FA60C}" srcOrd="0" destOrd="0" presId="urn:microsoft.com/office/officeart/2005/8/layout/process5"/>
    <dgm:cxn modelId="{7C3D1A03-3184-9444-9321-92BA21BD4F53}" type="presParOf" srcId="{E71CCDAC-65A1-7E49-9085-8918C9F59AAB}" destId="{7F1BEE40-2803-7345-B23C-5987F4ECA68C}" srcOrd="2" destOrd="0" presId="urn:microsoft.com/office/officeart/2005/8/layout/process5"/>
    <dgm:cxn modelId="{71086147-5CAB-1748-8214-09F69C04315E}" type="presParOf" srcId="{E71CCDAC-65A1-7E49-9085-8918C9F59AAB}" destId="{9C0FA56A-9507-424E-8A30-FB94EBF79465}" srcOrd="3" destOrd="0" presId="urn:microsoft.com/office/officeart/2005/8/layout/process5"/>
    <dgm:cxn modelId="{3A716F06-1703-C845-9B9A-87D1646A9C0D}" type="presParOf" srcId="{9C0FA56A-9507-424E-8A30-FB94EBF79465}" destId="{2D04D80E-CBBE-7B49-9B97-7881EB90721E}" srcOrd="0" destOrd="0" presId="urn:microsoft.com/office/officeart/2005/8/layout/process5"/>
    <dgm:cxn modelId="{14DA508E-569E-F94F-83A6-C5B2222DF68A}" type="presParOf" srcId="{E71CCDAC-65A1-7E49-9085-8918C9F59AAB}" destId="{CA28B3B5-03D5-8340-9072-F4254FD9666A}" srcOrd="4" destOrd="0" presId="urn:microsoft.com/office/officeart/2005/8/layout/process5"/>
    <dgm:cxn modelId="{0E6B6618-9695-A440-BDDB-767060D7D0A2}" type="presParOf" srcId="{E71CCDAC-65A1-7E49-9085-8918C9F59AAB}" destId="{F76FE272-D29C-BB45-9934-E49F9D5B8FE2}" srcOrd="5" destOrd="0" presId="urn:microsoft.com/office/officeart/2005/8/layout/process5"/>
    <dgm:cxn modelId="{BAAC4180-0E2F-B948-A483-D53E7B999C1B}" type="presParOf" srcId="{F76FE272-D29C-BB45-9934-E49F9D5B8FE2}" destId="{BB405C2B-33A1-4A4E-8162-410E69B7712D}" srcOrd="0" destOrd="0" presId="urn:microsoft.com/office/officeart/2005/8/layout/process5"/>
    <dgm:cxn modelId="{073AE666-AA04-C746-A361-3A5046B8C362}" type="presParOf" srcId="{E71CCDAC-65A1-7E49-9085-8918C9F59AAB}" destId="{51CC654E-E6A6-444C-872F-F690362DF9D0}" srcOrd="6" destOrd="0" presId="urn:microsoft.com/office/officeart/2005/8/layout/process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D04D484-EB24-B948-BA13-111A2C931D07}">
      <dsp:nvSpPr>
        <dsp:cNvPr id="0" name=""/>
        <dsp:cNvSpPr/>
      </dsp:nvSpPr>
      <dsp:spPr>
        <a:xfrm>
          <a:off x="1962755" y="457208"/>
          <a:ext cx="353526" cy="91440"/>
        </a:xfrm>
        <a:custGeom>
          <a:avLst/>
          <a:gdLst/>
          <a:ahLst/>
          <a:cxnLst/>
          <a:rect l="0" t="0" r="0" b="0"/>
          <a:pathLst>
            <a:path>
              <a:moveTo>
                <a:pt x="0" y="45720"/>
              </a:moveTo>
              <a:lnTo>
                <a:pt x="353526" y="45720"/>
              </a:lnTo>
            </a:path>
          </a:pathLst>
        </a:custGeom>
        <a:noFill/>
        <a:ln w="9525" cap="rnd" cmpd="sng" algn="ctr">
          <a:solidFill>
            <a:schemeClr val="accent1">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129915" y="501008"/>
        <a:ext cx="19206" cy="3841"/>
      </dsp:txXfrm>
    </dsp:sp>
    <dsp:sp modelId="{283BD4CE-7CDA-3C41-88F7-4186B82C6873}">
      <dsp:nvSpPr>
        <dsp:cNvPr id="0" name=""/>
        <dsp:cNvSpPr/>
      </dsp:nvSpPr>
      <dsp:spPr>
        <a:xfrm>
          <a:off x="294439" y="1894"/>
          <a:ext cx="1670115" cy="1002069"/>
        </a:xfrm>
        <a:prstGeom prst="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5344" tIns="85344" rIns="85344" bIns="85344" numCol="1" spcCol="1270" anchor="t" anchorCtr="0">
          <a:noAutofit/>
        </a:bodyPr>
        <a:lstStyle/>
        <a:p>
          <a:pPr marL="0" lvl="0" indent="0" algn="l" defTabSz="533400">
            <a:lnSpc>
              <a:spcPct val="90000"/>
            </a:lnSpc>
            <a:spcBef>
              <a:spcPct val="0"/>
            </a:spcBef>
            <a:spcAft>
              <a:spcPct val="35000"/>
            </a:spcAft>
            <a:buNone/>
          </a:pPr>
          <a:r>
            <a:rPr lang="en-US" sz="1200" kern="1200" dirty="0"/>
            <a:t>301 Manually Labeled Reviews</a:t>
          </a:r>
        </a:p>
        <a:p>
          <a:pPr marL="57150" lvl="1" indent="-57150" algn="l" defTabSz="400050">
            <a:lnSpc>
              <a:spcPct val="90000"/>
            </a:lnSpc>
            <a:spcBef>
              <a:spcPct val="0"/>
            </a:spcBef>
            <a:spcAft>
              <a:spcPct val="15000"/>
            </a:spcAft>
            <a:buChar char="•"/>
          </a:pPr>
          <a:r>
            <a:rPr lang="en-US" sz="900" kern="1200" dirty="0"/>
            <a:t>Ground Truth</a:t>
          </a:r>
        </a:p>
        <a:p>
          <a:pPr marL="57150" lvl="1" indent="-57150" algn="l" defTabSz="400050">
            <a:lnSpc>
              <a:spcPct val="90000"/>
            </a:lnSpc>
            <a:spcBef>
              <a:spcPct val="0"/>
            </a:spcBef>
            <a:spcAft>
              <a:spcPct val="15000"/>
            </a:spcAft>
            <a:buChar char="•"/>
          </a:pPr>
          <a:r>
            <a:rPr lang="en-US" sz="900" kern="1200" dirty="0"/>
            <a:t>240 Positive</a:t>
          </a:r>
        </a:p>
        <a:p>
          <a:pPr marL="57150" lvl="1" indent="-57150" algn="l" defTabSz="400050">
            <a:lnSpc>
              <a:spcPct val="90000"/>
            </a:lnSpc>
            <a:spcBef>
              <a:spcPct val="0"/>
            </a:spcBef>
            <a:spcAft>
              <a:spcPct val="15000"/>
            </a:spcAft>
            <a:buChar char="•"/>
          </a:pPr>
          <a:r>
            <a:rPr lang="en-US" sz="900" kern="1200" dirty="0"/>
            <a:t>61 Not Positive</a:t>
          </a:r>
        </a:p>
      </dsp:txBody>
      <dsp:txXfrm>
        <a:off x="294439" y="1894"/>
        <a:ext cx="1670115" cy="1002069"/>
      </dsp:txXfrm>
    </dsp:sp>
    <dsp:sp modelId="{AE132CAD-27BC-D14F-886C-4782095FBA2F}">
      <dsp:nvSpPr>
        <dsp:cNvPr id="0" name=""/>
        <dsp:cNvSpPr/>
      </dsp:nvSpPr>
      <dsp:spPr>
        <a:xfrm>
          <a:off x="1129497" y="1002163"/>
          <a:ext cx="2054242" cy="353526"/>
        </a:xfrm>
        <a:custGeom>
          <a:avLst/>
          <a:gdLst/>
          <a:ahLst/>
          <a:cxnLst/>
          <a:rect l="0" t="0" r="0" b="0"/>
          <a:pathLst>
            <a:path>
              <a:moveTo>
                <a:pt x="2054242" y="0"/>
              </a:moveTo>
              <a:lnTo>
                <a:pt x="2054242" y="193863"/>
              </a:lnTo>
              <a:lnTo>
                <a:pt x="0" y="193863"/>
              </a:lnTo>
              <a:lnTo>
                <a:pt x="0" y="353526"/>
              </a:lnTo>
            </a:path>
          </a:pathLst>
        </a:custGeom>
        <a:noFill/>
        <a:ln w="9525" cap="rnd" cmpd="sng" algn="ctr">
          <a:solidFill>
            <a:schemeClr val="accent1">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104372" y="1177006"/>
        <a:ext cx="104492" cy="3841"/>
      </dsp:txXfrm>
    </dsp:sp>
    <dsp:sp modelId="{F8BCAF80-36A1-0048-A202-88C6DBFA804D}">
      <dsp:nvSpPr>
        <dsp:cNvPr id="0" name=""/>
        <dsp:cNvSpPr/>
      </dsp:nvSpPr>
      <dsp:spPr>
        <a:xfrm>
          <a:off x="2348681" y="1894"/>
          <a:ext cx="1670115" cy="1002069"/>
        </a:xfrm>
        <a:prstGeom prst="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5344" tIns="85344" rIns="85344" bIns="85344" numCol="1" spcCol="1270" anchor="t" anchorCtr="0">
          <a:noAutofit/>
        </a:bodyPr>
        <a:lstStyle/>
        <a:p>
          <a:pPr marL="0" lvl="0" indent="0" algn="l" defTabSz="533400">
            <a:lnSpc>
              <a:spcPct val="90000"/>
            </a:lnSpc>
            <a:spcBef>
              <a:spcPct val="0"/>
            </a:spcBef>
            <a:spcAft>
              <a:spcPct val="35000"/>
            </a:spcAft>
            <a:buNone/>
          </a:pPr>
          <a:r>
            <a:rPr lang="en-US" sz="1200" kern="1200" dirty="0"/>
            <a:t>Binary Sentiment Classification</a:t>
          </a:r>
        </a:p>
        <a:p>
          <a:pPr marL="57150" lvl="1" indent="-57150" algn="l" defTabSz="400050">
            <a:lnSpc>
              <a:spcPct val="90000"/>
            </a:lnSpc>
            <a:spcBef>
              <a:spcPct val="0"/>
            </a:spcBef>
            <a:spcAft>
              <a:spcPct val="15000"/>
            </a:spcAft>
            <a:buChar char="•"/>
          </a:pPr>
          <a:r>
            <a:rPr lang="en-US" sz="900" kern="1200" dirty="0"/>
            <a:t>(Positive vs Not Positive)</a:t>
          </a:r>
        </a:p>
      </dsp:txBody>
      <dsp:txXfrm>
        <a:off x="2348681" y="1894"/>
        <a:ext cx="1670115" cy="1002069"/>
      </dsp:txXfrm>
    </dsp:sp>
    <dsp:sp modelId="{0962AAB8-3A17-8144-BFA7-70073AB3E1B0}">
      <dsp:nvSpPr>
        <dsp:cNvPr id="0" name=""/>
        <dsp:cNvSpPr/>
      </dsp:nvSpPr>
      <dsp:spPr>
        <a:xfrm>
          <a:off x="1962755" y="1843405"/>
          <a:ext cx="353526" cy="91440"/>
        </a:xfrm>
        <a:custGeom>
          <a:avLst/>
          <a:gdLst/>
          <a:ahLst/>
          <a:cxnLst/>
          <a:rect l="0" t="0" r="0" b="0"/>
          <a:pathLst>
            <a:path>
              <a:moveTo>
                <a:pt x="0" y="45720"/>
              </a:moveTo>
              <a:lnTo>
                <a:pt x="353526" y="45720"/>
              </a:lnTo>
            </a:path>
          </a:pathLst>
        </a:custGeom>
        <a:noFill/>
        <a:ln w="9525" cap="rnd" cmpd="sng" algn="ctr">
          <a:solidFill>
            <a:schemeClr val="accent1">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129915" y="1887204"/>
        <a:ext cx="19206" cy="3841"/>
      </dsp:txXfrm>
    </dsp:sp>
    <dsp:sp modelId="{6E73FDDD-995F-734E-83BB-ECE8C5883E33}">
      <dsp:nvSpPr>
        <dsp:cNvPr id="0" name=""/>
        <dsp:cNvSpPr/>
      </dsp:nvSpPr>
      <dsp:spPr>
        <a:xfrm>
          <a:off x="294439" y="1388090"/>
          <a:ext cx="1670115" cy="1002069"/>
        </a:xfrm>
        <a:prstGeom prst="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5344" tIns="85344" rIns="85344" bIns="85344" numCol="1" spcCol="1270" anchor="ctr" anchorCtr="0">
          <a:noAutofit/>
        </a:bodyPr>
        <a:lstStyle/>
        <a:p>
          <a:pPr marL="0" lvl="0" indent="0" algn="ctr" defTabSz="533400">
            <a:lnSpc>
              <a:spcPct val="90000"/>
            </a:lnSpc>
            <a:spcBef>
              <a:spcPct val="0"/>
            </a:spcBef>
            <a:spcAft>
              <a:spcPct val="35000"/>
            </a:spcAft>
            <a:buNone/>
          </a:pPr>
          <a:r>
            <a:rPr lang="en-US" sz="1200" kern="1200" dirty="0"/>
            <a:t>80/20 Train-Test Split</a:t>
          </a:r>
        </a:p>
      </dsp:txBody>
      <dsp:txXfrm>
        <a:off x="294439" y="1388090"/>
        <a:ext cx="1670115" cy="1002069"/>
      </dsp:txXfrm>
    </dsp:sp>
    <dsp:sp modelId="{EEA27423-702D-C947-8903-E470AA1D230E}">
      <dsp:nvSpPr>
        <dsp:cNvPr id="0" name=""/>
        <dsp:cNvSpPr/>
      </dsp:nvSpPr>
      <dsp:spPr>
        <a:xfrm>
          <a:off x="1129497" y="2388359"/>
          <a:ext cx="2054242" cy="353526"/>
        </a:xfrm>
        <a:custGeom>
          <a:avLst/>
          <a:gdLst/>
          <a:ahLst/>
          <a:cxnLst/>
          <a:rect l="0" t="0" r="0" b="0"/>
          <a:pathLst>
            <a:path>
              <a:moveTo>
                <a:pt x="2054242" y="0"/>
              </a:moveTo>
              <a:lnTo>
                <a:pt x="2054242" y="193863"/>
              </a:lnTo>
              <a:lnTo>
                <a:pt x="0" y="193863"/>
              </a:lnTo>
              <a:lnTo>
                <a:pt x="0" y="353526"/>
              </a:lnTo>
            </a:path>
          </a:pathLst>
        </a:custGeom>
        <a:noFill/>
        <a:ln w="9525" cap="rnd" cmpd="sng" algn="ctr">
          <a:solidFill>
            <a:schemeClr val="accent1">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104372" y="2563202"/>
        <a:ext cx="104492" cy="3841"/>
      </dsp:txXfrm>
    </dsp:sp>
    <dsp:sp modelId="{BFEF3B8A-9DBE-474F-95D2-0ED47680FEC5}">
      <dsp:nvSpPr>
        <dsp:cNvPr id="0" name=""/>
        <dsp:cNvSpPr/>
      </dsp:nvSpPr>
      <dsp:spPr>
        <a:xfrm>
          <a:off x="2348681" y="1388090"/>
          <a:ext cx="1670115" cy="1002069"/>
        </a:xfrm>
        <a:prstGeom prst="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5344" tIns="85344" rIns="85344" bIns="85344" numCol="1" spcCol="1270" anchor="ctr" anchorCtr="0">
          <a:noAutofit/>
        </a:bodyPr>
        <a:lstStyle/>
        <a:p>
          <a:pPr marL="0" lvl="0" indent="0" algn="ctr" defTabSz="533400">
            <a:lnSpc>
              <a:spcPct val="90000"/>
            </a:lnSpc>
            <a:spcBef>
              <a:spcPct val="0"/>
            </a:spcBef>
            <a:spcAft>
              <a:spcPct val="35000"/>
            </a:spcAft>
            <a:buNone/>
          </a:pPr>
          <a:r>
            <a:rPr lang="en-US" sz="1200" kern="1200" dirty="0"/>
            <a:t>5-Fold Stratified Cross-Validation</a:t>
          </a:r>
        </a:p>
      </dsp:txBody>
      <dsp:txXfrm>
        <a:off x="2348681" y="1388090"/>
        <a:ext cx="1670115" cy="1002069"/>
      </dsp:txXfrm>
    </dsp:sp>
    <dsp:sp modelId="{25C68FF4-9092-0B44-B6FD-B1798F5BC5F2}">
      <dsp:nvSpPr>
        <dsp:cNvPr id="0" name=""/>
        <dsp:cNvSpPr/>
      </dsp:nvSpPr>
      <dsp:spPr>
        <a:xfrm>
          <a:off x="1962755" y="3229601"/>
          <a:ext cx="353526" cy="91440"/>
        </a:xfrm>
        <a:custGeom>
          <a:avLst/>
          <a:gdLst/>
          <a:ahLst/>
          <a:cxnLst/>
          <a:rect l="0" t="0" r="0" b="0"/>
          <a:pathLst>
            <a:path>
              <a:moveTo>
                <a:pt x="0" y="45720"/>
              </a:moveTo>
              <a:lnTo>
                <a:pt x="353526" y="45720"/>
              </a:lnTo>
            </a:path>
          </a:pathLst>
        </a:custGeom>
        <a:noFill/>
        <a:ln w="9525" cap="rnd" cmpd="sng" algn="ctr">
          <a:solidFill>
            <a:schemeClr val="accent1">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129915" y="3273400"/>
        <a:ext cx="19206" cy="3841"/>
      </dsp:txXfrm>
    </dsp:sp>
    <dsp:sp modelId="{3A40CFE3-0222-524B-97A7-B2E0E5FC74DA}">
      <dsp:nvSpPr>
        <dsp:cNvPr id="0" name=""/>
        <dsp:cNvSpPr/>
      </dsp:nvSpPr>
      <dsp:spPr>
        <a:xfrm>
          <a:off x="294439" y="2774286"/>
          <a:ext cx="1670115" cy="1002069"/>
        </a:xfrm>
        <a:prstGeom prst="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5344" tIns="85344" rIns="85344" bIns="85344" numCol="1" spcCol="1270" anchor="t" anchorCtr="0">
          <a:noAutofit/>
        </a:bodyPr>
        <a:lstStyle/>
        <a:p>
          <a:pPr marL="0" lvl="0" indent="0" algn="l" defTabSz="533400">
            <a:lnSpc>
              <a:spcPct val="90000"/>
            </a:lnSpc>
            <a:spcBef>
              <a:spcPct val="0"/>
            </a:spcBef>
            <a:spcAft>
              <a:spcPct val="35000"/>
            </a:spcAft>
            <a:buNone/>
          </a:pPr>
          <a:r>
            <a:rPr lang="en-US" sz="1200" kern="1200" dirty="0"/>
            <a:t>Hyperparameter Tuning</a:t>
          </a:r>
          <a:endParaRPr lang="en-US" sz="1200" i="1" kern="1200" dirty="0"/>
        </a:p>
        <a:p>
          <a:pPr marL="57150" lvl="1" indent="-57150" algn="l" defTabSz="400050">
            <a:lnSpc>
              <a:spcPct val="90000"/>
            </a:lnSpc>
            <a:spcBef>
              <a:spcPct val="0"/>
            </a:spcBef>
            <a:spcAft>
              <a:spcPct val="15000"/>
            </a:spcAft>
            <a:buChar char="•"/>
          </a:pPr>
          <a:r>
            <a:rPr lang="en-US" sz="900" i="1" kern="1200" dirty="0"/>
            <a:t>(</a:t>
          </a:r>
          <a:r>
            <a:rPr lang="en-US" sz="900" i="1" kern="1200" dirty="0" err="1"/>
            <a:t>GridSearchCV</a:t>
          </a:r>
          <a:r>
            <a:rPr lang="en-US" sz="900" i="1" kern="1200" dirty="0"/>
            <a:t>)</a:t>
          </a:r>
        </a:p>
      </dsp:txBody>
      <dsp:txXfrm>
        <a:off x="294439" y="2774286"/>
        <a:ext cx="1670115" cy="1002069"/>
      </dsp:txXfrm>
    </dsp:sp>
    <dsp:sp modelId="{46D0CF87-0869-584A-ACE0-6F3E04D41660}">
      <dsp:nvSpPr>
        <dsp:cNvPr id="0" name=""/>
        <dsp:cNvSpPr/>
      </dsp:nvSpPr>
      <dsp:spPr>
        <a:xfrm>
          <a:off x="2348681" y="2774286"/>
          <a:ext cx="1670115" cy="1002069"/>
        </a:xfrm>
        <a:prstGeom prst="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5344" tIns="85344" rIns="85344" bIns="85344" numCol="1" spcCol="1270" anchor="t" anchorCtr="0">
          <a:noAutofit/>
        </a:bodyPr>
        <a:lstStyle/>
        <a:p>
          <a:pPr marL="0" lvl="0" indent="0" algn="l" defTabSz="533400">
            <a:lnSpc>
              <a:spcPct val="90000"/>
            </a:lnSpc>
            <a:spcBef>
              <a:spcPct val="0"/>
            </a:spcBef>
            <a:spcAft>
              <a:spcPct val="35000"/>
            </a:spcAft>
            <a:buNone/>
          </a:pPr>
          <a:r>
            <a:rPr lang="en-US" sz="1200" kern="1200" dirty="0"/>
            <a:t>Model Performance Evaluation</a:t>
          </a:r>
        </a:p>
        <a:p>
          <a:pPr marL="57150" lvl="1" indent="-57150" algn="l" defTabSz="400050">
            <a:lnSpc>
              <a:spcPct val="90000"/>
            </a:lnSpc>
            <a:spcBef>
              <a:spcPct val="0"/>
            </a:spcBef>
            <a:spcAft>
              <a:spcPct val="15000"/>
            </a:spcAft>
            <a:buChar char="•"/>
          </a:pPr>
          <a:r>
            <a:rPr lang="en-US" sz="900" kern="1200" dirty="0"/>
            <a:t>Accuracy - F1 - AUC</a:t>
          </a:r>
        </a:p>
      </dsp:txBody>
      <dsp:txXfrm>
        <a:off x="2348681" y="2774286"/>
        <a:ext cx="1670115" cy="1002069"/>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C17CC8B-F15F-EF49-A580-28160E629D86}">
      <dsp:nvSpPr>
        <dsp:cNvPr id="0" name=""/>
        <dsp:cNvSpPr/>
      </dsp:nvSpPr>
      <dsp:spPr>
        <a:xfrm>
          <a:off x="577063" y="625"/>
          <a:ext cx="1316295" cy="789777"/>
        </a:xfrm>
        <a:prstGeom prst="roundRect">
          <a:avLst>
            <a:gd name="adj" fmla="val 10000"/>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a:t>Review Text</a:t>
          </a:r>
        </a:p>
      </dsp:txBody>
      <dsp:txXfrm>
        <a:off x="600195" y="23757"/>
        <a:ext cx="1270031" cy="743513"/>
      </dsp:txXfrm>
    </dsp:sp>
    <dsp:sp modelId="{C8D5B272-F7EB-CB4A-B449-27BD24ADD5A8}">
      <dsp:nvSpPr>
        <dsp:cNvPr id="0" name=""/>
        <dsp:cNvSpPr/>
      </dsp:nvSpPr>
      <dsp:spPr>
        <a:xfrm>
          <a:off x="2009193" y="232293"/>
          <a:ext cx="279054" cy="326441"/>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en-US" sz="1300" kern="1200"/>
        </a:p>
      </dsp:txBody>
      <dsp:txXfrm>
        <a:off x="2009193" y="297581"/>
        <a:ext cx="195338" cy="195865"/>
      </dsp:txXfrm>
    </dsp:sp>
    <dsp:sp modelId="{F6D3565F-5AC3-9F48-89AD-DD06DD1D6527}">
      <dsp:nvSpPr>
        <dsp:cNvPr id="0" name=""/>
        <dsp:cNvSpPr/>
      </dsp:nvSpPr>
      <dsp:spPr>
        <a:xfrm>
          <a:off x="2419877" y="625"/>
          <a:ext cx="1316295" cy="789777"/>
        </a:xfrm>
        <a:prstGeom prst="roundRect">
          <a:avLst>
            <a:gd name="adj" fmla="val 10000"/>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a:t>Lexicon &amp; Rules</a:t>
          </a:r>
        </a:p>
      </dsp:txBody>
      <dsp:txXfrm>
        <a:off x="2443009" y="23757"/>
        <a:ext cx="1270031" cy="743513"/>
      </dsp:txXfrm>
    </dsp:sp>
    <dsp:sp modelId="{A5D79D36-352B-494F-BDAE-A59B5EDA23D9}">
      <dsp:nvSpPr>
        <dsp:cNvPr id="0" name=""/>
        <dsp:cNvSpPr/>
      </dsp:nvSpPr>
      <dsp:spPr>
        <a:xfrm rot="5400000">
          <a:off x="2938498" y="882543"/>
          <a:ext cx="279054" cy="326441"/>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en-US" sz="1300" kern="1200"/>
        </a:p>
      </dsp:txBody>
      <dsp:txXfrm rot="-5400000">
        <a:off x="2980093" y="906236"/>
        <a:ext cx="195865" cy="195338"/>
      </dsp:txXfrm>
    </dsp:sp>
    <dsp:sp modelId="{442AE801-EED4-8D42-90CC-F010C197D195}">
      <dsp:nvSpPr>
        <dsp:cNvPr id="0" name=""/>
        <dsp:cNvSpPr/>
      </dsp:nvSpPr>
      <dsp:spPr>
        <a:xfrm>
          <a:off x="2419877" y="1316920"/>
          <a:ext cx="1316295" cy="789777"/>
        </a:xfrm>
        <a:prstGeom prst="roundRect">
          <a:avLst>
            <a:gd name="adj" fmla="val 10000"/>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a:t>Sentiment Scores</a:t>
          </a:r>
        </a:p>
      </dsp:txBody>
      <dsp:txXfrm>
        <a:off x="2443009" y="1340052"/>
        <a:ext cx="1270031" cy="743513"/>
      </dsp:txXfrm>
    </dsp:sp>
    <dsp:sp modelId="{4DF6FC18-A46C-E846-BF69-50E921976BAE}">
      <dsp:nvSpPr>
        <dsp:cNvPr id="0" name=""/>
        <dsp:cNvSpPr/>
      </dsp:nvSpPr>
      <dsp:spPr>
        <a:xfrm rot="10800000">
          <a:off x="2024988" y="1548588"/>
          <a:ext cx="279054" cy="326441"/>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en-US" sz="1300" kern="1200"/>
        </a:p>
      </dsp:txBody>
      <dsp:txXfrm rot="10800000">
        <a:off x="2108704" y="1613876"/>
        <a:ext cx="195338" cy="195865"/>
      </dsp:txXfrm>
    </dsp:sp>
    <dsp:sp modelId="{F348F1D3-39A3-6D42-BF4F-A76128FAFB43}">
      <dsp:nvSpPr>
        <dsp:cNvPr id="0" name=""/>
        <dsp:cNvSpPr/>
      </dsp:nvSpPr>
      <dsp:spPr>
        <a:xfrm>
          <a:off x="577063" y="1316920"/>
          <a:ext cx="1316295" cy="789777"/>
        </a:xfrm>
        <a:prstGeom prst="roundRect">
          <a:avLst>
            <a:gd name="adj" fmla="val 10000"/>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a:t>Final Sentiment</a:t>
          </a:r>
        </a:p>
      </dsp:txBody>
      <dsp:txXfrm>
        <a:off x="600195" y="1340052"/>
        <a:ext cx="1270031" cy="743513"/>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F820CA8-1CFD-E74A-94D3-9F6E241F7F5B}">
      <dsp:nvSpPr>
        <dsp:cNvPr id="0" name=""/>
        <dsp:cNvSpPr/>
      </dsp:nvSpPr>
      <dsp:spPr>
        <a:xfrm>
          <a:off x="3790" y="151176"/>
          <a:ext cx="1133067" cy="679840"/>
        </a:xfrm>
        <a:prstGeom prst="roundRect">
          <a:avLst>
            <a:gd name="adj" fmla="val 10000"/>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kern="1200" dirty="0"/>
            <a:t>Review Text</a:t>
          </a:r>
        </a:p>
      </dsp:txBody>
      <dsp:txXfrm>
        <a:off x="23702" y="171088"/>
        <a:ext cx="1093243" cy="640016"/>
      </dsp:txXfrm>
    </dsp:sp>
    <dsp:sp modelId="{D7455074-6A5C-F64A-8BE7-3A826259740A}">
      <dsp:nvSpPr>
        <dsp:cNvPr id="0" name=""/>
        <dsp:cNvSpPr/>
      </dsp:nvSpPr>
      <dsp:spPr>
        <a:xfrm>
          <a:off x="1236568" y="350596"/>
          <a:ext cx="240210" cy="281000"/>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en-US" sz="1000" kern="1200"/>
        </a:p>
      </dsp:txBody>
      <dsp:txXfrm>
        <a:off x="1236568" y="406796"/>
        <a:ext cx="168147" cy="168600"/>
      </dsp:txXfrm>
    </dsp:sp>
    <dsp:sp modelId="{EFAAFB53-6FB5-474F-B892-A04B5318D032}">
      <dsp:nvSpPr>
        <dsp:cNvPr id="0" name=""/>
        <dsp:cNvSpPr/>
      </dsp:nvSpPr>
      <dsp:spPr>
        <a:xfrm>
          <a:off x="1590085" y="151176"/>
          <a:ext cx="1133067" cy="679840"/>
        </a:xfrm>
        <a:prstGeom prst="roundRect">
          <a:avLst>
            <a:gd name="adj" fmla="val 10000"/>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kern="1200" dirty="0"/>
            <a:t>Chunk Long Articles</a:t>
          </a:r>
        </a:p>
      </dsp:txBody>
      <dsp:txXfrm>
        <a:off x="1609997" y="171088"/>
        <a:ext cx="1093243" cy="640016"/>
      </dsp:txXfrm>
    </dsp:sp>
    <dsp:sp modelId="{CB5ADEAE-16B9-8D4A-914F-CBED9179A93F}">
      <dsp:nvSpPr>
        <dsp:cNvPr id="0" name=""/>
        <dsp:cNvSpPr/>
      </dsp:nvSpPr>
      <dsp:spPr>
        <a:xfrm>
          <a:off x="2822862" y="350596"/>
          <a:ext cx="240210" cy="281000"/>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en-US" sz="1000" kern="1200"/>
        </a:p>
      </dsp:txBody>
      <dsp:txXfrm>
        <a:off x="2822862" y="406796"/>
        <a:ext cx="168147" cy="168600"/>
      </dsp:txXfrm>
    </dsp:sp>
    <dsp:sp modelId="{497C8F9D-C30D-9946-B026-0143E9BADECE}">
      <dsp:nvSpPr>
        <dsp:cNvPr id="0" name=""/>
        <dsp:cNvSpPr/>
      </dsp:nvSpPr>
      <dsp:spPr>
        <a:xfrm>
          <a:off x="3176379" y="151176"/>
          <a:ext cx="1133067" cy="679840"/>
        </a:xfrm>
        <a:prstGeom prst="roundRect">
          <a:avLst>
            <a:gd name="adj" fmla="val 10000"/>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kern="1200" dirty="0" err="1"/>
            <a:t>RoBERTa</a:t>
          </a:r>
          <a:r>
            <a:rPr lang="en-US" sz="1200" kern="1200" dirty="0"/>
            <a:t> Sentiment Model</a:t>
          </a:r>
        </a:p>
      </dsp:txBody>
      <dsp:txXfrm>
        <a:off x="3196291" y="171088"/>
        <a:ext cx="1093243" cy="640016"/>
      </dsp:txXfrm>
    </dsp:sp>
    <dsp:sp modelId="{C3849EB2-0AD3-BE4E-9BFA-EED9B4F3981B}">
      <dsp:nvSpPr>
        <dsp:cNvPr id="0" name=""/>
        <dsp:cNvSpPr/>
      </dsp:nvSpPr>
      <dsp:spPr>
        <a:xfrm rot="5400000">
          <a:off x="3622808" y="910331"/>
          <a:ext cx="240210" cy="281000"/>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en-US" sz="1000" kern="1200"/>
        </a:p>
      </dsp:txBody>
      <dsp:txXfrm rot="-5400000">
        <a:off x="3658614" y="930726"/>
        <a:ext cx="168600" cy="168147"/>
      </dsp:txXfrm>
    </dsp:sp>
    <dsp:sp modelId="{52CC8C45-300A-4D46-BB37-284C2CB2BF53}">
      <dsp:nvSpPr>
        <dsp:cNvPr id="0" name=""/>
        <dsp:cNvSpPr/>
      </dsp:nvSpPr>
      <dsp:spPr>
        <a:xfrm>
          <a:off x="3176379" y="1284243"/>
          <a:ext cx="1133067" cy="679840"/>
        </a:xfrm>
        <a:prstGeom prst="roundRect">
          <a:avLst>
            <a:gd name="adj" fmla="val 10000"/>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kern="1200" dirty="0"/>
            <a:t>Aggregate Article Prediction</a:t>
          </a:r>
        </a:p>
      </dsp:txBody>
      <dsp:txXfrm>
        <a:off x="3196291" y="1304155"/>
        <a:ext cx="1093243" cy="640016"/>
      </dsp:txXfrm>
    </dsp:sp>
    <dsp:sp modelId="{9493EBE0-8E70-EF4E-89E7-6168420545D6}">
      <dsp:nvSpPr>
        <dsp:cNvPr id="0" name=""/>
        <dsp:cNvSpPr/>
      </dsp:nvSpPr>
      <dsp:spPr>
        <a:xfrm rot="10800000">
          <a:off x="2836459" y="1483663"/>
          <a:ext cx="240210" cy="281000"/>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en-US" sz="1000" kern="1200"/>
        </a:p>
      </dsp:txBody>
      <dsp:txXfrm rot="10800000">
        <a:off x="2908522" y="1539863"/>
        <a:ext cx="168147" cy="168600"/>
      </dsp:txXfrm>
    </dsp:sp>
    <dsp:sp modelId="{4FF29ACD-C86E-BB4C-AA23-C5D4E56BF43E}">
      <dsp:nvSpPr>
        <dsp:cNvPr id="0" name=""/>
        <dsp:cNvSpPr/>
      </dsp:nvSpPr>
      <dsp:spPr>
        <a:xfrm>
          <a:off x="1590085" y="1284243"/>
          <a:ext cx="1133067" cy="679840"/>
        </a:xfrm>
        <a:prstGeom prst="roundRect">
          <a:avLst>
            <a:gd name="adj" fmla="val 10000"/>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kern="1200" dirty="0"/>
            <a:t>Final Sentiment</a:t>
          </a:r>
        </a:p>
      </dsp:txBody>
      <dsp:txXfrm>
        <a:off x="1609997" y="1304155"/>
        <a:ext cx="1093243" cy="640016"/>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F6EC090-73C9-F84E-BD62-8C8B34F3C498}">
      <dsp:nvSpPr>
        <dsp:cNvPr id="0" name=""/>
        <dsp:cNvSpPr/>
      </dsp:nvSpPr>
      <dsp:spPr>
        <a:xfrm rot="5400000">
          <a:off x="159040" y="627103"/>
          <a:ext cx="593066" cy="675185"/>
        </a:xfrm>
        <a:prstGeom prst="bentUpArrow">
          <a:avLst>
            <a:gd name="adj1" fmla="val 32840"/>
            <a:gd name="adj2" fmla="val 25000"/>
            <a:gd name="adj3" fmla="val 35780"/>
          </a:avLst>
        </a:prstGeom>
        <a:solidFill>
          <a:schemeClr val="accent1">
            <a:tint val="50000"/>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105AB784-B08B-4840-AC2F-28DDCCCA7DC4}">
      <dsp:nvSpPr>
        <dsp:cNvPr id="0" name=""/>
        <dsp:cNvSpPr/>
      </dsp:nvSpPr>
      <dsp:spPr>
        <a:xfrm>
          <a:off x="1914" y="-30322"/>
          <a:ext cx="998374" cy="698829"/>
        </a:xfrm>
        <a:prstGeom prst="roundRect">
          <a:avLst>
            <a:gd name="adj" fmla="val 16670"/>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US" sz="1000" kern="1200" dirty="0"/>
            <a:t>Review Article</a:t>
          </a:r>
        </a:p>
      </dsp:txBody>
      <dsp:txXfrm>
        <a:off x="36034" y="3798"/>
        <a:ext cx="930134" cy="630589"/>
      </dsp:txXfrm>
    </dsp:sp>
    <dsp:sp modelId="{05E8A74A-E91C-FE48-94A5-B6A70962CFE6}">
      <dsp:nvSpPr>
        <dsp:cNvPr id="0" name=""/>
        <dsp:cNvSpPr/>
      </dsp:nvSpPr>
      <dsp:spPr>
        <a:xfrm>
          <a:off x="1000288" y="36326"/>
          <a:ext cx="726122" cy="564825"/>
        </a:xfrm>
        <a:prstGeom prst="rect">
          <a:avLst/>
        </a:prstGeom>
        <a:noFill/>
        <a:ln>
          <a:noFill/>
        </a:ln>
        <a:effectLst/>
      </dsp:spPr>
      <dsp:style>
        <a:lnRef idx="0">
          <a:scrgbClr r="0" g="0" b="0"/>
        </a:lnRef>
        <a:fillRef idx="0">
          <a:scrgbClr r="0" g="0" b="0"/>
        </a:fillRef>
        <a:effectRef idx="0">
          <a:scrgbClr r="0" g="0" b="0"/>
        </a:effectRef>
        <a:fontRef idx="minor"/>
      </dsp:style>
    </dsp:sp>
    <dsp:sp modelId="{13238F4D-1565-6A46-964E-611F3C5327C4}">
      <dsp:nvSpPr>
        <dsp:cNvPr id="0" name=""/>
        <dsp:cNvSpPr/>
      </dsp:nvSpPr>
      <dsp:spPr>
        <a:xfrm rot="5400000">
          <a:off x="986799" y="1412119"/>
          <a:ext cx="593066" cy="675185"/>
        </a:xfrm>
        <a:prstGeom prst="bentUpArrow">
          <a:avLst>
            <a:gd name="adj1" fmla="val 32840"/>
            <a:gd name="adj2" fmla="val 25000"/>
            <a:gd name="adj3" fmla="val 35780"/>
          </a:avLst>
        </a:prstGeom>
        <a:solidFill>
          <a:schemeClr val="accent1">
            <a:tint val="50000"/>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23CE332D-F3B8-3247-8420-9827AFAC6D37}">
      <dsp:nvSpPr>
        <dsp:cNvPr id="0" name=""/>
        <dsp:cNvSpPr/>
      </dsp:nvSpPr>
      <dsp:spPr>
        <a:xfrm>
          <a:off x="829672" y="754693"/>
          <a:ext cx="998374" cy="698829"/>
        </a:xfrm>
        <a:prstGeom prst="roundRect">
          <a:avLst>
            <a:gd name="adj" fmla="val 16670"/>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US" sz="1000" kern="1200" dirty="0"/>
            <a:t>TF-IDF Vectorization</a:t>
          </a:r>
        </a:p>
      </dsp:txBody>
      <dsp:txXfrm>
        <a:off x="863792" y="788813"/>
        <a:ext cx="930134" cy="630589"/>
      </dsp:txXfrm>
    </dsp:sp>
    <dsp:sp modelId="{F52A83D1-E369-2B49-B468-707A6450986C}">
      <dsp:nvSpPr>
        <dsp:cNvPr id="0" name=""/>
        <dsp:cNvSpPr/>
      </dsp:nvSpPr>
      <dsp:spPr>
        <a:xfrm>
          <a:off x="1828047" y="821343"/>
          <a:ext cx="726122" cy="564825"/>
        </a:xfrm>
        <a:prstGeom prst="rect">
          <a:avLst/>
        </a:prstGeom>
        <a:noFill/>
        <a:ln>
          <a:noFill/>
        </a:ln>
        <a:effectLst/>
      </dsp:spPr>
      <dsp:style>
        <a:lnRef idx="0">
          <a:scrgbClr r="0" g="0" b="0"/>
        </a:lnRef>
        <a:fillRef idx="0">
          <a:scrgbClr r="0" g="0" b="0"/>
        </a:fillRef>
        <a:effectRef idx="0">
          <a:scrgbClr r="0" g="0" b="0"/>
        </a:effectRef>
        <a:fontRef idx="minor"/>
      </dsp:style>
    </dsp:sp>
    <dsp:sp modelId="{DC664268-A230-FD43-A201-D1AAFA8C8CB9}">
      <dsp:nvSpPr>
        <dsp:cNvPr id="0" name=""/>
        <dsp:cNvSpPr/>
      </dsp:nvSpPr>
      <dsp:spPr>
        <a:xfrm rot="5400000">
          <a:off x="1814557" y="2197135"/>
          <a:ext cx="593066" cy="675185"/>
        </a:xfrm>
        <a:prstGeom prst="bentUpArrow">
          <a:avLst>
            <a:gd name="adj1" fmla="val 32840"/>
            <a:gd name="adj2" fmla="val 25000"/>
            <a:gd name="adj3" fmla="val 35780"/>
          </a:avLst>
        </a:prstGeom>
        <a:solidFill>
          <a:schemeClr val="accent1">
            <a:tint val="50000"/>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4CDF9180-85F4-5743-8F22-FCC1ED8F98E0}">
      <dsp:nvSpPr>
        <dsp:cNvPr id="0" name=""/>
        <dsp:cNvSpPr/>
      </dsp:nvSpPr>
      <dsp:spPr>
        <a:xfrm>
          <a:off x="1657431" y="1539710"/>
          <a:ext cx="998374" cy="698829"/>
        </a:xfrm>
        <a:prstGeom prst="roundRect">
          <a:avLst>
            <a:gd name="adj" fmla="val 16670"/>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US" sz="1000" kern="1200" dirty="0"/>
            <a:t>TF-IDF Feature Matrix</a:t>
          </a:r>
        </a:p>
      </dsp:txBody>
      <dsp:txXfrm>
        <a:off x="1691551" y="1573830"/>
        <a:ext cx="930134" cy="630589"/>
      </dsp:txXfrm>
    </dsp:sp>
    <dsp:sp modelId="{49AD0523-3A1E-4840-B020-8E4E67B288E2}">
      <dsp:nvSpPr>
        <dsp:cNvPr id="0" name=""/>
        <dsp:cNvSpPr/>
      </dsp:nvSpPr>
      <dsp:spPr>
        <a:xfrm>
          <a:off x="2655805" y="1606359"/>
          <a:ext cx="726122" cy="564825"/>
        </a:xfrm>
        <a:prstGeom prst="rect">
          <a:avLst/>
        </a:prstGeom>
        <a:noFill/>
        <a:ln>
          <a:noFill/>
        </a:ln>
        <a:effectLst/>
      </dsp:spPr>
      <dsp:style>
        <a:lnRef idx="0">
          <a:scrgbClr r="0" g="0" b="0"/>
        </a:lnRef>
        <a:fillRef idx="0">
          <a:scrgbClr r="0" g="0" b="0"/>
        </a:fillRef>
        <a:effectRef idx="0">
          <a:scrgbClr r="0" g="0" b="0"/>
        </a:effectRef>
        <a:fontRef idx="minor"/>
      </dsp:style>
    </dsp:sp>
    <dsp:sp modelId="{F309C9A2-B758-9544-8155-B8357113C4DE}">
      <dsp:nvSpPr>
        <dsp:cNvPr id="0" name=""/>
        <dsp:cNvSpPr/>
      </dsp:nvSpPr>
      <dsp:spPr>
        <a:xfrm rot="5400000">
          <a:off x="2642316" y="2982152"/>
          <a:ext cx="593066" cy="675185"/>
        </a:xfrm>
        <a:prstGeom prst="bentUpArrow">
          <a:avLst>
            <a:gd name="adj1" fmla="val 32840"/>
            <a:gd name="adj2" fmla="val 25000"/>
            <a:gd name="adj3" fmla="val 35780"/>
          </a:avLst>
        </a:prstGeom>
        <a:solidFill>
          <a:schemeClr val="accent1">
            <a:tint val="50000"/>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573193D1-2D4E-2E4C-BB8E-A59DDDE2B591}">
      <dsp:nvSpPr>
        <dsp:cNvPr id="0" name=""/>
        <dsp:cNvSpPr/>
      </dsp:nvSpPr>
      <dsp:spPr>
        <a:xfrm>
          <a:off x="2485189" y="2324726"/>
          <a:ext cx="998374" cy="698829"/>
        </a:xfrm>
        <a:prstGeom prst="roundRect">
          <a:avLst>
            <a:gd name="adj" fmla="val 16670"/>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US" sz="1000" kern="1200" dirty="0"/>
            <a:t>Logistic Regression Model</a:t>
          </a:r>
        </a:p>
      </dsp:txBody>
      <dsp:txXfrm>
        <a:off x="2519309" y="2358846"/>
        <a:ext cx="930134" cy="630589"/>
      </dsp:txXfrm>
    </dsp:sp>
    <dsp:sp modelId="{3301070A-FF60-D040-9BE8-FC58129E599D}">
      <dsp:nvSpPr>
        <dsp:cNvPr id="0" name=""/>
        <dsp:cNvSpPr/>
      </dsp:nvSpPr>
      <dsp:spPr>
        <a:xfrm>
          <a:off x="3483564" y="2391375"/>
          <a:ext cx="726122" cy="564825"/>
        </a:xfrm>
        <a:prstGeom prst="rect">
          <a:avLst/>
        </a:prstGeom>
        <a:noFill/>
        <a:ln>
          <a:noFill/>
        </a:ln>
        <a:effectLst/>
      </dsp:spPr>
      <dsp:style>
        <a:lnRef idx="0">
          <a:scrgbClr r="0" g="0" b="0"/>
        </a:lnRef>
        <a:fillRef idx="0">
          <a:scrgbClr r="0" g="0" b="0"/>
        </a:fillRef>
        <a:effectRef idx="0">
          <a:scrgbClr r="0" g="0" b="0"/>
        </a:effectRef>
        <a:fontRef idx="minor"/>
      </dsp:style>
    </dsp:sp>
    <dsp:sp modelId="{AB5E920B-98DD-954C-91CA-BF6D6F43B001}">
      <dsp:nvSpPr>
        <dsp:cNvPr id="0" name=""/>
        <dsp:cNvSpPr/>
      </dsp:nvSpPr>
      <dsp:spPr>
        <a:xfrm>
          <a:off x="3312948" y="3109742"/>
          <a:ext cx="998374" cy="698829"/>
        </a:xfrm>
        <a:prstGeom prst="roundRect">
          <a:avLst>
            <a:gd name="adj" fmla="val 16670"/>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US" sz="1000" kern="1200" dirty="0"/>
            <a:t>Positive / Not Positive</a:t>
          </a:r>
        </a:p>
      </dsp:txBody>
      <dsp:txXfrm>
        <a:off x="3347068" y="3143862"/>
        <a:ext cx="930134" cy="630589"/>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6622106-7317-9A41-93CC-B8740ABB532A}">
      <dsp:nvSpPr>
        <dsp:cNvPr id="0" name=""/>
        <dsp:cNvSpPr/>
      </dsp:nvSpPr>
      <dsp:spPr>
        <a:xfrm>
          <a:off x="362244" y="455"/>
          <a:ext cx="1495311" cy="897186"/>
        </a:xfrm>
        <a:prstGeom prst="roundRect">
          <a:avLst>
            <a:gd name="adj" fmla="val 10000"/>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kern="1200" dirty="0"/>
            <a:t>TF-IDF Logistic Regression</a:t>
          </a:r>
        </a:p>
      </dsp:txBody>
      <dsp:txXfrm>
        <a:off x="388522" y="26733"/>
        <a:ext cx="1442755" cy="844630"/>
      </dsp:txXfrm>
    </dsp:sp>
    <dsp:sp modelId="{AABCA12E-04DA-464C-801D-D98015F1F59D}">
      <dsp:nvSpPr>
        <dsp:cNvPr id="0" name=""/>
        <dsp:cNvSpPr/>
      </dsp:nvSpPr>
      <dsp:spPr>
        <a:xfrm>
          <a:off x="1989143" y="263630"/>
          <a:ext cx="317006" cy="370837"/>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en-US" sz="1100" kern="1200"/>
        </a:p>
      </dsp:txBody>
      <dsp:txXfrm>
        <a:off x="1989143" y="337797"/>
        <a:ext cx="221904" cy="222503"/>
      </dsp:txXfrm>
    </dsp:sp>
    <dsp:sp modelId="{7F1BEE40-2803-7345-B23C-5987F4ECA68C}">
      <dsp:nvSpPr>
        <dsp:cNvPr id="0" name=""/>
        <dsp:cNvSpPr/>
      </dsp:nvSpPr>
      <dsp:spPr>
        <a:xfrm>
          <a:off x="2455680" y="455"/>
          <a:ext cx="1495311" cy="897186"/>
        </a:xfrm>
        <a:prstGeom prst="roundRect">
          <a:avLst>
            <a:gd name="adj" fmla="val 10000"/>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n-US" sz="1400" kern="1200" dirty="0"/>
            <a:t>Parameter Grid</a:t>
          </a:r>
        </a:p>
        <a:p>
          <a:pPr marL="57150" lvl="1" indent="-57150" algn="l" defTabSz="488950">
            <a:lnSpc>
              <a:spcPct val="90000"/>
            </a:lnSpc>
            <a:spcBef>
              <a:spcPct val="0"/>
            </a:spcBef>
            <a:spcAft>
              <a:spcPct val="15000"/>
            </a:spcAft>
            <a:buChar char="•"/>
          </a:pPr>
          <a:r>
            <a:rPr lang="en-US" sz="1100" kern="1200" dirty="0"/>
            <a:t>120 Parameter Combinations</a:t>
          </a:r>
        </a:p>
      </dsp:txBody>
      <dsp:txXfrm>
        <a:off x="2481958" y="26733"/>
        <a:ext cx="1442755" cy="844630"/>
      </dsp:txXfrm>
    </dsp:sp>
    <dsp:sp modelId="{9C0FA56A-9507-424E-8A30-FB94EBF79465}">
      <dsp:nvSpPr>
        <dsp:cNvPr id="0" name=""/>
        <dsp:cNvSpPr/>
      </dsp:nvSpPr>
      <dsp:spPr>
        <a:xfrm rot="5400000">
          <a:off x="3044833" y="1002314"/>
          <a:ext cx="317006" cy="370837"/>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en-US" sz="1100" kern="1200"/>
        </a:p>
      </dsp:txBody>
      <dsp:txXfrm rot="-5400000">
        <a:off x="3092085" y="1029229"/>
        <a:ext cx="222503" cy="221904"/>
      </dsp:txXfrm>
    </dsp:sp>
    <dsp:sp modelId="{CA28B3B5-03D5-8340-9072-F4254FD9666A}">
      <dsp:nvSpPr>
        <dsp:cNvPr id="0" name=""/>
        <dsp:cNvSpPr/>
      </dsp:nvSpPr>
      <dsp:spPr>
        <a:xfrm>
          <a:off x="2455680" y="1495767"/>
          <a:ext cx="1495311" cy="897186"/>
        </a:xfrm>
        <a:prstGeom prst="roundRect">
          <a:avLst>
            <a:gd name="adj" fmla="val 10000"/>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kern="1200" dirty="0"/>
            <a:t>5-Fold Stratified Cross-Validation</a:t>
          </a:r>
        </a:p>
      </dsp:txBody>
      <dsp:txXfrm>
        <a:off x="2481958" y="1522045"/>
        <a:ext cx="1442755" cy="844630"/>
      </dsp:txXfrm>
    </dsp:sp>
    <dsp:sp modelId="{F76FE272-D29C-BB45-9934-E49F9D5B8FE2}">
      <dsp:nvSpPr>
        <dsp:cNvPr id="0" name=""/>
        <dsp:cNvSpPr/>
      </dsp:nvSpPr>
      <dsp:spPr>
        <a:xfrm rot="10800000">
          <a:off x="2007087" y="1758942"/>
          <a:ext cx="317006" cy="370837"/>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en-US" sz="1100" kern="1200"/>
        </a:p>
      </dsp:txBody>
      <dsp:txXfrm rot="10800000">
        <a:off x="2102189" y="1833109"/>
        <a:ext cx="221904" cy="222503"/>
      </dsp:txXfrm>
    </dsp:sp>
    <dsp:sp modelId="{51CC654E-E6A6-444C-872F-F690362DF9D0}">
      <dsp:nvSpPr>
        <dsp:cNvPr id="0" name=""/>
        <dsp:cNvSpPr/>
      </dsp:nvSpPr>
      <dsp:spPr>
        <a:xfrm>
          <a:off x="362244" y="1495767"/>
          <a:ext cx="1495311" cy="897186"/>
        </a:xfrm>
        <a:prstGeom prst="roundRect">
          <a:avLst>
            <a:gd name="adj" fmla="val 10000"/>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n-US" sz="1400" kern="1200" dirty="0"/>
            <a:t>Select Optimal Model</a:t>
          </a:r>
        </a:p>
        <a:p>
          <a:pPr marL="57150" lvl="1" indent="-57150" algn="l" defTabSz="488950">
            <a:lnSpc>
              <a:spcPct val="90000"/>
            </a:lnSpc>
            <a:spcBef>
              <a:spcPct val="0"/>
            </a:spcBef>
            <a:spcAft>
              <a:spcPct val="15000"/>
            </a:spcAft>
            <a:buChar char="•"/>
          </a:pPr>
          <a:r>
            <a:rPr lang="en-US" sz="1100" kern="1200" dirty="0"/>
            <a:t>Highest Macro F1</a:t>
          </a:r>
        </a:p>
      </dsp:txBody>
      <dsp:txXfrm>
        <a:off x="388522" y="1522045"/>
        <a:ext cx="1442755" cy="844630"/>
      </dsp:txXfrm>
    </dsp:sp>
  </dsp:spTree>
</dsp:drawing>
</file>

<file path=ppt/diagrams/layout1.xml><?xml version="1.0" encoding="utf-8"?>
<dgm:layoutDef xmlns:dgm="http://schemas.openxmlformats.org/drawingml/2006/diagram" xmlns:a="http://schemas.openxmlformats.org/drawingml/2006/main" uniqueId="urn:microsoft.com/office/officeart/2005/8/layout/bProcess3">
  <dgm:title val=""/>
  <dgm:desc val=""/>
  <dgm:catLst>
    <dgm:cat type="process" pri="18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Lst>
        <dgm:ruleLst>
          <dgm:rule type="primFontSz" val="5"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process5">
  <dgm:title val=""/>
  <dgm:desc val=""/>
  <dgm:catLst>
    <dgm:cat type="process" pri="17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diagram">
    <dgm:varLst>
      <dgm:dir/>
      <dgm:resizeHandles val="exact"/>
    </dgm:varLst>
    <dgm:choose name="Name0">
      <dgm:if name="Name1" axis="self" func="var" arg="dir" op="equ" val="norm">
        <dgm:alg type="snake">
          <dgm:param type="grDir" val="tL"/>
          <dgm:param type="flowDir" val="row"/>
          <dgm:param type="contDir" val="revDir"/>
          <dgm:param type="bkpt" val="endCnv"/>
        </dgm:alg>
      </dgm:if>
      <dgm:else name="Name2">
        <dgm:alg type="snake">
          <dgm:param type="grDir" val="tR"/>
          <dgm:param type="flowDir" val="row"/>
          <dgm:param type="contDir" val="rev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4"/>
      <dgm:constr type="sp" refType="w" refFor="ch" refForName="sibTrans"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process5">
  <dgm:title val=""/>
  <dgm:desc val=""/>
  <dgm:catLst>
    <dgm:cat type="process" pri="17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diagram">
    <dgm:varLst>
      <dgm:dir/>
      <dgm:resizeHandles val="exact"/>
    </dgm:varLst>
    <dgm:choose name="Name0">
      <dgm:if name="Name1" axis="self" func="var" arg="dir" op="equ" val="norm">
        <dgm:alg type="snake">
          <dgm:param type="grDir" val="tL"/>
          <dgm:param type="flowDir" val="row"/>
          <dgm:param type="contDir" val="revDir"/>
          <dgm:param type="bkpt" val="endCnv"/>
        </dgm:alg>
      </dgm:if>
      <dgm:else name="Name2">
        <dgm:alg type="snake">
          <dgm:param type="grDir" val="tR"/>
          <dgm:param type="flowDir" val="row"/>
          <dgm:param type="contDir" val="rev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4"/>
      <dgm:constr type="sp" refType="w" refFor="ch" refForName="sibTrans"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StepDownProcess">
  <dgm:title val=""/>
  <dgm:desc val=""/>
  <dgm:catLst>
    <dgm:cat type="process" pri="16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60" srcId="0" destId="10" srcOrd="0" destOrd="0"/>
        <dgm:cxn modelId="12" srcId="10" destId="11" srcOrd="0" destOrd="0"/>
        <dgm:cxn modelId="70" srcId="0" destId="20" srcOrd="1" destOrd="0"/>
        <dgm:cxn modelId="22" srcId="20" destId="21" srcOrd="0" destOrd="0"/>
        <dgm:cxn modelId="80" srcId="0" destId="30" srcOrd="2" destOrd="0"/>
        <dgm:cxn modelId="32" srcId="30" destId="31" srcOrd="0"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node">
    <dgm:varLst>
      <dgm:chMax/>
      <dgm:chPref/>
      <dgm:dir/>
      <dgm:animLvl val="lvl"/>
    </dgm:varLst>
    <dgm:choose name="Name0">
      <dgm:if name="Name1" func="var" arg="dir" op="equ" val="norm">
        <dgm:alg type="snake">
          <dgm:param type="grDir" val="tL"/>
          <dgm:param type="flowDir" val="row"/>
          <dgm:param type="off" val="off"/>
          <dgm:param type="bkpt" val="fixed"/>
          <dgm:param type="bkPtFixedVal" val="1"/>
        </dgm:alg>
      </dgm:if>
      <dgm:else name="Name2">
        <dgm:alg type="snake">
          <dgm:param type="grDir" val="tR"/>
          <dgm:param type="flowDir" val="row"/>
          <dgm:param type="off" val="off"/>
          <dgm:param type="bkpt" val="fixed"/>
          <dgm:param type="bkPtFixedVal" val="1"/>
        </dgm:alg>
      </dgm:else>
    </dgm:choose>
    <dgm:shape xmlns:r="http://schemas.openxmlformats.org/officeDocument/2006/relationships" r:blip="">
      <dgm:adjLst/>
    </dgm:shape>
    <dgm:choose name="Name3">
      <dgm:if name="Name4" func="var" arg="dir" op="equ" val="norm">
        <dgm:constrLst>
          <dgm:constr type="alignOff" forName="rootnode" val="0.48"/>
          <dgm:constr type="primFontSz" for="des" forName="ParentText" val="65"/>
          <dgm:constr type="primFontSz" for="des" forName="ChildText" refType="primFontSz" refFor="des" refForName="ParentText" op="lte"/>
          <dgm:constr type="w" for="ch" forName="composite" refType="w"/>
          <dgm:constr type="h" for="ch" forName="composite" refType="h"/>
          <dgm:constr type="sp" refType="h" refFor="ch" refForName="composite" op="equ" fact="-0.38"/>
        </dgm:constrLst>
      </dgm:if>
      <dgm:else name="Name5">
        <dgm:constrLst>
          <dgm:constr type="alignOff" forName="rootnode" val="0.48"/>
          <dgm:constr type="primFontSz" for="des" forName="ParentText" val="65"/>
          <dgm:constr type="primFontSz" for="des" forName="ChildText" refType="primFontSz" refFor="des" refForName="ParentText" op="lte"/>
          <dgm:constr type="w" for="ch" forName="composite" refType="w"/>
          <dgm:constr type="h" for="ch" forName="composite" refType="h"/>
          <dgm:constr type="sp" refType="h" refFor="ch" refForName="composite" op="equ" fact="-0.38"/>
        </dgm:constrLst>
      </dgm:else>
    </dgm:choose>
    <dgm:forEach name="nodesForEach" axis="ch" ptType="node">
      <dgm:layoutNode name="composite">
        <dgm:alg type="composite">
          <dgm:param type="ar" val="1.2439"/>
        </dgm:alg>
        <dgm:shape xmlns:r="http://schemas.openxmlformats.org/officeDocument/2006/relationships" r:blip="">
          <dgm:adjLst/>
        </dgm:shape>
        <dgm:choose name="Name6">
          <dgm:if name="Name7" func="var" arg="dir" op="equ" val="norm">
            <dgm:constrLst>
              <dgm:constr type="l" for="ch" forName="bentUpArrow1" refType="w" fact="0.07"/>
              <dgm:constr type="t" for="ch" forName="bentUpArrow1" refType="h" fact="0.524"/>
              <dgm:constr type="w" for="ch" forName="bentUpArrow1" refType="w" fact="0.3844"/>
              <dgm:constr type="h" for="ch" forName="bentUpArrow1" refType="h" fact="0.42"/>
              <dgm:constr type="l" for="ch" forName="ParentText" refType="w" fact="0"/>
              <dgm:constr type="t" for="ch" forName="ParentText" refType="h" fact="0"/>
              <dgm:constr type="w" for="ch" forName="ParentText" refType="w" fact="0.5684"/>
              <dgm:constr type="h" for="ch" forName="ParentText" refType="h" fact="0.4949"/>
              <dgm:constr type="l" for="ch" forName="ChildText" refType="w" refFor="ch" refForName="ParentText"/>
              <dgm:constr type="t" for="ch" forName="ChildText" refType="h" fact="0.05"/>
              <dgm:constr type="w" for="ch" forName="ChildText" refType="w" fact="0.4134"/>
              <dgm:constr type="h" for="ch" forName="ChildText" refType="h" fact="0.4"/>
              <dgm:constr type="l" for="ch" forName="FinalChildText" refType="w" refFor="ch" refForName="ParentText"/>
              <dgm:constr type="t" for="ch" forName="FinalChildText" refType="h" fact="0.05"/>
              <dgm:constr type="w" for="ch" forName="FinalChildText" refType="w" fact="0.4134"/>
              <dgm:constr type="h" for="ch" forName="FinalChildText" refType="h" fact="0.4"/>
            </dgm:constrLst>
          </dgm:if>
          <dgm:else name="Name8">
            <dgm:constrLst>
              <dgm:constr type="r" for="ch" forName="bentUpArrow1" refType="w" fact="0.97"/>
              <dgm:constr type="t" for="ch" forName="bentUpArrow1" refType="h" fact="0.524"/>
              <dgm:constr type="w" for="ch" forName="bentUpArrow1" refType="w" fact="0.3844"/>
              <dgm:constr type="h" for="ch" forName="bentUpArrow1" refType="h" fact="0.42"/>
              <dgm:constr type="l" for="ch" forName="ParentText" refType="w" fact="0.4316"/>
              <dgm:constr type="t" for="ch" forName="ParentText" refType="h" fact="0"/>
              <dgm:constr type="w" for="ch" forName="ParentText" refType="w" fact="0.5684"/>
              <dgm:constr type="h" for="ch" forName="ParentText" refType="h" fact="0.4949"/>
              <dgm:constr type="l" for="ch" forName="ChildText" refType="w" fact="0"/>
              <dgm:constr type="t" for="ch" forName="ChildText" refType="h" fact="0.05"/>
              <dgm:constr type="w" for="ch" forName="ChildText" refType="w" fact="0.4134"/>
              <dgm:constr type="h" for="ch" forName="ChildText" refType="h" fact="0.4"/>
              <dgm:constr type="l" for="ch" forName="FinalChildText" refType="w" fact="0"/>
              <dgm:constr type="t" for="ch" forName="FinalChildText" refType="h" fact="0.05"/>
              <dgm:constr type="w" for="ch" forName="FinalChildText" refType="w" fact="0.4134"/>
              <dgm:constr type="h" for="ch" forName="FinalChildText" refType="h" fact="0.4"/>
            </dgm:constrLst>
          </dgm:else>
        </dgm:choose>
        <dgm:choose name="Name9">
          <dgm:if name="Name10" axis="followSib" ptType="node" func="cnt" op="gte" val="1">
            <dgm:layoutNode name="bentUpArrow1" styleLbl="alignImgPlace1">
              <dgm:alg type="sp"/>
              <dgm:choose name="Name11">
                <dgm:if name="Name12" func="var" arg="dir" op="equ" val="norm">
                  <dgm:shape xmlns:r="http://schemas.openxmlformats.org/officeDocument/2006/relationships" rot="90" type="bentUpArrow" r:blip="">
                    <dgm:adjLst>
                      <dgm:adj idx="1" val="0.3284"/>
                      <dgm:adj idx="2" val="0.25"/>
                      <dgm:adj idx="3" val="0.3578"/>
                    </dgm:adjLst>
                  </dgm:shape>
                </dgm:if>
                <dgm:else name="Name13">
                  <dgm:shape xmlns:r="http://schemas.openxmlformats.org/officeDocument/2006/relationships" rot="180" type="bentArrow" r:blip="">
                    <dgm:adjLst>
                      <dgm:adj idx="1" val="0.3284"/>
                      <dgm:adj idx="2" val="0.25"/>
                      <dgm:adj idx="3" val="0.3578"/>
                      <dgm:adj idx="4" val="0"/>
                    </dgm:adjLst>
                  </dgm:shape>
                </dgm:else>
              </dgm:choose>
              <dgm:presOf/>
            </dgm:layoutNode>
          </dgm:if>
          <dgm:else name="Name14"/>
        </dgm:choose>
        <dgm:layoutNode name="ParentText" styleLbl="node1">
          <dgm:varLst>
            <dgm:chMax val="1"/>
            <dgm:chPref val="1"/>
            <dgm:bulletEnabled val="1"/>
          </dgm:varLst>
          <dgm:alg type="tx"/>
          <dgm:shape xmlns:r="http://schemas.openxmlformats.org/officeDocument/2006/relationships" type="roundRect" r:blip="">
            <dgm:adjLst>
              <dgm:adj idx="1" val="0.1667"/>
            </dgm:adjLst>
          </dgm:shape>
          <dgm:presOf axis="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choose name="Name15">
          <dgm:if name="Name16" axis="followSib" ptType="node" func="cnt" op="equ" val="0">
            <dgm:choose name="Name17">
              <dgm:if name="Name18" axis="ch" ptType="node" func="cnt" op="gte" val="1">
                <dgm:layoutNode name="FinalChildText" styleLbl="revTx">
                  <dgm:varLst>
                    <dgm:chMax val="0"/>
                    <dgm:chPref val="0"/>
                    <dgm:bulletEnabled val="1"/>
                  </dgm:varLst>
                  <dgm:alg type="tx">
                    <dgm:param type="stBulletLvl" val="1"/>
                    <dgm:param type="txAnchorVertCh" val="mid"/>
                    <dgm:param type="parTxLTRAlign" val="l"/>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9"/>
            </dgm:choose>
          </dgm:if>
          <dgm:else name="Name20">
            <dgm:layoutNode name="ChildText" styleLbl="revTx">
              <dgm:varLst>
                <dgm:chMax val="0"/>
                <dgm:chPref val="0"/>
                <dgm:bulletEnabled val="1"/>
              </dgm:varLst>
              <dgm:alg type="tx">
                <dgm:param type="stBulletLvl" val="1"/>
                <dgm:param type="txAnchorVertCh" val="mid"/>
                <dgm:param type="parTxLTRAlign" val="l"/>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layoutNod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process5">
  <dgm:title val=""/>
  <dgm:desc val=""/>
  <dgm:catLst>
    <dgm:cat type="process" pri="17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diagram">
    <dgm:varLst>
      <dgm:dir/>
      <dgm:resizeHandles val="exact"/>
    </dgm:varLst>
    <dgm:choose name="Name0">
      <dgm:if name="Name1" axis="self" func="var" arg="dir" op="equ" val="norm">
        <dgm:alg type="snake">
          <dgm:param type="grDir" val="tL"/>
          <dgm:param type="flowDir" val="row"/>
          <dgm:param type="contDir" val="revDir"/>
          <dgm:param type="bkpt" val="endCnv"/>
        </dgm:alg>
      </dgm:if>
      <dgm:else name="Name2">
        <dgm:alg type="snake">
          <dgm:param type="grDir" val="tR"/>
          <dgm:param type="flowDir" val="row"/>
          <dgm:param type="contDir" val="rev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4"/>
      <dgm:constr type="sp" refType="w" refFor="ch" refForName="sibTrans"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7F82D20-900E-6C40-A05F-D83DFCD9E8C9}" type="datetimeFigureOut">
              <a:rPr lang="en-US" smtClean="0"/>
              <a:t>7/15/26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85C8D34-605E-5F4F-8998-DB15DC56D40F}" type="slidenum">
              <a:rPr lang="en-US" smtClean="0"/>
              <a:t>‹#›</a:t>
            </a:fld>
            <a:endParaRPr lang="en-US"/>
          </a:p>
        </p:txBody>
      </p:sp>
    </p:spTree>
    <p:extLst>
      <p:ext uri="{BB962C8B-B14F-4D97-AF65-F5344CB8AC3E}">
        <p14:creationId xmlns:p14="http://schemas.microsoft.com/office/powerpoint/2010/main" val="34496322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Hello everyone. Welcome to presentation 4. In the previous presentation, I focused on exploratory data analysis and feature engineering. Building on that work, this presentation covers the model development phase of the project. I'll discuss the modeling strategy, explain why three different sentiment analysis approaches were selected, describe the hyperparameter tuning and cross-validation process, compare model performance using multiple evaluation metrics, and review the results through error analysis and model interpretability.</a:t>
            </a:r>
          </a:p>
          <a:p>
            <a:r>
              <a:rPr lang="en-US" dirty="0"/>
              <a:t>I'll conclude by discussing the business and research implications of the modeling results and outline the next steps as I move toward the final phase of the capstone project.</a:t>
            </a:r>
          </a:p>
          <a:p>
            <a:endParaRPr lang="en-US" dirty="0"/>
          </a:p>
        </p:txBody>
      </p:sp>
      <p:sp>
        <p:nvSpPr>
          <p:cNvPr id="4" name="Slide Number Placeholder 3"/>
          <p:cNvSpPr>
            <a:spLocks noGrp="1"/>
          </p:cNvSpPr>
          <p:nvPr>
            <p:ph type="sldNum" sz="quarter" idx="5"/>
          </p:nvPr>
        </p:nvSpPr>
        <p:spPr/>
        <p:txBody>
          <a:bodyPr/>
          <a:lstStyle/>
          <a:p>
            <a:fld id="{085C8D34-605E-5F4F-8998-DB15DC56D40F}" type="slidenum">
              <a:rPr lang="en-US" smtClean="0"/>
              <a:t>1</a:t>
            </a:fld>
            <a:endParaRPr lang="en-US"/>
          </a:p>
        </p:txBody>
      </p:sp>
    </p:spTree>
    <p:extLst>
      <p:ext uri="{BB962C8B-B14F-4D97-AF65-F5344CB8AC3E}">
        <p14:creationId xmlns:p14="http://schemas.microsoft.com/office/powerpoint/2010/main" val="135675186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t>Before comparing individual algorithms, it is important to establish the modeling workflow used throughout the project. The manually labeled review dataset created during the previous phase served as the ground truth for supervised learning and model evaluation. Because only one review was labeled as negative, the sentiment labels were consolidated into a binary classification problem consisting of Positive and Not Positive reviews. This allowed the models to be trained on a more balanced target while still distinguishing clearly favorable reviews from those containing meaningful criticism or mixed opinions. The dataset was divided into an 80 percent training set and a 20 percent held-out test set using stratified sampling to preserve the class distribution. During training, five-fold stratified cross-validation and </a:t>
            </a:r>
            <a:r>
              <a:rPr lang="en-US" b="0" dirty="0" err="1"/>
              <a:t>GridSearchCV</a:t>
            </a:r>
            <a:r>
              <a:rPr lang="en-US" b="0" dirty="0"/>
              <a:t> were used to optimize model hyperparameters while reducing the risk of overfitting. All models were evaluated using the same performance metrics to provide a consistent basis for comparison. This common evaluation framework was applied to every modeling approach so that differences in performance reflect the algorithms themselves rather than differences in the evaluation methodology.</a:t>
            </a:r>
          </a:p>
        </p:txBody>
      </p:sp>
      <p:sp>
        <p:nvSpPr>
          <p:cNvPr id="4" name="Slide Number Placeholder 3"/>
          <p:cNvSpPr>
            <a:spLocks noGrp="1"/>
          </p:cNvSpPr>
          <p:nvPr>
            <p:ph type="sldNum" sz="quarter" idx="5"/>
          </p:nvPr>
        </p:nvSpPr>
        <p:spPr/>
        <p:txBody>
          <a:bodyPr/>
          <a:lstStyle/>
          <a:p>
            <a:fld id="{085C8D34-605E-5F4F-8998-DB15DC56D40F}" type="slidenum">
              <a:rPr lang="en-US" smtClean="0"/>
              <a:t>2</a:t>
            </a:fld>
            <a:endParaRPr lang="en-US"/>
          </a:p>
        </p:txBody>
      </p:sp>
    </p:spTree>
    <p:extLst>
      <p:ext uri="{BB962C8B-B14F-4D97-AF65-F5344CB8AC3E}">
        <p14:creationId xmlns:p14="http://schemas.microsoft.com/office/powerpoint/2010/main" val="335948132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t>Three complementary approaches were selected to evaluate sentiment classification from different machine learning perspectives. VADER was chosen as a traditional rule-based baseline because it requires no training data and is commonly used for general sentiment analysis. The </a:t>
            </a:r>
            <a:r>
              <a:rPr lang="en-US" b="0" dirty="0" err="1"/>
              <a:t>RoBERTa</a:t>
            </a:r>
            <a:r>
              <a:rPr lang="en-US" b="0" dirty="0"/>
              <a:t> transformer represents a modern pretrained language model that captures contextual relationships between words and has demonstrated strong performance across many NLP tasks without additional training. Historically, sentiment analysis has progressed from lexicon-based methods such as VADER, to pretrained transformer models, and more recently to domain-specific supervised models trained using labeled business data. This project follows that progression by comparing representative approaches from each stage of that evolution. Finally, TF-IDF with logistic regression was selected as the supervised learning approach because it can be trained directly on the manually labeled mountain bike review dataset while remaining computationally efficient and highly interpretable. Comparing these three approaches provides insight into whether increasing model sophistication leads to improved performance within this specialized application domain.</a:t>
            </a:r>
          </a:p>
        </p:txBody>
      </p:sp>
      <p:sp>
        <p:nvSpPr>
          <p:cNvPr id="4" name="Slide Number Placeholder 3"/>
          <p:cNvSpPr>
            <a:spLocks noGrp="1"/>
          </p:cNvSpPr>
          <p:nvPr>
            <p:ph type="sldNum" sz="quarter" idx="5"/>
          </p:nvPr>
        </p:nvSpPr>
        <p:spPr/>
        <p:txBody>
          <a:bodyPr/>
          <a:lstStyle/>
          <a:p>
            <a:fld id="{085C8D34-605E-5F4F-8998-DB15DC56D40F}" type="slidenum">
              <a:rPr lang="en-US" smtClean="0"/>
              <a:t>3</a:t>
            </a:fld>
            <a:endParaRPr lang="en-US"/>
          </a:p>
        </p:txBody>
      </p:sp>
    </p:spTree>
    <p:extLst>
      <p:ext uri="{BB962C8B-B14F-4D97-AF65-F5344CB8AC3E}">
        <p14:creationId xmlns:p14="http://schemas.microsoft.com/office/powerpoint/2010/main" val="6455712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Before developing a supervised model, two baseline approaches were evaluated. VADER served as the traditional baseline because it is a rule-based sentiment analysis method requiring no labeled training data. It scores text using a predefined sentiment lexicon combined with heuristic rules and is widely used as a benchmark for sentiment classification tasks. The second baseline was a pretrained </a:t>
            </a:r>
            <a:r>
              <a:rPr lang="en-US" dirty="0" err="1"/>
              <a:t>RoBERTa</a:t>
            </a:r>
            <a:r>
              <a:rPr lang="en-US" dirty="0"/>
              <a:t> transformer model. Unlike VADER, the transformer evaluates sentiment using contextual language representations and can better capture relationships between words. Because the review articles were much longer than the transformer's maximum input length, each article was divided into overlapping text chunks and the individual predictions were aggregated into a single article-level sentiment prediction. These baseline models established reference points for evaluating whether a supervised model trained specifically on the manually labeled review dataset could improve classification performance. Although these baseline models required little or no training, their performance would ultimately be compared against a supervised model trained specifically on the manually labeled review dataset.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085C8D34-605E-5F4F-8998-DB15DC56D40F}" type="slidenum">
              <a:rPr lang="en-US" smtClean="0"/>
              <a:t>4</a:t>
            </a:fld>
            <a:endParaRPr lang="en-US"/>
          </a:p>
        </p:txBody>
      </p:sp>
    </p:spTree>
    <p:extLst>
      <p:ext uri="{BB962C8B-B14F-4D97-AF65-F5344CB8AC3E}">
        <p14:creationId xmlns:p14="http://schemas.microsoft.com/office/powerpoint/2010/main" val="195327810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After evaluating the baseline approaches, a supervised machine learning model was developed using the manually labeled review dataset. Each review article was converted into a TF-IDF feature vector, which represents the importance of each term relative to the entire collection of reviews. These vectors formed the input to a logistic regression classifier that was trained to distinguish Positive from Not Positive reviews. Unlike the baseline models, this approach learns directly from the project data, allowing it to recognize vocabulary and language patterns specific to mountain bike product reviews. Logistic regression was selected because it performs well with high-dimensional text data, produces probabilistic predictions, and provides interpretable feature coefficients that can later be used to explain model behavior. The architecture shown here defines the model itself. The next step was determining which parameter settings produced the best performance through hyperparameter tuning and cross-validation.</a:t>
            </a:r>
          </a:p>
        </p:txBody>
      </p:sp>
      <p:sp>
        <p:nvSpPr>
          <p:cNvPr id="4" name="Slide Number Placeholder 3"/>
          <p:cNvSpPr>
            <a:spLocks noGrp="1"/>
          </p:cNvSpPr>
          <p:nvPr>
            <p:ph type="sldNum" sz="quarter" idx="5"/>
          </p:nvPr>
        </p:nvSpPr>
        <p:spPr/>
        <p:txBody>
          <a:bodyPr/>
          <a:lstStyle/>
          <a:p>
            <a:fld id="{085C8D34-605E-5F4F-8998-DB15DC56D40F}" type="slidenum">
              <a:rPr lang="en-US" smtClean="0"/>
              <a:t>5</a:t>
            </a:fld>
            <a:endParaRPr lang="en-US"/>
          </a:p>
        </p:txBody>
      </p:sp>
    </p:spTree>
    <p:extLst>
      <p:ext uri="{BB962C8B-B14F-4D97-AF65-F5344CB8AC3E}">
        <p14:creationId xmlns:p14="http://schemas.microsoft.com/office/powerpoint/2010/main" val="395962905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dirty="0"/>
              <a:t>After defining the supervised model, the next step was to optimize its performance through hyperparameter tuning. </a:t>
            </a:r>
            <a:r>
              <a:rPr lang="en-US" b="0" dirty="0" err="1"/>
              <a:t>GridSearchCV</a:t>
            </a:r>
            <a:r>
              <a:rPr lang="en-US" b="0" dirty="0"/>
              <a:t> was used to evaluate 120 combinations of TF-IDF vectorization and logistic regression parameters, including document frequency thresholds, n-gram configurations, regularization strength, and class weighting. Each parameter combination was evaluated using five-fold stratified cross-validation, resulting in a total of 600 model fits.</a:t>
            </a:r>
          </a:p>
          <a:p>
            <a:r>
              <a:rPr lang="en-US" b="0" dirty="0"/>
              <a:t>Five-fold cross-validation was selected because it provides a balance between reliable performance estimation and computational efficiency for a dataset of 301 labeled reviews. Stratification ensured that each fold preserved the proportion of Positive and Not Positive reviews, producing more consistent validation results despite the class imbalance.</a:t>
            </a:r>
          </a:p>
          <a:p>
            <a:r>
              <a:rPr lang="en-US" b="0" dirty="0"/>
              <a:t>Macro F1 score was selected as the optimization metric because it balances precision and recall across both sentiment classes while reducing the influence of class imbalance. The best-performing configuration used a regularization parameter of 0.1, balanced class weights, unigram features, and document frequency thresholds of two and 0.85, achieving a cross-validation Macro F1 score of 0.543.</a:t>
            </a:r>
          </a:p>
          <a:p>
            <a:r>
              <a:rPr lang="en-US" b="0" dirty="0"/>
              <a:t>With the optimal model selected, the final step was to evaluate its performance on the held-out test set and compare it with the baseline models.</a:t>
            </a:r>
          </a:p>
        </p:txBody>
      </p:sp>
      <p:sp>
        <p:nvSpPr>
          <p:cNvPr id="4" name="Slide Number Placeholder 3"/>
          <p:cNvSpPr>
            <a:spLocks noGrp="1"/>
          </p:cNvSpPr>
          <p:nvPr>
            <p:ph type="sldNum" sz="quarter" idx="5"/>
          </p:nvPr>
        </p:nvSpPr>
        <p:spPr/>
        <p:txBody>
          <a:bodyPr/>
          <a:lstStyle/>
          <a:p>
            <a:fld id="{085C8D34-605E-5F4F-8998-DB15DC56D40F}" type="slidenum">
              <a:rPr lang="en-US" smtClean="0"/>
              <a:t>6</a:t>
            </a:fld>
            <a:endParaRPr lang="en-US"/>
          </a:p>
        </p:txBody>
      </p:sp>
    </p:spTree>
    <p:extLst>
      <p:ext uri="{BB962C8B-B14F-4D97-AF65-F5344CB8AC3E}">
        <p14:creationId xmlns:p14="http://schemas.microsoft.com/office/powerpoint/2010/main" val="265683533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compares the final performance of the three sentiment-analysis approaches using the same manually labeled test dataset. While VADER achieved the highest overall accuracy at 78.4 percent, that result is largely influenced by the class imbalance because most reviews were labeled as Positive. As a result, accuracy alone does not fully reflect model performance for this classification problem.</a:t>
            </a:r>
          </a:p>
          <a:p>
            <a:r>
              <a:rPr lang="en-US" dirty="0"/>
              <a:t>For that reason, Balanced Accuracy, Macro F1, and ROC AUC were used to provide a more complete evaluation. Balanced Accuracy measures how well the model performs across both sentiment classes, Macro F1 equally weights precision and recall for each class, and ROC AUC evaluates the model's ability to distinguish between Positive and Not Positive reviews across different classification thresholds.</a:t>
            </a:r>
          </a:p>
          <a:p>
            <a:r>
              <a:rPr lang="en-US" dirty="0"/>
              <a:t>Using these metrics, the TF-IDF logistic regression model consistently outperformed both baseline approaches. It achieved the highest Balanced Accuracy of 0.597, the highest Macro F1 score of 0.564, and the highest ROC AUC of 0.665. These results indicate that training directly on the manually labeled mountain bike review dataset enabled the supervised model to better capture domain-specific sentiment than either the rule-based VADER baseline or the pretrained </a:t>
            </a:r>
            <a:r>
              <a:rPr lang="en-US" dirty="0" err="1"/>
              <a:t>RoBERTa</a:t>
            </a:r>
            <a:r>
              <a:rPr lang="en-US" dirty="0"/>
              <a:t> transformer.</a:t>
            </a:r>
          </a:p>
        </p:txBody>
      </p:sp>
      <p:sp>
        <p:nvSpPr>
          <p:cNvPr id="4" name="Slide Number Placeholder 3"/>
          <p:cNvSpPr>
            <a:spLocks noGrp="1"/>
          </p:cNvSpPr>
          <p:nvPr>
            <p:ph type="sldNum" sz="quarter" idx="5"/>
          </p:nvPr>
        </p:nvSpPr>
        <p:spPr/>
        <p:txBody>
          <a:bodyPr/>
          <a:lstStyle/>
          <a:p>
            <a:fld id="{085C8D34-605E-5F4F-8998-DB15DC56D40F}" type="slidenum">
              <a:rPr lang="en-US" smtClean="0"/>
              <a:t>7</a:t>
            </a:fld>
            <a:endParaRPr lang="en-US"/>
          </a:p>
        </p:txBody>
      </p:sp>
    </p:spTree>
    <p:extLst>
      <p:ext uri="{BB962C8B-B14F-4D97-AF65-F5344CB8AC3E}">
        <p14:creationId xmlns:p14="http://schemas.microsoft.com/office/powerpoint/2010/main" val="17994975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selecting the final supervised model, the confusion matrix and feature importance were examined to better understand its behavior. The confusion matrix shows that the model correctly classified most Positive reviews, while the majority of errors occurred when distinguishing clearly Positive reviews from reviews containing mixed sentiment. These mixed reviews often combined strong praise with meaningful criticism, making the overall sentiment inherently more difficult to classify.</a:t>
            </a:r>
          </a:p>
          <a:p>
            <a:r>
              <a:rPr lang="en-US" dirty="0"/>
              <a:t>Examination of the learned feature coefficients showed that the model relied heavily on technical product vocabulary rather than traditional opinion words. This reflects the nature of professional mountain bike reviews, where sentiment is commonly expressed through discussions of suspension performance, component quality, climbing efficiency, and ride characteristics instead of explicitly positive or negative language.</a:t>
            </a:r>
          </a:p>
          <a:p>
            <a:r>
              <a:rPr lang="en-US" dirty="0"/>
              <a:t>These findings also highlight an important limitation of the project. With only 301 manually labeled reviews, the model learned to associate domain-specific terminology with sentiment, reducing overall interpretability. Increasing the size of the labeled dataset or fine-tuning a domain-specific transformer would likely improve the model's ability to distinguish nuanced mixed sentiment while maintaining strong predictive performance.</a:t>
            </a:r>
          </a:p>
        </p:txBody>
      </p:sp>
      <p:sp>
        <p:nvSpPr>
          <p:cNvPr id="4" name="Slide Number Placeholder 3"/>
          <p:cNvSpPr>
            <a:spLocks noGrp="1"/>
          </p:cNvSpPr>
          <p:nvPr>
            <p:ph type="sldNum" sz="quarter" idx="5"/>
          </p:nvPr>
        </p:nvSpPr>
        <p:spPr/>
        <p:txBody>
          <a:bodyPr/>
          <a:lstStyle/>
          <a:p>
            <a:fld id="{085C8D34-605E-5F4F-8998-DB15DC56D40F}" type="slidenum">
              <a:rPr lang="en-US" smtClean="0"/>
              <a:t>8</a:t>
            </a:fld>
            <a:endParaRPr lang="en-US"/>
          </a:p>
        </p:txBody>
      </p:sp>
    </p:spTree>
    <p:extLst>
      <p:ext uri="{BB962C8B-B14F-4D97-AF65-F5344CB8AC3E}">
        <p14:creationId xmlns:p14="http://schemas.microsoft.com/office/powerpoint/2010/main" val="211048435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Beyond selecting the best-performing model, this project provides several practical insights for both business applications and future NLP research. From a business perspective, the supervised model demonstrated that sentiment analysis can summarize long-form product reviews at scale while supporting comparisons across brands, product categories, and review types. Because the logistic regression model is interpretable, it also provides transparency into the language influencing predictions, making the results easier to explain to business stakeholders.</a:t>
            </a:r>
          </a:p>
          <a:p>
            <a:r>
              <a:rPr lang="en-US" dirty="0"/>
              <a:t>From a research perspective, the comparison of rule-based, pretrained, and supervised approaches showed that increasing model complexity alone does not guarantee improved performance. Although the pretrained transformer represents a more advanced architecture, it was not trained specifically on mountain bike reviews and therefore transferred poorly to this specialized domain. In contrast, the supervised TF-IDF logistic regression model benefited from project-specific labeled data and achieved the strongest overall balanced performance.</a:t>
            </a:r>
          </a:p>
          <a:p>
            <a:r>
              <a:rPr lang="en-US" dirty="0"/>
              <a:t>These findings reinforce the importance of combining domain knowledge with appropriate modeling techniques when developing practical NLP solutions for specialized technical text.</a:t>
            </a:r>
          </a:p>
        </p:txBody>
      </p:sp>
      <p:sp>
        <p:nvSpPr>
          <p:cNvPr id="4" name="Slide Number Placeholder 3"/>
          <p:cNvSpPr>
            <a:spLocks noGrp="1"/>
          </p:cNvSpPr>
          <p:nvPr>
            <p:ph type="sldNum" sz="quarter" idx="5"/>
          </p:nvPr>
        </p:nvSpPr>
        <p:spPr/>
        <p:txBody>
          <a:bodyPr/>
          <a:lstStyle/>
          <a:p>
            <a:fld id="{085C8D34-605E-5F4F-8998-DB15DC56D40F}" type="slidenum">
              <a:rPr lang="en-US" smtClean="0"/>
              <a:t>9</a:t>
            </a:fld>
            <a:endParaRPr lang="en-US"/>
          </a:p>
        </p:txBody>
      </p:sp>
    </p:spTree>
    <p:extLst>
      <p:ext uri="{BB962C8B-B14F-4D97-AF65-F5344CB8AC3E}">
        <p14:creationId xmlns:p14="http://schemas.microsoft.com/office/powerpoint/2010/main" val="288678079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presentation focused on developing, optimizing, and evaluating multiple sentiment-analysis models using the manually labeled mountain bike review dataset. Three complementary modeling approaches were compared using a common evaluation framework, allowing differences in performance to be attributed to the models rather than the evaluation process. While VADER provided a useful rule-based baseline and the pretrained </a:t>
            </a:r>
            <a:r>
              <a:rPr lang="en-US" dirty="0" err="1"/>
              <a:t>RoBERTa</a:t>
            </a:r>
            <a:r>
              <a:rPr lang="en-US" dirty="0"/>
              <a:t> transformer demonstrated the potential of transfer learning, the supervised TF-IDF logistic regression model achieved the strongest overall balanced performance and was selected as the final model.</a:t>
            </a:r>
          </a:p>
          <a:p>
            <a:r>
              <a:rPr lang="en-US" dirty="0"/>
              <a:t>Looking ahead, the next phase of the project will focus on expanding the manually labeled dataset, exploring domain-specific transformer fine-tuning, and applying the final sentiment model to compare sentiment across brands, product categories, and review types. These analyses will provide the foundation for the final capstone deliverable and demonstrate how NLP can generate actionable insights from long-form technical product reviews.</a:t>
            </a:r>
          </a:p>
        </p:txBody>
      </p:sp>
      <p:sp>
        <p:nvSpPr>
          <p:cNvPr id="4" name="Slide Number Placeholder 3"/>
          <p:cNvSpPr>
            <a:spLocks noGrp="1"/>
          </p:cNvSpPr>
          <p:nvPr>
            <p:ph type="sldNum" sz="quarter" idx="5"/>
          </p:nvPr>
        </p:nvSpPr>
        <p:spPr/>
        <p:txBody>
          <a:bodyPr/>
          <a:lstStyle/>
          <a:p>
            <a:fld id="{085C8D34-605E-5F4F-8998-DB15DC56D40F}" type="slidenum">
              <a:rPr lang="en-US" smtClean="0"/>
              <a:t>10</a:t>
            </a:fld>
            <a:endParaRPr lang="en-US"/>
          </a:p>
        </p:txBody>
      </p:sp>
    </p:spTree>
    <p:extLst>
      <p:ext uri="{BB962C8B-B14F-4D97-AF65-F5344CB8AC3E}">
        <p14:creationId xmlns:p14="http://schemas.microsoft.com/office/powerpoint/2010/main" val="242461488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755DF60E-8B57-924B-825F-23BE3BB50F9C}" type="datetimeFigureOut">
              <a:rPr lang="en-US" smtClean="0"/>
              <a:t>7/15/26</a:t>
            </a:fld>
            <a:endParaRPr lang="en-US"/>
          </a:p>
        </p:txBody>
      </p:sp>
      <p:sp>
        <p:nvSpPr>
          <p:cNvPr id="5" name="Footer Placeholder 4"/>
          <p:cNvSpPr>
            <a:spLocks noGrp="1"/>
          </p:cNvSpPr>
          <p:nvPr>
            <p:ph type="ftr" sz="quarter" idx="11"/>
          </p:nvPr>
        </p:nvSpPr>
        <p:spPr/>
        <p:txBody>
          <a:bodyPr/>
          <a:lstStyle/>
          <a:p>
            <a:endParaRPr lang="en-US"/>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txBody>
          <a:bodyPr/>
          <a:lstStyle/>
          <a:p>
            <a:endParaRPr lang="en-US"/>
          </a:p>
        </p:txBody>
      </p:sp>
      <p:sp>
        <p:nvSpPr>
          <p:cNvPr id="6" name="Slide Number Placeholder 5"/>
          <p:cNvSpPr>
            <a:spLocks noGrp="1"/>
          </p:cNvSpPr>
          <p:nvPr>
            <p:ph type="sldNum" sz="quarter" idx="12"/>
          </p:nvPr>
        </p:nvSpPr>
        <p:spPr>
          <a:xfrm>
            <a:off x="531812" y="4529540"/>
            <a:ext cx="779767" cy="365125"/>
          </a:xfrm>
        </p:spPr>
        <p:txBody>
          <a:bodyPr/>
          <a:lstStyle/>
          <a:p>
            <a:fld id="{6E28AF00-0B86-A249-BAE9-6A03A519170D}" type="slidenum">
              <a:rPr lang="en-US" smtClean="0"/>
              <a:t>‹#›</a:t>
            </a:fld>
            <a:endParaRPr lang="en-US"/>
          </a:p>
        </p:txBody>
      </p:sp>
    </p:spTree>
    <p:extLst>
      <p:ext uri="{BB962C8B-B14F-4D97-AF65-F5344CB8AC3E}">
        <p14:creationId xmlns:p14="http://schemas.microsoft.com/office/powerpoint/2010/main" val="4278242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55DF60E-8B57-924B-825F-23BE3BB50F9C}" type="datetimeFigureOut">
              <a:rPr lang="en-US" smtClean="0"/>
              <a:t>7/15/26</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6E28AF00-0B86-A249-BAE9-6A03A519170D}" type="slidenum">
              <a:rPr lang="en-US" smtClean="0"/>
              <a:t>‹#›</a:t>
            </a:fld>
            <a:endParaRPr lang="en-US"/>
          </a:p>
        </p:txBody>
      </p:sp>
    </p:spTree>
    <p:extLst>
      <p:ext uri="{BB962C8B-B14F-4D97-AF65-F5344CB8AC3E}">
        <p14:creationId xmlns:p14="http://schemas.microsoft.com/office/powerpoint/2010/main" val="34422892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55DF60E-8B57-924B-825F-23BE3BB50F9C}" type="datetimeFigureOut">
              <a:rPr lang="en-US" smtClean="0"/>
              <a:t>7/15/26</a:t>
            </a:fld>
            <a:endParaRPr lang="en-US"/>
          </a:p>
        </p:txBody>
      </p:sp>
      <p:sp>
        <p:nvSpPr>
          <p:cNvPr id="5" name="Footer Placeholder 4"/>
          <p:cNvSpPr>
            <a:spLocks noGrp="1"/>
          </p:cNvSpPr>
          <p:nvPr>
            <p:ph type="ftr" sz="quarter" idx="11"/>
          </p:nvPr>
        </p:nvSpPr>
        <p:spPr/>
        <p:txBody>
          <a:bodyPr/>
          <a:lstStyle/>
          <a:p>
            <a:endParaRPr lang="en-US"/>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6E28AF00-0B86-A249-BAE9-6A03A519170D}" type="slidenum">
              <a:rPr lang="en-US" smtClean="0"/>
              <a:t>‹#›</a:t>
            </a:fld>
            <a:endParaRPr lang="en-US"/>
          </a:p>
        </p:txBody>
      </p:sp>
    </p:spTree>
    <p:extLst>
      <p:ext uri="{BB962C8B-B14F-4D97-AF65-F5344CB8AC3E}">
        <p14:creationId xmlns:p14="http://schemas.microsoft.com/office/powerpoint/2010/main" val="26297803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55DF60E-8B57-924B-825F-23BE3BB50F9C}" type="datetimeFigureOut">
              <a:rPr lang="en-US" smtClean="0"/>
              <a:t>7/15/26</a:t>
            </a:fld>
            <a:endParaRPr lang="en-US"/>
          </a:p>
        </p:txBody>
      </p:sp>
      <p:sp>
        <p:nvSpPr>
          <p:cNvPr id="6" name="Footer Placeholder 5"/>
          <p:cNvSpPr>
            <a:spLocks noGrp="1"/>
          </p:cNvSpPr>
          <p:nvPr>
            <p:ph type="ftr" sz="quarter" idx="11"/>
          </p:nvPr>
        </p:nvSpPr>
        <p:spPr/>
        <p:txBody>
          <a:bodyPr/>
          <a:lstStyle/>
          <a:p>
            <a:endParaRPr lang="en-US"/>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lang="en-US"/>
          </a:p>
        </p:txBody>
      </p:sp>
      <p:sp>
        <p:nvSpPr>
          <p:cNvPr id="11" name="Slide Number Placeholder 5"/>
          <p:cNvSpPr>
            <a:spLocks noGrp="1"/>
          </p:cNvSpPr>
          <p:nvPr>
            <p:ph type="sldNum" sz="quarter" idx="12"/>
          </p:nvPr>
        </p:nvSpPr>
        <p:spPr>
          <a:xfrm>
            <a:off x="531812" y="787782"/>
            <a:ext cx="779767" cy="365125"/>
          </a:xfrm>
        </p:spPr>
        <p:txBody>
          <a:bodyPr/>
          <a:lstStyle/>
          <a:p>
            <a:fld id="{6E28AF00-0B86-A249-BAE9-6A03A519170D}" type="slidenum">
              <a:rPr lang="en-US" smtClean="0"/>
              <a:t>‹#›</a:t>
            </a:fld>
            <a:endParaRPr lang="en-US"/>
          </a:p>
        </p:txBody>
      </p:sp>
    </p:spTree>
    <p:extLst>
      <p:ext uri="{BB962C8B-B14F-4D97-AF65-F5344CB8AC3E}">
        <p14:creationId xmlns:p14="http://schemas.microsoft.com/office/powerpoint/2010/main" val="24561506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755DF60E-8B57-924B-825F-23BE3BB50F9C}" type="datetimeFigureOut">
              <a:rPr lang="en-US" smtClean="0"/>
              <a:t>7/15/26</a:t>
            </a:fld>
            <a:endParaRPr lang="en-US"/>
          </a:p>
        </p:txBody>
      </p:sp>
      <p:sp>
        <p:nvSpPr>
          <p:cNvPr id="8" name="Footer Placeholder 7"/>
          <p:cNvSpPr>
            <a:spLocks noGrp="1"/>
          </p:cNvSpPr>
          <p:nvPr>
            <p:ph type="ftr" sz="quarter" idx="11"/>
          </p:nvPr>
        </p:nvSpPr>
        <p:spPr/>
        <p:txBody>
          <a:bodyPr/>
          <a:lstStyle/>
          <a:p>
            <a:endParaRPr lang="en-US"/>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6E28AF00-0B86-A249-BAE9-6A03A519170D}" type="slidenum">
              <a:rPr lang="en-US" smtClean="0"/>
              <a:t>‹#›</a:t>
            </a:fld>
            <a:endParaRPr lang="en-US"/>
          </a:p>
        </p:txBody>
      </p:sp>
    </p:spTree>
    <p:extLst>
      <p:ext uri="{BB962C8B-B14F-4D97-AF65-F5344CB8AC3E}">
        <p14:creationId xmlns:p14="http://schemas.microsoft.com/office/powerpoint/2010/main" val="23451081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55DF60E-8B57-924B-825F-23BE3BB50F9C}" type="datetimeFigureOut">
              <a:rPr lang="en-US" smtClean="0"/>
              <a:t>7/15/26</a:t>
            </a:fld>
            <a:endParaRPr lang="en-US"/>
          </a:p>
        </p:txBody>
      </p:sp>
      <p:sp>
        <p:nvSpPr>
          <p:cNvPr id="4" name="Footer Placeholder 3"/>
          <p:cNvSpPr>
            <a:spLocks noGrp="1"/>
          </p:cNvSpPr>
          <p:nvPr>
            <p:ph type="ftr" sz="quarter" idx="11"/>
          </p:nvPr>
        </p:nvSpPr>
        <p:spPr/>
        <p:txBody>
          <a:bodyPr/>
          <a:lstStyle/>
          <a:p>
            <a:endParaRPr lang="en-US"/>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6E28AF00-0B86-A249-BAE9-6A03A519170D}" type="slidenum">
              <a:rPr lang="en-US" smtClean="0"/>
              <a:t>‹#›</a:t>
            </a:fld>
            <a:endParaRPr lang="en-US"/>
          </a:p>
        </p:txBody>
      </p:sp>
    </p:spTree>
    <p:extLst>
      <p:ext uri="{BB962C8B-B14F-4D97-AF65-F5344CB8AC3E}">
        <p14:creationId xmlns:p14="http://schemas.microsoft.com/office/powerpoint/2010/main" val="26041451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55DF60E-8B57-924B-825F-23BE3BB50F9C}" type="datetimeFigureOut">
              <a:rPr lang="en-US" smtClean="0"/>
              <a:t>7/15/26</a:t>
            </a:fld>
            <a:endParaRPr lang="en-US"/>
          </a:p>
        </p:txBody>
      </p:sp>
      <p:sp>
        <p:nvSpPr>
          <p:cNvPr id="3" name="Footer Placeholder 2"/>
          <p:cNvSpPr>
            <a:spLocks noGrp="1"/>
          </p:cNvSpPr>
          <p:nvPr>
            <p:ph type="ftr" sz="quarter" idx="11"/>
          </p:nvPr>
        </p:nvSpPr>
        <p:spPr/>
        <p:txBody>
          <a:bodyPr/>
          <a:lstStyle/>
          <a:p>
            <a:endParaRPr lang="en-US"/>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6E28AF00-0B86-A249-BAE9-6A03A519170D}" type="slidenum">
              <a:rPr lang="en-US" smtClean="0"/>
              <a:t>‹#›</a:t>
            </a:fld>
            <a:endParaRPr lang="en-US"/>
          </a:p>
        </p:txBody>
      </p:sp>
    </p:spTree>
    <p:extLst>
      <p:ext uri="{BB962C8B-B14F-4D97-AF65-F5344CB8AC3E}">
        <p14:creationId xmlns:p14="http://schemas.microsoft.com/office/powerpoint/2010/main" val="14105068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55DF60E-8B57-924B-825F-23BE3BB50F9C}" type="datetimeFigureOut">
              <a:rPr lang="en-US" smtClean="0"/>
              <a:t>7/15/26</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6E28AF00-0B86-A249-BAE9-6A03A519170D}" type="slidenum">
              <a:rPr lang="en-US" smtClean="0"/>
              <a:t>‹#›</a:t>
            </a:fld>
            <a:endParaRPr lang="en-US"/>
          </a:p>
        </p:txBody>
      </p:sp>
    </p:spTree>
    <p:extLst>
      <p:ext uri="{BB962C8B-B14F-4D97-AF65-F5344CB8AC3E}">
        <p14:creationId xmlns:p14="http://schemas.microsoft.com/office/powerpoint/2010/main" val="5681400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55DF60E-8B57-924B-825F-23BE3BB50F9C}" type="datetimeFigureOut">
              <a:rPr lang="en-US" smtClean="0"/>
              <a:t>7/15/26</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6E28AF00-0B86-A249-BAE9-6A03A519170D}" type="slidenum">
              <a:rPr lang="en-US" smtClean="0"/>
              <a:t>‹#›</a:t>
            </a:fld>
            <a:endParaRPr lang="en-US"/>
          </a:p>
        </p:txBody>
      </p:sp>
    </p:spTree>
    <p:extLst>
      <p:ext uri="{BB962C8B-B14F-4D97-AF65-F5344CB8AC3E}">
        <p14:creationId xmlns:p14="http://schemas.microsoft.com/office/powerpoint/2010/main" val="38588986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55DF60E-8B57-924B-825F-23BE3BB50F9C}" type="datetimeFigureOut">
              <a:rPr lang="en-US" smtClean="0"/>
              <a:t>7/15/26</a:t>
            </a:fld>
            <a:endParaRPr lang="en-US"/>
          </a:p>
        </p:txBody>
      </p:sp>
      <p:sp>
        <p:nvSpPr>
          <p:cNvPr id="5" name="Footer Placeholder 4"/>
          <p:cNvSpPr>
            <a:spLocks noGrp="1"/>
          </p:cNvSpPr>
          <p:nvPr>
            <p:ph type="ftr" sz="quarter" idx="11"/>
          </p:nvPr>
        </p:nvSpPr>
        <p:spPr/>
        <p:txBody>
          <a:bodyPr/>
          <a:lstStyle/>
          <a:p>
            <a:endParaRPr lang="en-US"/>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6E28AF00-0B86-A249-BAE9-6A03A519170D}" type="slidenum">
              <a:rPr lang="en-US" smtClean="0"/>
              <a:t>‹#›</a:t>
            </a:fld>
            <a:endParaRPr lang="en-US"/>
          </a:p>
        </p:txBody>
      </p:sp>
    </p:spTree>
    <p:extLst>
      <p:ext uri="{BB962C8B-B14F-4D97-AF65-F5344CB8AC3E}">
        <p14:creationId xmlns:p14="http://schemas.microsoft.com/office/powerpoint/2010/main" val="10957725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55DF60E-8B57-924B-825F-23BE3BB50F9C}" type="datetimeFigureOut">
              <a:rPr lang="en-US" smtClean="0"/>
              <a:t>7/15/26</a:t>
            </a:fld>
            <a:endParaRPr lang="en-US"/>
          </a:p>
        </p:txBody>
      </p:sp>
      <p:sp>
        <p:nvSpPr>
          <p:cNvPr id="5" name="Footer Placeholder 4"/>
          <p:cNvSpPr>
            <a:spLocks noGrp="1"/>
          </p:cNvSpPr>
          <p:nvPr>
            <p:ph type="ftr" sz="quarter" idx="11"/>
          </p:nvPr>
        </p:nvSpPr>
        <p:spPr/>
        <p:txBody>
          <a:bodyPr/>
          <a:lstStyle/>
          <a:p>
            <a:endParaRPr lang="en-US"/>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6E28AF00-0B86-A249-BAE9-6A03A519170D}" type="slidenum">
              <a:rPr lang="en-US" smtClean="0"/>
              <a:t>‹#›</a:t>
            </a:fld>
            <a:endParaRPr lang="en-US"/>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260277469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755DF60E-8B57-924B-825F-23BE3BB50F9C}" type="datetimeFigureOut">
              <a:rPr lang="en-US" smtClean="0"/>
              <a:t>7/15/26</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6E28AF00-0B86-A249-BAE9-6A03A519170D}" type="slidenum">
              <a:rPr lang="en-US" smtClean="0"/>
              <a:t>‹#›</a:t>
            </a:fld>
            <a:endParaRPr lang="en-US"/>
          </a:p>
        </p:txBody>
      </p:sp>
    </p:spTree>
    <p:extLst>
      <p:ext uri="{BB962C8B-B14F-4D97-AF65-F5344CB8AC3E}">
        <p14:creationId xmlns:p14="http://schemas.microsoft.com/office/powerpoint/2010/main" val="268080031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755DF60E-8B57-924B-825F-23BE3BB50F9C}" type="datetimeFigureOut">
              <a:rPr lang="en-US" smtClean="0"/>
              <a:t>7/15/26</a:t>
            </a:fld>
            <a:endParaRPr lang="en-US"/>
          </a:p>
        </p:txBody>
      </p:sp>
      <p:sp>
        <p:nvSpPr>
          <p:cNvPr id="6" name="Footer Placeholder 5"/>
          <p:cNvSpPr>
            <a:spLocks noGrp="1"/>
          </p:cNvSpPr>
          <p:nvPr>
            <p:ph type="ftr" sz="quarter" idx="11"/>
          </p:nvPr>
        </p:nvSpPr>
        <p:spPr/>
        <p:txBody>
          <a:bodyPr/>
          <a:lstStyle/>
          <a:p>
            <a:endParaRPr lang="en-US"/>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6E28AF00-0B86-A249-BAE9-6A03A519170D}" type="slidenum">
              <a:rPr lang="en-US" smtClean="0"/>
              <a:t>‹#›</a:t>
            </a:fld>
            <a:endParaRPr lang="en-US"/>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35679879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755DF60E-8B57-924B-825F-23BE3BB50F9C}" type="datetimeFigureOut">
              <a:rPr lang="en-US" smtClean="0"/>
              <a:t>7/15/26</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6E28AF00-0B86-A249-BAE9-6A03A519170D}" type="slidenum">
              <a:rPr lang="en-US" smtClean="0"/>
              <a:t>‹#›</a:t>
            </a:fld>
            <a:endParaRPr lang="en-US"/>
          </a:p>
        </p:txBody>
      </p:sp>
    </p:spTree>
    <p:extLst>
      <p:ext uri="{BB962C8B-B14F-4D97-AF65-F5344CB8AC3E}">
        <p14:creationId xmlns:p14="http://schemas.microsoft.com/office/powerpoint/2010/main" val="297252107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55DF60E-8B57-924B-825F-23BE3BB50F9C}" type="datetimeFigureOut">
              <a:rPr lang="en-US" smtClean="0"/>
              <a:t>7/15/26</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6E28AF00-0B86-A249-BAE9-6A03A519170D}" type="slidenum">
              <a:rPr lang="en-US" smtClean="0"/>
              <a:t>‹#›</a:t>
            </a:fld>
            <a:endParaRPr lang="en-US"/>
          </a:p>
        </p:txBody>
      </p:sp>
    </p:spTree>
    <p:extLst>
      <p:ext uri="{BB962C8B-B14F-4D97-AF65-F5344CB8AC3E}">
        <p14:creationId xmlns:p14="http://schemas.microsoft.com/office/powerpoint/2010/main" val="262768816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55DF60E-8B57-924B-825F-23BE3BB50F9C}" type="datetimeFigureOut">
              <a:rPr lang="en-US" smtClean="0"/>
              <a:t>7/15/26</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6E28AF00-0B86-A249-BAE9-6A03A519170D}" type="slidenum">
              <a:rPr lang="en-US" smtClean="0"/>
              <a:t>‹#›</a:t>
            </a:fld>
            <a:endParaRPr lang="en-US"/>
          </a:p>
        </p:txBody>
      </p:sp>
    </p:spTree>
    <p:extLst>
      <p:ext uri="{BB962C8B-B14F-4D97-AF65-F5344CB8AC3E}">
        <p14:creationId xmlns:p14="http://schemas.microsoft.com/office/powerpoint/2010/main" val="15771735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txBody>
            <a:bodyPr/>
            <a:lstStyle/>
            <a:p>
              <a:endParaRPr lang="en-US"/>
            </a:p>
          </p:txBody>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txBody>
            <a:bodyPr/>
            <a:lstStyle/>
            <a:p>
              <a:endParaRPr lang="en-US"/>
            </a:p>
          </p:txBody>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txBody>
            <a:bodyPr/>
            <a:lstStyle/>
            <a:p>
              <a:endParaRPr lang="en-US"/>
            </a:p>
          </p:txBody>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txBody>
            <a:bodyPr/>
            <a:lstStyle/>
            <a:p>
              <a:endParaRPr lang="en-US"/>
            </a:p>
          </p:txBody>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txBody>
            <a:bodyPr/>
            <a:lstStyle/>
            <a:p>
              <a:endParaRPr lang="en-US"/>
            </a:p>
          </p:txBody>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txBody>
            <a:bodyPr/>
            <a:lstStyle/>
            <a:p>
              <a:endParaRPr lang="en-US"/>
            </a:p>
          </p:txBody>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txBody>
            <a:bodyPr/>
            <a:lstStyle/>
            <a:p>
              <a:endParaRPr lang="en-US"/>
            </a:p>
          </p:txBody>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txBody>
            <a:bodyPr/>
            <a:lstStyle/>
            <a:p>
              <a:endParaRPr lang="en-US"/>
            </a:p>
          </p:txBody>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txBody>
            <a:bodyPr/>
            <a:lstStyle/>
            <a:p>
              <a:endParaRPr lang="en-US"/>
            </a:p>
          </p:txBody>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txBody>
            <a:bodyPr/>
            <a:lstStyle/>
            <a:p>
              <a:endParaRPr lang="en-US"/>
            </a:p>
          </p:txBody>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txBody>
            <a:bodyPr/>
            <a:lstStyle/>
            <a:p>
              <a:endParaRPr lang="en-US"/>
            </a:p>
          </p:txBody>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txBody>
            <a:bodyPr/>
            <a:lstStyle/>
            <a:p>
              <a:endParaRPr lang="en-US"/>
            </a:p>
          </p:txBody>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txBody>
            <a:bodyPr/>
            <a:lstStyle/>
            <a:p>
              <a:endParaRPr lang="en-US"/>
            </a:p>
          </p:txBody>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txBody>
            <a:bodyPr/>
            <a:lstStyle/>
            <a:p>
              <a:endParaRPr lang="en-US"/>
            </a:p>
          </p:txBody>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txBody>
            <a:bodyPr/>
            <a:lstStyle/>
            <a:p>
              <a:endParaRPr lang="en-US"/>
            </a:p>
          </p:txBody>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txBody>
            <a:bodyPr/>
            <a:lstStyle/>
            <a:p>
              <a:endParaRPr lang="en-US"/>
            </a:p>
          </p:txBody>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txBody>
            <a:bodyPr/>
            <a:lstStyle/>
            <a:p>
              <a:endParaRPr lang="en-US"/>
            </a:p>
          </p:txBody>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txBody>
            <a:bodyPr/>
            <a:lstStyle/>
            <a:p>
              <a:endParaRPr lang="en-US"/>
            </a:p>
          </p:txBody>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txBody>
            <a:bodyPr/>
            <a:lstStyle/>
            <a:p>
              <a:endParaRPr lang="en-US"/>
            </a:p>
          </p:txBody>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txBody>
            <a:bodyPr/>
            <a:lstStyle/>
            <a:p>
              <a:endParaRPr lang="en-US"/>
            </a:p>
          </p:txBody>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txBody>
            <a:bodyPr/>
            <a:lstStyle/>
            <a:p>
              <a:endParaRPr lang="en-US"/>
            </a:p>
          </p:txBody>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txBody>
            <a:bodyPr/>
            <a:lstStyle/>
            <a:p>
              <a:endParaRPr lang="en-US"/>
            </a:p>
          </p:txBody>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txBody>
            <a:bodyPr/>
            <a:lstStyle/>
            <a:p>
              <a:endParaRPr lang="en-US"/>
            </a:p>
          </p:txBody>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txBody>
            <a:bodyPr/>
            <a:lstStyle/>
            <a:p>
              <a:endParaRPr lang="en-US"/>
            </a:p>
          </p:txBody>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755DF60E-8B57-924B-825F-23BE3BB50F9C}" type="datetimeFigureOut">
              <a:rPr lang="en-US" smtClean="0"/>
              <a:t>7/15/26</a:t>
            </a:fld>
            <a:endParaRPr lang="en-US"/>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6E28AF00-0B86-A249-BAE9-6A03A519170D}" type="slidenum">
              <a:rPr lang="en-US" smtClean="0"/>
              <a:t>‹#›</a:t>
            </a:fld>
            <a:endParaRPr lang="en-US"/>
          </a:p>
        </p:txBody>
      </p:sp>
    </p:spTree>
    <p:extLst>
      <p:ext uri="{BB962C8B-B14F-4D97-AF65-F5344CB8AC3E}">
        <p14:creationId xmlns:p14="http://schemas.microsoft.com/office/powerpoint/2010/main" val="3744193452"/>
      </p:ext>
    </p:extLst>
  </p:cSld>
  <p:clrMap bg1="lt1" tx1="dk1" bg2="lt2" tx2="dk2" accent1="accent1" accent2="accent2" accent3="accent3" accent4="accent4" accent5="accent5" accent6="accent6" hlink="hlink" folHlink="folHlink"/>
  <p:sldLayoutIdLst>
    <p:sldLayoutId id="2147483733" r:id="rId1"/>
    <p:sldLayoutId id="2147483734" r:id="rId2"/>
    <p:sldLayoutId id="2147483735" r:id="rId3"/>
    <p:sldLayoutId id="2147483736" r:id="rId4"/>
    <p:sldLayoutId id="2147483737" r:id="rId5"/>
    <p:sldLayoutId id="2147483738" r:id="rId6"/>
    <p:sldLayoutId id="2147483739" r:id="rId7"/>
    <p:sldLayoutId id="2147483740" r:id="rId8"/>
    <p:sldLayoutId id="2147483741" r:id="rId9"/>
    <p:sldLayoutId id="2147483742" r:id="rId10"/>
    <p:sldLayoutId id="2147483743" r:id="rId11"/>
    <p:sldLayoutId id="2147483744" r:id="rId12"/>
    <p:sldLayoutId id="2147483745" r:id="rId13"/>
    <p:sldLayoutId id="2147483746" r:id="rId14"/>
    <p:sldLayoutId id="2147483747" r:id="rId15"/>
    <p:sldLayoutId id="2147483748"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4.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8" Type="http://schemas.openxmlformats.org/officeDocument/2006/relationships/diagramData" Target="../diagrams/data3.xml"/><Relationship Id="rId3" Type="http://schemas.openxmlformats.org/officeDocument/2006/relationships/diagramData" Target="../diagrams/data2.xml"/><Relationship Id="rId7" Type="http://schemas.microsoft.com/office/2007/relationships/diagramDrawing" Target="../diagrams/drawing2.xml"/><Relationship Id="rId12" Type="http://schemas.microsoft.com/office/2007/relationships/diagramDrawing" Target="../diagrams/drawing3.xml"/><Relationship Id="rId2" Type="http://schemas.openxmlformats.org/officeDocument/2006/relationships/notesSlide" Target="../notesSlides/notesSlide4.xml"/><Relationship Id="rId1" Type="http://schemas.openxmlformats.org/officeDocument/2006/relationships/slideLayout" Target="../slideLayouts/slideLayout4.xml"/><Relationship Id="rId6" Type="http://schemas.openxmlformats.org/officeDocument/2006/relationships/diagramColors" Target="../diagrams/colors2.xml"/><Relationship Id="rId11" Type="http://schemas.openxmlformats.org/officeDocument/2006/relationships/diagramColors" Target="../diagrams/colors3.xml"/><Relationship Id="rId5" Type="http://schemas.openxmlformats.org/officeDocument/2006/relationships/diagramQuickStyle" Target="../diagrams/quickStyle2.xml"/><Relationship Id="rId10" Type="http://schemas.openxmlformats.org/officeDocument/2006/relationships/diagramQuickStyle" Target="../diagrams/quickStyle3.xml"/><Relationship Id="rId4" Type="http://schemas.openxmlformats.org/officeDocument/2006/relationships/diagramLayout" Target="../diagrams/layout2.xml"/><Relationship Id="rId9" Type="http://schemas.openxmlformats.org/officeDocument/2006/relationships/diagramLayout" Target="../diagrams/layout3.xml"/></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5.xml"/><Relationship Id="rId1" Type="http://schemas.openxmlformats.org/officeDocument/2006/relationships/slideLayout" Target="../slideLayouts/slideLayout4.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6.xml"/><Relationship Id="rId1" Type="http://schemas.openxmlformats.org/officeDocument/2006/relationships/slideLayout" Target="../slideLayouts/slideLayout4.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4.xml"/><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D1D210-F303-3E90-5E0C-BB139BBC850C}"/>
              </a:ext>
            </a:extLst>
          </p:cNvPr>
          <p:cNvSpPr>
            <a:spLocks noGrp="1"/>
          </p:cNvSpPr>
          <p:nvPr>
            <p:ph type="ctrTitle"/>
          </p:nvPr>
        </p:nvSpPr>
        <p:spPr/>
        <p:txBody>
          <a:bodyPr>
            <a:noAutofit/>
          </a:bodyPr>
          <a:lstStyle/>
          <a:p>
            <a:r>
              <a:rPr lang="en-US" sz="4400" dirty="0">
                <a:solidFill>
                  <a:schemeClr val="tx1"/>
                </a:solidFill>
                <a:ea typeface="+mn-ea"/>
                <a:cs typeface="+mn-cs"/>
              </a:rPr>
              <a:t>Sentiment Intelligence for Mountain Bike Product Reviews: </a:t>
            </a:r>
            <a:r>
              <a:rPr lang="en-US" sz="4400" dirty="0"/>
              <a:t>Model Building and Evaluation</a:t>
            </a:r>
            <a:endParaRPr lang="en-US" sz="4400" dirty="0">
              <a:solidFill>
                <a:schemeClr val="tx1"/>
              </a:solidFill>
              <a:ea typeface="+mn-ea"/>
              <a:cs typeface="+mn-cs"/>
            </a:endParaRPr>
          </a:p>
        </p:txBody>
      </p:sp>
      <p:sp>
        <p:nvSpPr>
          <p:cNvPr id="3" name="Subtitle 2">
            <a:extLst>
              <a:ext uri="{FF2B5EF4-FFF2-40B4-BE49-F238E27FC236}">
                <a16:creationId xmlns:a16="http://schemas.microsoft.com/office/drawing/2014/main" id="{D8F71DB5-6FA4-1572-E257-D1FC641B2E49}"/>
              </a:ext>
            </a:extLst>
          </p:cNvPr>
          <p:cNvSpPr>
            <a:spLocks noGrp="1"/>
          </p:cNvSpPr>
          <p:nvPr>
            <p:ph type="subTitle" idx="1"/>
          </p:nvPr>
        </p:nvSpPr>
        <p:spPr/>
        <p:txBody>
          <a:bodyPr>
            <a:normAutofit lnSpcReduction="10000"/>
          </a:bodyPr>
          <a:lstStyle/>
          <a:p>
            <a:r>
              <a:rPr lang="en-US" dirty="0"/>
              <a:t>DS 785</a:t>
            </a:r>
          </a:p>
          <a:p>
            <a:r>
              <a:rPr lang="en-US" dirty="0"/>
              <a:t>Austin Engstrom</a:t>
            </a:r>
          </a:p>
          <a:p>
            <a:r>
              <a:rPr lang="en-US" dirty="0"/>
              <a:t>July 2026</a:t>
            </a:r>
          </a:p>
        </p:txBody>
      </p:sp>
    </p:spTree>
    <p:extLst>
      <p:ext uri="{BB962C8B-B14F-4D97-AF65-F5344CB8AC3E}">
        <p14:creationId xmlns:p14="http://schemas.microsoft.com/office/powerpoint/2010/main" val="2101489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F874C1-8CF3-1F36-4117-C33E0415ADA3}"/>
              </a:ext>
            </a:extLst>
          </p:cNvPr>
          <p:cNvSpPr>
            <a:spLocks noGrp="1"/>
          </p:cNvSpPr>
          <p:nvPr>
            <p:ph type="title"/>
          </p:nvPr>
        </p:nvSpPr>
        <p:spPr/>
        <p:txBody>
          <a:bodyPr/>
          <a:lstStyle/>
          <a:p>
            <a:r>
              <a:rPr lang="en-US" dirty="0"/>
              <a:t>Model Strategy &amp; Evaluation Framework</a:t>
            </a:r>
          </a:p>
        </p:txBody>
      </p:sp>
      <p:graphicFrame>
        <p:nvGraphicFramePr>
          <p:cNvPr id="5" name="Content Placeholder 4">
            <a:extLst>
              <a:ext uri="{FF2B5EF4-FFF2-40B4-BE49-F238E27FC236}">
                <a16:creationId xmlns:a16="http://schemas.microsoft.com/office/drawing/2014/main" id="{9C70C147-D4AD-BAB8-FC0A-F26EEFD704F4}"/>
              </a:ext>
            </a:extLst>
          </p:cNvPr>
          <p:cNvGraphicFramePr>
            <a:graphicFrameLocks noGrp="1"/>
          </p:cNvGraphicFramePr>
          <p:nvPr>
            <p:ph sz="half" idx="1"/>
            <p:extLst>
              <p:ext uri="{D42A27DB-BD31-4B8C-83A1-F6EECF244321}">
                <p14:modId xmlns:p14="http://schemas.microsoft.com/office/powerpoint/2010/main" val="371073112"/>
              </p:ext>
            </p:extLst>
          </p:nvPr>
        </p:nvGraphicFramePr>
        <p:xfrm>
          <a:off x="2589213" y="2133600"/>
          <a:ext cx="4313237" cy="377825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Content Placeholder 3">
            <a:extLst>
              <a:ext uri="{FF2B5EF4-FFF2-40B4-BE49-F238E27FC236}">
                <a16:creationId xmlns:a16="http://schemas.microsoft.com/office/drawing/2014/main" id="{7CC79107-7575-48B8-CAD1-4C33D1910310}"/>
              </a:ext>
            </a:extLst>
          </p:cNvPr>
          <p:cNvSpPr>
            <a:spLocks noGrp="1"/>
          </p:cNvSpPr>
          <p:nvPr>
            <p:ph sz="half" idx="2"/>
          </p:nvPr>
        </p:nvSpPr>
        <p:spPr/>
        <p:txBody>
          <a:bodyPr>
            <a:normAutofit fontScale="70000" lnSpcReduction="20000"/>
          </a:bodyPr>
          <a:lstStyle/>
          <a:p>
            <a:pPr marL="0" indent="0">
              <a:buNone/>
            </a:pPr>
            <a:r>
              <a:rPr lang="en-US" sz="2300" b="1" dirty="0"/>
              <a:t>Model Development Approach</a:t>
            </a:r>
          </a:p>
          <a:p>
            <a:pPr lvl="0"/>
            <a:r>
              <a:rPr lang="en-US" dirty="0"/>
              <a:t>301 manually labeled mountain bike product reviews served as the ground truth for supervised learning. </a:t>
            </a:r>
          </a:p>
          <a:p>
            <a:r>
              <a:rPr lang="en-US" dirty="0"/>
              <a:t>Because only one review was labeled Negative, sentiment was modeled as a binary classification problem (Positive vs. Not Positive). </a:t>
            </a:r>
          </a:p>
          <a:p>
            <a:pPr lvl="0"/>
            <a:r>
              <a:rPr lang="en-US" dirty="0"/>
              <a:t>Data were split into training (80%) and testing (20%) sets using stratified sampling to preserve class balance. </a:t>
            </a:r>
          </a:p>
          <a:p>
            <a:r>
              <a:rPr lang="en-US" dirty="0"/>
              <a:t>Five-fold stratified cross-validation with </a:t>
            </a:r>
            <a:r>
              <a:rPr lang="en-US" dirty="0" err="1"/>
              <a:t>GridSearchCV</a:t>
            </a:r>
            <a:r>
              <a:rPr lang="en-US" dirty="0"/>
              <a:t> was used to optimize model hyperparameters while reducing the risk of overfitting.</a:t>
            </a:r>
          </a:p>
          <a:p>
            <a:pPr lvl="0"/>
            <a:r>
              <a:rPr lang="en-US" dirty="0"/>
              <a:t>All models were evaluated using a common set of performance metrics to enable consistent comparison. </a:t>
            </a:r>
          </a:p>
        </p:txBody>
      </p:sp>
    </p:spTree>
    <p:extLst>
      <p:ext uri="{BB962C8B-B14F-4D97-AF65-F5344CB8AC3E}">
        <p14:creationId xmlns:p14="http://schemas.microsoft.com/office/powerpoint/2010/main" val="28188643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9F5E06-CD90-D3AA-C696-4E91321CF637}"/>
              </a:ext>
            </a:extLst>
          </p:cNvPr>
          <p:cNvSpPr>
            <a:spLocks noGrp="1"/>
          </p:cNvSpPr>
          <p:nvPr>
            <p:ph type="title"/>
          </p:nvPr>
        </p:nvSpPr>
        <p:spPr/>
        <p:txBody>
          <a:bodyPr/>
          <a:lstStyle/>
          <a:p>
            <a:r>
              <a:rPr lang="en-US" dirty="0"/>
              <a:t>Model Selection</a:t>
            </a:r>
          </a:p>
        </p:txBody>
      </p:sp>
      <p:graphicFrame>
        <p:nvGraphicFramePr>
          <p:cNvPr id="4" name="Content Placeholder 3">
            <a:extLst>
              <a:ext uri="{FF2B5EF4-FFF2-40B4-BE49-F238E27FC236}">
                <a16:creationId xmlns:a16="http://schemas.microsoft.com/office/drawing/2014/main" id="{3A0956F4-E3D9-3985-9018-C64A40B5880B}"/>
              </a:ext>
            </a:extLst>
          </p:cNvPr>
          <p:cNvGraphicFramePr>
            <a:graphicFrameLocks noGrp="1"/>
          </p:cNvGraphicFramePr>
          <p:nvPr>
            <p:ph idx="1"/>
            <p:extLst>
              <p:ext uri="{D42A27DB-BD31-4B8C-83A1-F6EECF244321}">
                <p14:modId xmlns:p14="http://schemas.microsoft.com/office/powerpoint/2010/main" val="2944625551"/>
              </p:ext>
            </p:extLst>
          </p:nvPr>
        </p:nvGraphicFramePr>
        <p:xfrm>
          <a:off x="943213" y="1747520"/>
          <a:ext cx="10305573" cy="3362960"/>
        </p:xfrm>
        <a:graphic>
          <a:graphicData uri="http://schemas.openxmlformats.org/drawingml/2006/table">
            <a:tbl>
              <a:tblPr firstRow="1" bandRow="1">
                <a:tableStyleId>{5C22544A-7EE6-4342-B048-85BDC9FD1C3A}</a:tableStyleId>
              </a:tblPr>
              <a:tblGrid>
                <a:gridCol w="2192655">
                  <a:extLst>
                    <a:ext uri="{9D8B030D-6E8A-4147-A177-3AD203B41FA5}">
                      <a16:colId xmlns:a16="http://schemas.microsoft.com/office/drawing/2014/main" val="1083759219"/>
                    </a:ext>
                  </a:extLst>
                </a:gridCol>
                <a:gridCol w="2704306">
                  <a:extLst>
                    <a:ext uri="{9D8B030D-6E8A-4147-A177-3AD203B41FA5}">
                      <a16:colId xmlns:a16="http://schemas.microsoft.com/office/drawing/2014/main" val="233756903"/>
                    </a:ext>
                  </a:extLst>
                </a:gridCol>
                <a:gridCol w="2704306">
                  <a:extLst>
                    <a:ext uri="{9D8B030D-6E8A-4147-A177-3AD203B41FA5}">
                      <a16:colId xmlns:a16="http://schemas.microsoft.com/office/drawing/2014/main" val="3054064987"/>
                    </a:ext>
                  </a:extLst>
                </a:gridCol>
                <a:gridCol w="2704306">
                  <a:extLst>
                    <a:ext uri="{9D8B030D-6E8A-4147-A177-3AD203B41FA5}">
                      <a16:colId xmlns:a16="http://schemas.microsoft.com/office/drawing/2014/main" val="2263477328"/>
                    </a:ext>
                  </a:extLst>
                </a:gridCol>
              </a:tblGrid>
              <a:tr h="370840">
                <a:tc>
                  <a:txBody>
                    <a:bodyPr/>
                    <a:lstStyle/>
                    <a:p>
                      <a:endParaRPr lang="en-US"/>
                    </a:p>
                  </a:txBody>
                  <a:tcPr/>
                </a:tc>
                <a:tc>
                  <a:txBody>
                    <a:bodyPr/>
                    <a:lstStyle/>
                    <a:p>
                      <a:r>
                        <a:rPr lang="en-US" dirty="0"/>
                        <a:t>Vader</a:t>
                      </a:r>
                    </a:p>
                  </a:txBody>
                  <a:tcPr/>
                </a:tc>
                <a:tc>
                  <a:txBody>
                    <a:bodyPr/>
                    <a:lstStyle/>
                    <a:p>
                      <a:r>
                        <a:rPr lang="en-US" dirty="0"/>
                        <a:t>Pretrained </a:t>
                      </a:r>
                      <a:r>
                        <a:rPr lang="en-US" dirty="0" err="1"/>
                        <a:t>RoBERTa</a:t>
                      </a:r>
                      <a:r>
                        <a:rPr lang="en-US" dirty="0"/>
                        <a:t> Transformer</a:t>
                      </a:r>
                    </a:p>
                  </a:txBody>
                  <a:tcPr/>
                </a:tc>
                <a:tc>
                  <a:txBody>
                    <a:bodyPr/>
                    <a:lstStyle/>
                    <a:p>
                      <a:r>
                        <a:rPr lang="en-US" dirty="0"/>
                        <a:t>TF-IDF + Logistic Regression</a:t>
                      </a:r>
                    </a:p>
                  </a:txBody>
                  <a:tcPr/>
                </a:tc>
                <a:extLst>
                  <a:ext uri="{0D108BD9-81ED-4DB2-BD59-A6C34878D82A}">
                    <a16:rowId xmlns:a16="http://schemas.microsoft.com/office/drawing/2014/main" val="2118756519"/>
                  </a:ext>
                </a:extLst>
              </a:tr>
              <a:tr h="370840">
                <a:tc>
                  <a:txBody>
                    <a:bodyPr/>
                    <a:lstStyle/>
                    <a:p>
                      <a:r>
                        <a:rPr lang="en-US" sz="1600" dirty="0"/>
                        <a:t>Approach</a:t>
                      </a:r>
                    </a:p>
                  </a:txBody>
                  <a:tcPr/>
                </a:tc>
                <a:tc>
                  <a:txBody>
                    <a:bodyPr/>
                    <a:lstStyle/>
                    <a:p>
                      <a:r>
                        <a:rPr lang="en-US" sz="1600" dirty="0"/>
                        <a:t>Rule-based sentiment analysis</a:t>
                      </a:r>
                    </a:p>
                  </a:txBody>
                  <a:tcPr/>
                </a:tc>
                <a:tc>
                  <a:txBody>
                    <a:bodyPr/>
                    <a:lstStyle/>
                    <a:p>
                      <a:r>
                        <a:rPr lang="en-US" sz="1600" dirty="0"/>
                        <a:t>Pretrained transformer</a:t>
                      </a:r>
                    </a:p>
                  </a:txBody>
                  <a:tcPr/>
                </a:tc>
                <a:tc>
                  <a:txBody>
                    <a:bodyPr/>
                    <a:lstStyle/>
                    <a:p>
                      <a:r>
                        <a:rPr lang="en-US" sz="1600" dirty="0"/>
                        <a:t>Supervised machine learning</a:t>
                      </a:r>
                    </a:p>
                  </a:txBody>
                  <a:tcPr/>
                </a:tc>
                <a:extLst>
                  <a:ext uri="{0D108BD9-81ED-4DB2-BD59-A6C34878D82A}">
                    <a16:rowId xmlns:a16="http://schemas.microsoft.com/office/drawing/2014/main" val="1794317122"/>
                  </a:ext>
                </a:extLst>
              </a:tr>
              <a:tr h="370840">
                <a:tc>
                  <a:txBody>
                    <a:bodyPr/>
                    <a:lstStyle/>
                    <a:p>
                      <a:r>
                        <a:rPr lang="en-US" sz="1600" dirty="0"/>
                        <a:t>Training Required</a:t>
                      </a:r>
                    </a:p>
                  </a:txBody>
                  <a:tcPr/>
                </a:tc>
                <a:tc>
                  <a:txBody>
                    <a:bodyPr/>
                    <a:lstStyle/>
                    <a:p>
                      <a:r>
                        <a:rPr lang="en-US" sz="1600" dirty="0"/>
                        <a:t>No</a:t>
                      </a:r>
                    </a:p>
                  </a:txBody>
                  <a:tcPr/>
                </a:tc>
                <a:tc>
                  <a:txBody>
                    <a:bodyPr/>
                    <a:lstStyle/>
                    <a:p>
                      <a:r>
                        <a:rPr lang="en-US" sz="1600" dirty="0"/>
                        <a:t>No (pretrained)</a:t>
                      </a:r>
                    </a:p>
                  </a:txBody>
                  <a:tcPr/>
                </a:tc>
                <a:tc>
                  <a:txBody>
                    <a:bodyPr/>
                    <a:lstStyle/>
                    <a:p>
                      <a:r>
                        <a:rPr lang="en-US" sz="1600" dirty="0"/>
                        <a:t>Yes</a:t>
                      </a:r>
                    </a:p>
                  </a:txBody>
                  <a:tcPr/>
                </a:tc>
                <a:extLst>
                  <a:ext uri="{0D108BD9-81ED-4DB2-BD59-A6C34878D82A}">
                    <a16:rowId xmlns:a16="http://schemas.microsoft.com/office/drawing/2014/main" val="4090139156"/>
                  </a:ext>
                </a:extLst>
              </a:tr>
              <a:tr h="370840">
                <a:tc>
                  <a:txBody>
                    <a:bodyPr/>
                    <a:lstStyle/>
                    <a:p>
                      <a:r>
                        <a:rPr lang="en-US" sz="1600" dirty="0"/>
                        <a:t>Strengths</a:t>
                      </a:r>
                    </a:p>
                  </a:txBody>
                  <a:tcPr/>
                </a:tc>
                <a:tc>
                  <a:txBody>
                    <a:bodyPr/>
                    <a:lstStyle/>
                    <a:p>
                      <a:r>
                        <a:rPr lang="en-US" sz="1600" dirty="0"/>
                        <a:t>Fast, interpretable baseline</a:t>
                      </a:r>
                    </a:p>
                  </a:txBody>
                  <a:tcPr/>
                </a:tc>
                <a:tc>
                  <a:txBody>
                    <a:bodyPr/>
                    <a:lstStyle/>
                    <a:p>
                      <a:r>
                        <a:rPr lang="en-US" sz="1600" dirty="0"/>
                        <a:t>Contextual language understanding</a:t>
                      </a:r>
                    </a:p>
                  </a:txBody>
                  <a:tcPr/>
                </a:tc>
                <a:tc>
                  <a:txBody>
                    <a:bodyPr/>
                    <a:lstStyle/>
                    <a:p>
                      <a:r>
                        <a:rPr lang="en-US" sz="1600" dirty="0"/>
                        <a:t>Learns domain-specific vocabulary with interpretable coefficients</a:t>
                      </a:r>
                    </a:p>
                  </a:txBody>
                  <a:tcPr/>
                </a:tc>
                <a:extLst>
                  <a:ext uri="{0D108BD9-81ED-4DB2-BD59-A6C34878D82A}">
                    <a16:rowId xmlns:a16="http://schemas.microsoft.com/office/drawing/2014/main" val="2774108746"/>
                  </a:ext>
                </a:extLst>
              </a:tr>
              <a:tr h="370840">
                <a:tc>
                  <a:txBody>
                    <a:bodyPr/>
                    <a:lstStyle/>
                    <a:p>
                      <a:r>
                        <a:rPr lang="en-US" sz="1600" dirty="0"/>
                        <a:t>Limitations</a:t>
                      </a:r>
                    </a:p>
                  </a:txBody>
                  <a:tcPr/>
                </a:tc>
                <a:tc>
                  <a:txBody>
                    <a:bodyPr/>
                    <a:lstStyle/>
                    <a:p>
                      <a:r>
                        <a:rPr lang="en-US" sz="1600" dirty="0"/>
                        <a:t>Limited contextual understanding</a:t>
                      </a:r>
                    </a:p>
                  </a:txBody>
                  <a:tcPr/>
                </a:tc>
                <a:tc>
                  <a:txBody>
                    <a:bodyPr/>
                    <a:lstStyle/>
                    <a:p>
                      <a:r>
                        <a:rPr lang="en-US" sz="1600" dirty="0"/>
                        <a:t>Not trained on mountain bike reviews</a:t>
                      </a:r>
                    </a:p>
                  </a:txBody>
                  <a:tcPr/>
                </a:tc>
                <a:tc>
                  <a:txBody>
                    <a:bodyPr/>
                    <a:lstStyle/>
                    <a:p>
                      <a:r>
                        <a:rPr lang="en-US" sz="1600" dirty="0"/>
                        <a:t>Requires labeled training data</a:t>
                      </a:r>
                    </a:p>
                  </a:txBody>
                  <a:tcPr/>
                </a:tc>
                <a:extLst>
                  <a:ext uri="{0D108BD9-81ED-4DB2-BD59-A6C34878D82A}">
                    <a16:rowId xmlns:a16="http://schemas.microsoft.com/office/drawing/2014/main" val="2686779872"/>
                  </a:ext>
                </a:extLst>
              </a:tr>
              <a:tr h="370840">
                <a:tc>
                  <a:txBody>
                    <a:bodyPr/>
                    <a:lstStyle/>
                    <a:p>
                      <a:r>
                        <a:rPr lang="en-US" sz="1600" dirty="0"/>
                        <a:t>Purpose in this study</a:t>
                      </a:r>
                    </a:p>
                  </a:txBody>
                  <a:tcPr/>
                </a:tc>
                <a:tc>
                  <a:txBody>
                    <a:bodyPr/>
                    <a:lstStyle/>
                    <a:p>
                      <a:r>
                        <a:rPr lang="en-US" sz="1600" dirty="0"/>
                        <a:t>Baseline comparison</a:t>
                      </a:r>
                    </a:p>
                  </a:txBody>
                  <a:tcPr/>
                </a:tc>
                <a:tc>
                  <a:txBody>
                    <a:bodyPr/>
                    <a:lstStyle/>
                    <a:p>
                      <a:r>
                        <a:rPr lang="en-US" sz="1600" dirty="0"/>
                        <a:t>Evaluate transfer learning</a:t>
                      </a:r>
                    </a:p>
                  </a:txBody>
                  <a:tcPr/>
                </a:tc>
                <a:tc>
                  <a:txBody>
                    <a:bodyPr/>
                    <a:lstStyle/>
                    <a:p>
                      <a:r>
                        <a:rPr lang="en-US" sz="1600" dirty="0"/>
                        <a:t>Final supervised model</a:t>
                      </a:r>
                    </a:p>
                  </a:txBody>
                  <a:tcPr/>
                </a:tc>
                <a:extLst>
                  <a:ext uri="{0D108BD9-81ED-4DB2-BD59-A6C34878D82A}">
                    <a16:rowId xmlns:a16="http://schemas.microsoft.com/office/drawing/2014/main" val="3771724657"/>
                  </a:ext>
                </a:extLst>
              </a:tr>
            </a:tbl>
          </a:graphicData>
        </a:graphic>
      </p:graphicFrame>
      <p:sp>
        <p:nvSpPr>
          <p:cNvPr id="5" name="TextBox 4">
            <a:extLst>
              <a:ext uri="{FF2B5EF4-FFF2-40B4-BE49-F238E27FC236}">
                <a16:creationId xmlns:a16="http://schemas.microsoft.com/office/drawing/2014/main" id="{BA39DD83-C569-4C3A-3A71-62B4E5144E1A}"/>
              </a:ext>
            </a:extLst>
          </p:cNvPr>
          <p:cNvSpPr txBox="1"/>
          <p:nvPr/>
        </p:nvSpPr>
        <p:spPr>
          <a:xfrm>
            <a:off x="687389" y="5502166"/>
            <a:ext cx="10817224" cy="1169551"/>
          </a:xfrm>
          <a:prstGeom prst="rect">
            <a:avLst/>
          </a:prstGeom>
          <a:noFill/>
        </p:spPr>
        <p:txBody>
          <a:bodyPr wrap="square" rtlCol="0">
            <a:spAutoFit/>
          </a:bodyPr>
          <a:lstStyle/>
          <a:p>
            <a:r>
              <a:rPr lang="en-US" sz="1400" b="1" dirty="0"/>
              <a:t>Three complementary modeling approaches</a:t>
            </a:r>
            <a:r>
              <a:rPr lang="en-US" sz="1400" dirty="0"/>
              <a:t> were selected to compare rule-based, pretrained, and supervised methods using the same manually labeled review dataset. This progression evaluates whether increasing model complexity improves sentiment classification for long-form technical mountain bike reviews. This progression evaluates whether increasing model complexity improves sentiment classification for long-form technical mountain bike reviews while providing actionable business insights into product sentiment.</a:t>
            </a:r>
          </a:p>
        </p:txBody>
      </p:sp>
    </p:spTree>
    <p:extLst>
      <p:ext uri="{BB962C8B-B14F-4D97-AF65-F5344CB8AC3E}">
        <p14:creationId xmlns:p14="http://schemas.microsoft.com/office/powerpoint/2010/main" val="42853696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A47C5C-1774-272C-D731-C65435B3ACBF}"/>
              </a:ext>
            </a:extLst>
          </p:cNvPr>
          <p:cNvSpPr>
            <a:spLocks noGrp="1"/>
          </p:cNvSpPr>
          <p:nvPr>
            <p:ph type="title"/>
          </p:nvPr>
        </p:nvSpPr>
        <p:spPr>
          <a:xfrm>
            <a:off x="2592924" y="624110"/>
            <a:ext cx="8911687" cy="1077218"/>
          </a:xfrm>
        </p:spPr>
        <p:txBody>
          <a:bodyPr/>
          <a:lstStyle/>
          <a:p>
            <a:r>
              <a:rPr lang="en-US" dirty="0"/>
              <a:t>Baseline model Comparison</a:t>
            </a:r>
          </a:p>
        </p:txBody>
      </p:sp>
      <p:graphicFrame>
        <p:nvGraphicFramePr>
          <p:cNvPr id="5" name="Content Placeholder 4">
            <a:extLst>
              <a:ext uri="{FF2B5EF4-FFF2-40B4-BE49-F238E27FC236}">
                <a16:creationId xmlns:a16="http://schemas.microsoft.com/office/drawing/2014/main" id="{DF26CFB7-4C39-FA6F-0583-D6426C269B3A}"/>
              </a:ext>
            </a:extLst>
          </p:cNvPr>
          <p:cNvGraphicFramePr>
            <a:graphicFrameLocks noGrp="1"/>
          </p:cNvGraphicFramePr>
          <p:nvPr>
            <p:ph sz="half" idx="1"/>
            <p:extLst>
              <p:ext uri="{D42A27DB-BD31-4B8C-83A1-F6EECF244321}">
                <p14:modId xmlns:p14="http://schemas.microsoft.com/office/powerpoint/2010/main" val="3538587496"/>
              </p:ext>
            </p:extLst>
          </p:nvPr>
        </p:nvGraphicFramePr>
        <p:xfrm>
          <a:off x="1782762" y="2166786"/>
          <a:ext cx="4313237" cy="210732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9" name="Content Placeholder 8">
            <a:extLst>
              <a:ext uri="{FF2B5EF4-FFF2-40B4-BE49-F238E27FC236}">
                <a16:creationId xmlns:a16="http://schemas.microsoft.com/office/drawing/2014/main" id="{1FE9FDB5-BC77-84B0-37AF-13F6D1D7E1C8}"/>
              </a:ext>
            </a:extLst>
          </p:cNvPr>
          <p:cNvGraphicFramePr>
            <a:graphicFrameLocks noGrp="1"/>
          </p:cNvGraphicFramePr>
          <p:nvPr>
            <p:ph sz="half" idx="2"/>
            <p:extLst>
              <p:ext uri="{D42A27DB-BD31-4B8C-83A1-F6EECF244321}">
                <p14:modId xmlns:p14="http://schemas.microsoft.com/office/powerpoint/2010/main" val="3314178714"/>
              </p:ext>
            </p:extLst>
          </p:nvPr>
        </p:nvGraphicFramePr>
        <p:xfrm>
          <a:off x="6643685" y="2131515"/>
          <a:ext cx="4313238" cy="2115261"/>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
        <p:nvSpPr>
          <p:cNvPr id="6" name="TextBox 5">
            <a:extLst>
              <a:ext uri="{FF2B5EF4-FFF2-40B4-BE49-F238E27FC236}">
                <a16:creationId xmlns:a16="http://schemas.microsoft.com/office/drawing/2014/main" id="{1ED56E0E-572B-30CD-C4F0-D59C2BCA60BB}"/>
              </a:ext>
            </a:extLst>
          </p:cNvPr>
          <p:cNvSpPr txBox="1"/>
          <p:nvPr/>
        </p:nvSpPr>
        <p:spPr>
          <a:xfrm>
            <a:off x="1782762" y="4387297"/>
            <a:ext cx="4398514" cy="1077218"/>
          </a:xfrm>
          <a:prstGeom prst="rect">
            <a:avLst/>
          </a:prstGeom>
          <a:noFill/>
        </p:spPr>
        <p:txBody>
          <a:bodyPr wrap="square" rtlCol="0">
            <a:spAutoFit/>
          </a:bodyPr>
          <a:lstStyle/>
          <a:p>
            <a:pPr marL="285750" indent="-285750">
              <a:buFont typeface="Arial" panose="020B0604020202020204" pitchFamily="34" charset="0"/>
              <a:buChar char="•"/>
            </a:pPr>
            <a:r>
              <a:rPr lang="en-US" sz="1600" dirty="0"/>
              <a:t>Rule-based sentiment analysis</a:t>
            </a:r>
          </a:p>
          <a:p>
            <a:pPr marL="285750" indent="-285750">
              <a:buFont typeface="Arial" panose="020B0604020202020204" pitchFamily="34" charset="0"/>
              <a:buChar char="•"/>
            </a:pPr>
            <a:r>
              <a:rPr lang="en-US" sz="1600" dirty="0"/>
              <a:t>No model training required</a:t>
            </a:r>
          </a:p>
          <a:p>
            <a:pPr marL="285750" indent="-285750">
              <a:buFont typeface="Arial" panose="020B0604020202020204" pitchFamily="34" charset="0"/>
              <a:buChar char="•"/>
            </a:pPr>
            <a:r>
              <a:rPr lang="en-US" sz="1600" dirty="0"/>
              <a:t>Fast and computationally efficient</a:t>
            </a:r>
          </a:p>
          <a:p>
            <a:pPr marL="285750" indent="-285750">
              <a:buFont typeface="Arial" panose="020B0604020202020204" pitchFamily="34" charset="0"/>
              <a:buChar char="•"/>
            </a:pPr>
            <a:r>
              <a:rPr lang="en-US" sz="1600" dirty="0"/>
              <a:t>Common sentiment analysis baseline</a:t>
            </a:r>
          </a:p>
        </p:txBody>
      </p:sp>
      <p:sp>
        <p:nvSpPr>
          <p:cNvPr id="7" name="TextBox 6">
            <a:extLst>
              <a:ext uri="{FF2B5EF4-FFF2-40B4-BE49-F238E27FC236}">
                <a16:creationId xmlns:a16="http://schemas.microsoft.com/office/drawing/2014/main" id="{DE138BA7-B0F2-36B7-EE16-A5D83456C3D9}"/>
              </a:ext>
            </a:extLst>
          </p:cNvPr>
          <p:cNvSpPr txBox="1"/>
          <p:nvPr/>
        </p:nvSpPr>
        <p:spPr>
          <a:xfrm>
            <a:off x="1782762" y="1360293"/>
            <a:ext cx="4313237" cy="400110"/>
          </a:xfrm>
          <a:prstGeom prst="rect">
            <a:avLst/>
          </a:prstGeom>
          <a:noFill/>
        </p:spPr>
        <p:txBody>
          <a:bodyPr wrap="square" rtlCol="0">
            <a:spAutoFit/>
          </a:bodyPr>
          <a:lstStyle/>
          <a:p>
            <a:pPr algn="ctr"/>
            <a:r>
              <a:rPr lang="en-US" sz="2000" b="1" dirty="0"/>
              <a:t>VADER</a:t>
            </a:r>
          </a:p>
        </p:txBody>
      </p:sp>
      <p:sp>
        <p:nvSpPr>
          <p:cNvPr id="8" name="TextBox 7">
            <a:extLst>
              <a:ext uri="{FF2B5EF4-FFF2-40B4-BE49-F238E27FC236}">
                <a16:creationId xmlns:a16="http://schemas.microsoft.com/office/drawing/2014/main" id="{B5461562-E8BF-BBF2-914D-0D9E6D3C52B7}"/>
              </a:ext>
            </a:extLst>
          </p:cNvPr>
          <p:cNvSpPr txBox="1"/>
          <p:nvPr/>
        </p:nvSpPr>
        <p:spPr>
          <a:xfrm>
            <a:off x="6643686" y="1377796"/>
            <a:ext cx="4313237" cy="400110"/>
          </a:xfrm>
          <a:prstGeom prst="rect">
            <a:avLst/>
          </a:prstGeom>
          <a:noFill/>
        </p:spPr>
        <p:txBody>
          <a:bodyPr wrap="square" rtlCol="0">
            <a:spAutoFit/>
          </a:bodyPr>
          <a:lstStyle/>
          <a:p>
            <a:pPr algn="ctr"/>
            <a:r>
              <a:rPr lang="en-US" sz="2000" b="1" dirty="0"/>
              <a:t>Pretrained </a:t>
            </a:r>
            <a:r>
              <a:rPr lang="en-US" sz="2000" b="1" dirty="0" err="1"/>
              <a:t>RoBERTa</a:t>
            </a:r>
            <a:r>
              <a:rPr lang="en-US" sz="2000" b="1" dirty="0"/>
              <a:t> Transformer</a:t>
            </a:r>
          </a:p>
        </p:txBody>
      </p:sp>
      <p:sp>
        <p:nvSpPr>
          <p:cNvPr id="10" name="TextBox 9">
            <a:extLst>
              <a:ext uri="{FF2B5EF4-FFF2-40B4-BE49-F238E27FC236}">
                <a16:creationId xmlns:a16="http://schemas.microsoft.com/office/drawing/2014/main" id="{C6D7D17E-0EB9-4037-1565-FDA865367380}"/>
              </a:ext>
            </a:extLst>
          </p:cNvPr>
          <p:cNvSpPr txBox="1"/>
          <p:nvPr/>
        </p:nvSpPr>
        <p:spPr>
          <a:xfrm>
            <a:off x="6643685" y="4275763"/>
            <a:ext cx="4398514" cy="1323439"/>
          </a:xfrm>
          <a:prstGeom prst="rect">
            <a:avLst/>
          </a:prstGeom>
          <a:noFill/>
        </p:spPr>
        <p:txBody>
          <a:bodyPr wrap="square" rtlCol="0">
            <a:spAutoFit/>
          </a:bodyPr>
          <a:lstStyle/>
          <a:p>
            <a:pPr marL="285750" indent="-285750">
              <a:buFont typeface="Arial" panose="020B0604020202020204" pitchFamily="34" charset="0"/>
              <a:buChar char="•"/>
            </a:pPr>
            <a:r>
              <a:rPr lang="en-US" sz="1600" dirty="0"/>
              <a:t>Context-aware language model</a:t>
            </a:r>
          </a:p>
          <a:p>
            <a:pPr marL="285750" indent="-285750">
              <a:buFont typeface="Arial" panose="020B0604020202020204" pitchFamily="34" charset="0"/>
              <a:buChar char="•"/>
            </a:pPr>
            <a:r>
              <a:rPr lang="en-US" sz="1600" dirty="0"/>
              <a:t>Pretrained on general sentiment data</a:t>
            </a:r>
          </a:p>
          <a:p>
            <a:pPr marL="285750" indent="-285750">
              <a:buFont typeface="Arial" panose="020B0604020202020204" pitchFamily="34" charset="0"/>
              <a:buChar char="•"/>
            </a:pPr>
            <a:r>
              <a:rPr lang="en-US" sz="1600" dirty="0"/>
              <a:t>No domain-specific fine tuning</a:t>
            </a:r>
          </a:p>
          <a:p>
            <a:pPr marL="285750" indent="-285750">
              <a:buFont typeface="Arial" panose="020B0604020202020204" pitchFamily="34" charset="0"/>
              <a:buChar char="•"/>
            </a:pPr>
            <a:r>
              <a:rPr lang="en-US" sz="1600" dirty="0"/>
              <a:t>Better captures contextual language relationships</a:t>
            </a:r>
          </a:p>
        </p:txBody>
      </p:sp>
      <p:sp>
        <p:nvSpPr>
          <p:cNvPr id="11" name="TextBox 10">
            <a:extLst>
              <a:ext uri="{FF2B5EF4-FFF2-40B4-BE49-F238E27FC236}">
                <a16:creationId xmlns:a16="http://schemas.microsoft.com/office/drawing/2014/main" id="{FB779757-761E-86ED-6768-CA060FB4672E}"/>
              </a:ext>
            </a:extLst>
          </p:cNvPr>
          <p:cNvSpPr txBox="1"/>
          <p:nvPr/>
        </p:nvSpPr>
        <p:spPr>
          <a:xfrm>
            <a:off x="1294606" y="5705774"/>
            <a:ext cx="9602787" cy="738664"/>
          </a:xfrm>
          <a:prstGeom prst="rect">
            <a:avLst/>
          </a:prstGeom>
          <a:noFill/>
        </p:spPr>
        <p:txBody>
          <a:bodyPr wrap="square" rtlCol="0">
            <a:spAutoFit/>
          </a:bodyPr>
          <a:lstStyle/>
          <a:p>
            <a:r>
              <a:rPr lang="en-US" sz="1400" dirty="0"/>
              <a:t>Both baseline approaches required no supervised training on the project dataset. VADER provided a traditional rule-based benchmark, while the pretrained </a:t>
            </a:r>
            <a:r>
              <a:rPr lang="en-US" sz="1400" dirty="0" err="1"/>
              <a:t>RoBERTa</a:t>
            </a:r>
            <a:r>
              <a:rPr lang="en-US" sz="1400" dirty="0"/>
              <a:t> transformer evaluated how well a modern contextual language model transferred to long-form technical mountain bike reviews.</a:t>
            </a:r>
          </a:p>
        </p:txBody>
      </p:sp>
    </p:spTree>
    <p:extLst>
      <p:ext uri="{BB962C8B-B14F-4D97-AF65-F5344CB8AC3E}">
        <p14:creationId xmlns:p14="http://schemas.microsoft.com/office/powerpoint/2010/main" val="22080359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1B405C-9D0B-26C0-CAB2-F2C8411096C0}"/>
              </a:ext>
            </a:extLst>
          </p:cNvPr>
          <p:cNvSpPr>
            <a:spLocks noGrp="1"/>
          </p:cNvSpPr>
          <p:nvPr>
            <p:ph type="title"/>
          </p:nvPr>
        </p:nvSpPr>
        <p:spPr>
          <a:xfrm>
            <a:off x="2592924" y="624110"/>
            <a:ext cx="8911687" cy="684428"/>
          </a:xfrm>
        </p:spPr>
        <p:txBody>
          <a:bodyPr/>
          <a:lstStyle/>
          <a:p>
            <a:r>
              <a:rPr lang="en-US" dirty="0"/>
              <a:t>Supervised model Development</a:t>
            </a:r>
          </a:p>
        </p:txBody>
      </p:sp>
      <p:graphicFrame>
        <p:nvGraphicFramePr>
          <p:cNvPr id="5" name="Content Placeholder 4">
            <a:extLst>
              <a:ext uri="{FF2B5EF4-FFF2-40B4-BE49-F238E27FC236}">
                <a16:creationId xmlns:a16="http://schemas.microsoft.com/office/drawing/2014/main" id="{999DD079-748B-8043-E576-1C0B5C424F48}"/>
              </a:ext>
            </a:extLst>
          </p:cNvPr>
          <p:cNvGraphicFramePr>
            <a:graphicFrameLocks noGrp="1"/>
          </p:cNvGraphicFramePr>
          <p:nvPr>
            <p:ph sz="half" idx="1"/>
            <p:extLst>
              <p:ext uri="{D42A27DB-BD31-4B8C-83A1-F6EECF244321}">
                <p14:modId xmlns:p14="http://schemas.microsoft.com/office/powerpoint/2010/main" val="4277024533"/>
              </p:ext>
            </p:extLst>
          </p:nvPr>
        </p:nvGraphicFramePr>
        <p:xfrm>
          <a:off x="1782763" y="1717066"/>
          <a:ext cx="4313237" cy="377825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Content Placeholder 3">
            <a:extLst>
              <a:ext uri="{FF2B5EF4-FFF2-40B4-BE49-F238E27FC236}">
                <a16:creationId xmlns:a16="http://schemas.microsoft.com/office/drawing/2014/main" id="{97982399-1EEC-A8ED-E302-E812C77EB8D3}"/>
              </a:ext>
            </a:extLst>
          </p:cNvPr>
          <p:cNvSpPr>
            <a:spLocks noGrp="1"/>
          </p:cNvSpPr>
          <p:nvPr>
            <p:ph sz="half" idx="2"/>
          </p:nvPr>
        </p:nvSpPr>
        <p:spPr>
          <a:xfrm>
            <a:off x="7190747" y="1308538"/>
            <a:ext cx="4313864" cy="4595306"/>
          </a:xfrm>
        </p:spPr>
        <p:txBody>
          <a:bodyPr>
            <a:normAutofit/>
          </a:bodyPr>
          <a:lstStyle/>
          <a:p>
            <a:pPr marL="0" indent="0">
              <a:buNone/>
            </a:pPr>
            <a:r>
              <a:rPr lang="en-US" sz="2000" b="1" dirty="0"/>
              <a:t>Model Components</a:t>
            </a:r>
          </a:p>
          <a:p>
            <a:pPr marL="0" indent="0">
              <a:buNone/>
            </a:pPr>
            <a:r>
              <a:rPr lang="en-US" dirty="0"/>
              <a:t>TF-IDF Feature Extraction</a:t>
            </a:r>
          </a:p>
          <a:p>
            <a:r>
              <a:rPr lang="en-US" sz="1400" dirty="0"/>
              <a:t>Converts review text into weighted numerical feature vectors</a:t>
            </a:r>
          </a:p>
          <a:p>
            <a:r>
              <a:rPr lang="en-US" sz="1400" dirty="0"/>
              <a:t>Weights informative terms while reducing the influence of common words</a:t>
            </a:r>
          </a:p>
          <a:p>
            <a:r>
              <a:rPr lang="en-US" sz="1400" dirty="0"/>
              <a:t>Unigram vocabulary selected during hyperparameter tuning</a:t>
            </a:r>
          </a:p>
          <a:p>
            <a:pPr marL="0" indent="0">
              <a:buNone/>
            </a:pPr>
            <a:r>
              <a:rPr lang="en-US" dirty="0"/>
              <a:t>Logistic Regression Classifier</a:t>
            </a:r>
          </a:p>
          <a:p>
            <a:r>
              <a:rPr lang="en-US" sz="1400" dirty="0"/>
              <a:t>Supervised binary classifier trained on manually labeled reviews</a:t>
            </a:r>
          </a:p>
          <a:p>
            <a:r>
              <a:rPr lang="en-US" sz="1400" dirty="0"/>
              <a:t>Produces class probabilities for each review article</a:t>
            </a:r>
          </a:p>
          <a:p>
            <a:r>
              <a:rPr lang="en-US" sz="1400" dirty="0"/>
              <a:t>Coefficients provide interpretable feature importance</a:t>
            </a:r>
          </a:p>
          <a:p>
            <a:pPr marL="0" indent="0">
              <a:buNone/>
            </a:pPr>
            <a:endParaRPr lang="en-US" sz="1400" dirty="0"/>
          </a:p>
        </p:txBody>
      </p:sp>
      <p:sp>
        <p:nvSpPr>
          <p:cNvPr id="6" name="TextBox 5">
            <a:extLst>
              <a:ext uri="{FF2B5EF4-FFF2-40B4-BE49-F238E27FC236}">
                <a16:creationId xmlns:a16="http://schemas.microsoft.com/office/drawing/2014/main" id="{469D56DE-DC55-B7F1-B08B-D224C9A3F52E}"/>
              </a:ext>
            </a:extLst>
          </p:cNvPr>
          <p:cNvSpPr txBox="1"/>
          <p:nvPr/>
        </p:nvSpPr>
        <p:spPr>
          <a:xfrm>
            <a:off x="687389" y="5789152"/>
            <a:ext cx="10868230" cy="523220"/>
          </a:xfrm>
          <a:prstGeom prst="rect">
            <a:avLst/>
          </a:prstGeom>
          <a:noFill/>
        </p:spPr>
        <p:txBody>
          <a:bodyPr wrap="square" rtlCol="0">
            <a:spAutoFit/>
          </a:bodyPr>
          <a:lstStyle/>
          <a:p>
            <a:r>
              <a:rPr lang="en-US" sz="1400" dirty="0"/>
              <a:t>TF-IDF with logistic regression provides an interpretable supervised model that can learn domain-specific language directly from the manually labeled mountain bike review dataset while remaining computationally efficient.</a:t>
            </a:r>
          </a:p>
        </p:txBody>
      </p:sp>
    </p:spTree>
    <p:extLst>
      <p:ext uri="{BB962C8B-B14F-4D97-AF65-F5344CB8AC3E}">
        <p14:creationId xmlns:p14="http://schemas.microsoft.com/office/powerpoint/2010/main" val="4891098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56D57D-BF15-4CC4-B538-4835ABC39217}"/>
              </a:ext>
            </a:extLst>
          </p:cNvPr>
          <p:cNvSpPr>
            <a:spLocks noGrp="1"/>
          </p:cNvSpPr>
          <p:nvPr>
            <p:ph type="title"/>
          </p:nvPr>
        </p:nvSpPr>
        <p:spPr/>
        <p:txBody>
          <a:bodyPr/>
          <a:lstStyle/>
          <a:p>
            <a:r>
              <a:rPr lang="en-US" dirty="0"/>
              <a:t>Hyperparameter Tuning &amp; Cross-Validation</a:t>
            </a:r>
          </a:p>
        </p:txBody>
      </p:sp>
      <p:graphicFrame>
        <p:nvGraphicFramePr>
          <p:cNvPr id="8" name="Content Placeholder 7">
            <a:extLst>
              <a:ext uri="{FF2B5EF4-FFF2-40B4-BE49-F238E27FC236}">
                <a16:creationId xmlns:a16="http://schemas.microsoft.com/office/drawing/2014/main" id="{8DE3B75E-7AA8-ECEB-3458-B0ACC7666CF7}"/>
              </a:ext>
            </a:extLst>
          </p:cNvPr>
          <p:cNvGraphicFramePr>
            <a:graphicFrameLocks noGrp="1"/>
          </p:cNvGraphicFramePr>
          <p:nvPr>
            <p:ph sz="half" idx="1"/>
            <p:extLst>
              <p:ext uri="{D42A27DB-BD31-4B8C-83A1-F6EECF244321}">
                <p14:modId xmlns:p14="http://schemas.microsoft.com/office/powerpoint/2010/main" val="3598089611"/>
              </p:ext>
            </p:extLst>
          </p:nvPr>
        </p:nvGraphicFramePr>
        <p:xfrm>
          <a:off x="436305" y="2305110"/>
          <a:ext cx="4313237" cy="239341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9" name="Content Placeholder 8">
            <a:extLst>
              <a:ext uri="{FF2B5EF4-FFF2-40B4-BE49-F238E27FC236}">
                <a16:creationId xmlns:a16="http://schemas.microsoft.com/office/drawing/2014/main" id="{8BC3387E-2965-9ABE-95FA-EE14599B1BAB}"/>
              </a:ext>
            </a:extLst>
          </p:cNvPr>
          <p:cNvGraphicFramePr>
            <a:graphicFrameLocks noGrp="1"/>
          </p:cNvGraphicFramePr>
          <p:nvPr>
            <p:ph sz="half" idx="2"/>
            <p:extLst>
              <p:ext uri="{D42A27DB-BD31-4B8C-83A1-F6EECF244321}">
                <p14:modId xmlns:p14="http://schemas.microsoft.com/office/powerpoint/2010/main" val="2598008113"/>
              </p:ext>
            </p:extLst>
          </p:nvPr>
        </p:nvGraphicFramePr>
        <p:xfrm>
          <a:off x="5734998" y="2305110"/>
          <a:ext cx="5769611" cy="2393412"/>
        </p:xfrm>
        <a:graphic>
          <a:graphicData uri="http://schemas.openxmlformats.org/drawingml/2006/table">
            <a:tbl>
              <a:tblPr firstRow="1" bandRow="1">
                <a:tableStyleId>{5C22544A-7EE6-4342-B048-85BDC9FD1C3A}</a:tableStyleId>
              </a:tblPr>
              <a:tblGrid>
                <a:gridCol w="3832543">
                  <a:extLst>
                    <a:ext uri="{9D8B030D-6E8A-4147-A177-3AD203B41FA5}">
                      <a16:colId xmlns:a16="http://schemas.microsoft.com/office/drawing/2014/main" val="1058339058"/>
                    </a:ext>
                  </a:extLst>
                </a:gridCol>
                <a:gridCol w="1937068">
                  <a:extLst>
                    <a:ext uri="{9D8B030D-6E8A-4147-A177-3AD203B41FA5}">
                      <a16:colId xmlns:a16="http://schemas.microsoft.com/office/drawing/2014/main" val="3564133714"/>
                    </a:ext>
                  </a:extLst>
                </a:gridCol>
              </a:tblGrid>
              <a:tr h="398902">
                <a:tc>
                  <a:txBody>
                    <a:bodyPr/>
                    <a:lstStyle/>
                    <a:p>
                      <a:r>
                        <a:rPr lang="en-US" dirty="0"/>
                        <a:t>Parameter</a:t>
                      </a:r>
                    </a:p>
                  </a:txBody>
                  <a:tcPr/>
                </a:tc>
                <a:tc>
                  <a:txBody>
                    <a:bodyPr/>
                    <a:lstStyle/>
                    <a:p>
                      <a:r>
                        <a:rPr lang="en-US" dirty="0"/>
                        <a:t>Selected Value</a:t>
                      </a:r>
                    </a:p>
                  </a:txBody>
                  <a:tcPr/>
                </a:tc>
                <a:extLst>
                  <a:ext uri="{0D108BD9-81ED-4DB2-BD59-A6C34878D82A}">
                    <a16:rowId xmlns:a16="http://schemas.microsoft.com/office/drawing/2014/main" val="757604935"/>
                  </a:ext>
                </a:extLst>
              </a:tr>
              <a:tr h="398902">
                <a:tc>
                  <a:txBody>
                    <a:bodyPr/>
                    <a:lstStyle/>
                    <a:p>
                      <a:r>
                        <a:rPr lang="en-US" dirty="0"/>
                        <a:t>C</a:t>
                      </a:r>
                    </a:p>
                  </a:txBody>
                  <a:tcPr/>
                </a:tc>
                <a:tc>
                  <a:txBody>
                    <a:bodyPr/>
                    <a:lstStyle/>
                    <a:p>
                      <a:r>
                        <a:rPr lang="en-US" dirty="0"/>
                        <a:t>0.1</a:t>
                      </a:r>
                    </a:p>
                  </a:txBody>
                  <a:tcPr/>
                </a:tc>
                <a:extLst>
                  <a:ext uri="{0D108BD9-81ED-4DB2-BD59-A6C34878D82A}">
                    <a16:rowId xmlns:a16="http://schemas.microsoft.com/office/drawing/2014/main" val="3010890908"/>
                  </a:ext>
                </a:extLst>
              </a:tr>
              <a:tr h="398902">
                <a:tc>
                  <a:txBody>
                    <a:bodyPr/>
                    <a:lstStyle/>
                    <a:p>
                      <a:r>
                        <a:rPr lang="en-US" dirty="0"/>
                        <a:t>Class Weight</a:t>
                      </a:r>
                    </a:p>
                  </a:txBody>
                  <a:tcPr/>
                </a:tc>
                <a:tc>
                  <a:txBody>
                    <a:bodyPr/>
                    <a:lstStyle/>
                    <a:p>
                      <a:r>
                        <a:rPr lang="en-US" dirty="0"/>
                        <a:t>Balanced</a:t>
                      </a:r>
                    </a:p>
                  </a:txBody>
                  <a:tcPr/>
                </a:tc>
                <a:extLst>
                  <a:ext uri="{0D108BD9-81ED-4DB2-BD59-A6C34878D82A}">
                    <a16:rowId xmlns:a16="http://schemas.microsoft.com/office/drawing/2014/main" val="1296306532"/>
                  </a:ext>
                </a:extLst>
              </a:tr>
              <a:tr h="398902">
                <a:tc>
                  <a:txBody>
                    <a:bodyPr/>
                    <a:lstStyle/>
                    <a:p>
                      <a:r>
                        <a:rPr lang="en-US" dirty="0"/>
                        <a:t>N-gram Range</a:t>
                      </a:r>
                    </a:p>
                  </a:txBody>
                  <a:tcPr/>
                </a:tc>
                <a:tc>
                  <a:txBody>
                    <a:bodyPr/>
                    <a:lstStyle/>
                    <a:p>
                      <a:r>
                        <a:rPr lang="en-US" dirty="0"/>
                        <a:t>(1,1)</a:t>
                      </a:r>
                    </a:p>
                  </a:txBody>
                  <a:tcPr/>
                </a:tc>
                <a:extLst>
                  <a:ext uri="{0D108BD9-81ED-4DB2-BD59-A6C34878D82A}">
                    <a16:rowId xmlns:a16="http://schemas.microsoft.com/office/drawing/2014/main" val="2166898661"/>
                  </a:ext>
                </a:extLst>
              </a:tr>
              <a:tr h="398902">
                <a:tc>
                  <a:txBody>
                    <a:bodyPr/>
                    <a:lstStyle/>
                    <a:p>
                      <a:r>
                        <a:rPr lang="en-US" dirty="0"/>
                        <a:t>Minimum Document Frequency</a:t>
                      </a:r>
                    </a:p>
                  </a:txBody>
                  <a:tcPr/>
                </a:tc>
                <a:tc>
                  <a:txBody>
                    <a:bodyPr/>
                    <a:lstStyle/>
                    <a:p>
                      <a:r>
                        <a:rPr lang="en-US" dirty="0"/>
                        <a:t>2</a:t>
                      </a:r>
                    </a:p>
                  </a:txBody>
                  <a:tcPr/>
                </a:tc>
                <a:extLst>
                  <a:ext uri="{0D108BD9-81ED-4DB2-BD59-A6C34878D82A}">
                    <a16:rowId xmlns:a16="http://schemas.microsoft.com/office/drawing/2014/main" val="4073866142"/>
                  </a:ext>
                </a:extLst>
              </a:tr>
              <a:tr h="398902">
                <a:tc>
                  <a:txBody>
                    <a:bodyPr/>
                    <a:lstStyle/>
                    <a:p>
                      <a:r>
                        <a:rPr lang="en-US" dirty="0"/>
                        <a:t>Maximum Document Frequency</a:t>
                      </a:r>
                    </a:p>
                  </a:txBody>
                  <a:tcPr/>
                </a:tc>
                <a:tc>
                  <a:txBody>
                    <a:bodyPr/>
                    <a:lstStyle/>
                    <a:p>
                      <a:r>
                        <a:rPr lang="en-US" dirty="0"/>
                        <a:t>0.85</a:t>
                      </a:r>
                    </a:p>
                  </a:txBody>
                  <a:tcPr/>
                </a:tc>
                <a:extLst>
                  <a:ext uri="{0D108BD9-81ED-4DB2-BD59-A6C34878D82A}">
                    <a16:rowId xmlns:a16="http://schemas.microsoft.com/office/drawing/2014/main" val="3803998014"/>
                  </a:ext>
                </a:extLst>
              </a:tr>
            </a:tbl>
          </a:graphicData>
        </a:graphic>
      </p:graphicFrame>
      <p:sp>
        <p:nvSpPr>
          <p:cNvPr id="10" name="TextBox 9">
            <a:extLst>
              <a:ext uri="{FF2B5EF4-FFF2-40B4-BE49-F238E27FC236}">
                <a16:creationId xmlns:a16="http://schemas.microsoft.com/office/drawing/2014/main" id="{5360B7FE-CFE5-A22C-2CC9-3EB36014895D}"/>
              </a:ext>
            </a:extLst>
          </p:cNvPr>
          <p:cNvSpPr txBox="1"/>
          <p:nvPr/>
        </p:nvSpPr>
        <p:spPr>
          <a:xfrm>
            <a:off x="436305" y="1905000"/>
            <a:ext cx="4313237" cy="400110"/>
          </a:xfrm>
          <a:prstGeom prst="rect">
            <a:avLst/>
          </a:prstGeom>
          <a:noFill/>
        </p:spPr>
        <p:txBody>
          <a:bodyPr wrap="square" rtlCol="0">
            <a:spAutoFit/>
          </a:bodyPr>
          <a:lstStyle/>
          <a:p>
            <a:pPr algn="ctr"/>
            <a:r>
              <a:rPr lang="en-US" sz="2000" b="1" dirty="0"/>
              <a:t>Model Optimization Workflow</a:t>
            </a:r>
          </a:p>
        </p:txBody>
      </p:sp>
      <p:sp>
        <p:nvSpPr>
          <p:cNvPr id="11" name="TextBox 10">
            <a:extLst>
              <a:ext uri="{FF2B5EF4-FFF2-40B4-BE49-F238E27FC236}">
                <a16:creationId xmlns:a16="http://schemas.microsoft.com/office/drawing/2014/main" id="{CD550519-63F4-8264-B490-F06476EA00E9}"/>
              </a:ext>
            </a:extLst>
          </p:cNvPr>
          <p:cNvSpPr txBox="1"/>
          <p:nvPr/>
        </p:nvSpPr>
        <p:spPr>
          <a:xfrm>
            <a:off x="5734999" y="1905000"/>
            <a:ext cx="5769611" cy="400110"/>
          </a:xfrm>
          <a:prstGeom prst="rect">
            <a:avLst/>
          </a:prstGeom>
          <a:noFill/>
        </p:spPr>
        <p:txBody>
          <a:bodyPr wrap="square" rtlCol="0">
            <a:spAutoFit/>
          </a:bodyPr>
          <a:lstStyle/>
          <a:p>
            <a:pPr algn="ctr"/>
            <a:r>
              <a:rPr lang="en-US" sz="2000" b="1" dirty="0"/>
              <a:t>Best Hyperparameters</a:t>
            </a:r>
          </a:p>
        </p:txBody>
      </p:sp>
      <p:sp>
        <p:nvSpPr>
          <p:cNvPr id="12" name="TextBox 11">
            <a:extLst>
              <a:ext uri="{FF2B5EF4-FFF2-40B4-BE49-F238E27FC236}">
                <a16:creationId xmlns:a16="http://schemas.microsoft.com/office/drawing/2014/main" id="{33EA44E6-5ACB-2300-0EB4-FC03EEA80A1F}"/>
              </a:ext>
            </a:extLst>
          </p:cNvPr>
          <p:cNvSpPr txBox="1"/>
          <p:nvPr/>
        </p:nvSpPr>
        <p:spPr>
          <a:xfrm>
            <a:off x="835572" y="5108028"/>
            <a:ext cx="3913970" cy="954107"/>
          </a:xfrm>
          <a:prstGeom prst="rect">
            <a:avLst/>
          </a:prstGeom>
          <a:noFill/>
        </p:spPr>
        <p:txBody>
          <a:bodyPr wrap="square" rtlCol="0">
            <a:spAutoFit/>
          </a:bodyPr>
          <a:lstStyle/>
          <a:p>
            <a:r>
              <a:rPr lang="en-US" sz="1400" dirty="0"/>
              <a:t>Macro F1 was selected because it balances precision and recall across both sentiment classes while reducing the influence of class imbalance.</a:t>
            </a:r>
          </a:p>
        </p:txBody>
      </p:sp>
      <p:sp>
        <p:nvSpPr>
          <p:cNvPr id="13" name="TextBox 12">
            <a:extLst>
              <a:ext uri="{FF2B5EF4-FFF2-40B4-BE49-F238E27FC236}">
                <a16:creationId xmlns:a16="http://schemas.microsoft.com/office/drawing/2014/main" id="{7E31B148-AF2C-3867-1E8F-2E44395826C7}"/>
              </a:ext>
            </a:extLst>
          </p:cNvPr>
          <p:cNvSpPr txBox="1"/>
          <p:nvPr/>
        </p:nvSpPr>
        <p:spPr>
          <a:xfrm>
            <a:off x="5734998" y="5051336"/>
            <a:ext cx="5769611" cy="1508105"/>
          </a:xfrm>
          <a:prstGeom prst="rect">
            <a:avLst/>
          </a:prstGeom>
          <a:noFill/>
        </p:spPr>
        <p:txBody>
          <a:bodyPr wrap="square" rtlCol="0">
            <a:spAutoFit/>
          </a:bodyPr>
          <a:lstStyle/>
          <a:p>
            <a:r>
              <a:rPr lang="en-US" sz="2000" b="1" dirty="0"/>
              <a:t>Cross-Validation Results</a:t>
            </a:r>
          </a:p>
          <a:p>
            <a:pPr marL="285750" indent="-285750">
              <a:buFont typeface="Arial" panose="020B0604020202020204" pitchFamily="34" charset="0"/>
              <a:buChar char="•"/>
            </a:pPr>
            <a:r>
              <a:rPr lang="en-US" dirty="0"/>
              <a:t>5 Stratified Folds</a:t>
            </a:r>
          </a:p>
          <a:p>
            <a:pPr marL="285750" indent="-285750">
              <a:buFont typeface="Arial" panose="020B0604020202020204" pitchFamily="34" charset="0"/>
              <a:buChar char="•"/>
            </a:pPr>
            <a:r>
              <a:rPr lang="en-US" dirty="0"/>
              <a:t>120 Parameter Combinations</a:t>
            </a:r>
          </a:p>
          <a:p>
            <a:pPr marL="285750" indent="-285750">
              <a:buFont typeface="Arial" panose="020B0604020202020204" pitchFamily="34" charset="0"/>
              <a:buChar char="•"/>
            </a:pPr>
            <a:r>
              <a:rPr lang="en-US" dirty="0"/>
              <a:t>600 Model Fits</a:t>
            </a:r>
          </a:p>
          <a:p>
            <a:pPr marL="285750" indent="-285750">
              <a:buFont typeface="Arial" panose="020B0604020202020204" pitchFamily="34" charset="0"/>
              <a:buChar char="•"/>
            </a:pPr>
            <a:r>
              <a:rPr lang="en-US" b="1" dirty="0"/>
              <a:t>Best Cross-Validation Macro F1 = 0.543</a:t>
            </a:r>
          </a:p>
        </p:txBody>
      </p:sp>
    </p:spTree>
    <p:extLst>
      <p:ext uri="{BB962C8B-B14F-4D97-AF65-F5344CB8AC3E}">
        <p14:creationId xmlns:p14="http://schemas.microsoft.com/office/powerpoint/2010/main" val="197160287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6D72B5-07F9-424E-6059-D3BFBBC75814}"/>
              </a:ext>
            </a:extLst>
          </p:cNvPr>
          <p:cNvSpPr>
            <a:spLocks noGrp="1"/>
          </p:cNvSpPr>
          <p:nvPr>
            <p:ph type="title"/>
          </p:nvPr>
        </p:nvSpPr>
        <p:spPr/>
        <p:txBody>
          <a:bodyPr/>
          <a:lstStyle/>
          <a:p>
            <a:r>
              <a:rPr lang="en-US" dirty="0"/>
              <a:t>Model Performance Evaluation</a:t>
            </a:r>
          </a:p>
        </p:txBody>
      </p:sp>
      <p:graphicFrame>
        <p:nvGraphicFramePr>
          <p:cNvPr id="5" name="Content Placeholder 4">
            <a:extLst>
              <a:ext uri="{FF2B5EF4-FFF2-40B4-BE49-F238E27FC236}">
                <a16:creationId xmlns:a16="http://schemas.microsoft.com/office/drawing/2014/main" id="{A3BE6681-F4B4-2CFE-A945-9C7A3B0BEAE7}"/>
              </a:ext>
            </a:extLst>
          </p:cNvPr>
          <p:cNvGraphicFramePr>
            <a:graphicFrameLocks noGrp="1"/>
          </p:cNvGraphicFramePr>
          <p:nvPr>
            <p:ph sz="half" idx="1"/>
            <p:extLst>
              <p:ext uri="{D42A27DB-BD31-4B8C-83A1-F6EECF244321}">
                <p14:modId xmlns:p14="http://schemas.microsoft.com/office/powerpoint/2010/main" val="2845741201"/>
              </p:ext>
            </p:extLst>
          </p:nvPr>
        </p:nvGraphicFramePr>
        <p:xfrm>
          <a:off x="687389" y="2133600"/>
          <a:ext cx="6312269" cy="2352040"/>
        </p:xfrm>
        <a:graphic>
          <a:graphicData uri="http://schemas.openxmlformats.org/drawingml/2006/table">
            <a:tbl>
              <a:tblPr firstRow="1" bandRow="1">
                <a:tableStyleId>{5C22544A-7EE6-4342-B048-85BDC9FD1C3A}</a:tableStyleId>
              </a:tblPr>
              <a:tblGrid>
                <a:gridCol w="1519783">
                  <a:extLst>
                    <a:ext uri="{9D8B030D-6E8A-4147-A177-3AD203B41FA5}">
                      <a16:colId xmlns:a16="http://schemas.microsoft.com/office/drawing/2014/main" val="18778312"/>
                    </a:ext>
                  </a:extLst>
                </a:gridCol>
                <a:gridCol w="1198180">
                  <a:extLst>
                    <a:ext uri="{9D8B030D-6E8A-4147-A177-3AD203B41FA5}">
                      <a16:colId xmlns:a16="http://schemas.microsoft.com/office/drawing/2014/main" val="2402092548"/>
                    </a:ext>
                  </a:extLst>
                </a:gridCol>
                <a:gridCol w="1245476">
                  <a:extLst>
                    <a:ext uri="{9D8B030D-6E8A-4147-A177-3AD203B41FA5}">
                      <a16:colId xmlns:a16="http://schemas.microsoft.com/office/drawing/2014/main" val="543975403"/>
                    </a:ext>
                  </a:extLst>
                </a:gridCol>
                <a:gridCol w="1105818">
                  <a:extLst>
                    <a:ext uri="{9D8B030D-6E8A-4147-A177-3AD203B41FA5}">
                      <a16:colId xmlns:a16="http://schemas.microsoft.com/office/drawing/2014/main" val="4082219768"/>
                    </a:ext>
                  </a:extLst>
                </a:gridCol>
                <a:gridCol w="1243012">
                  <a:extLst>
                    <a:ext uri="{9D8B030D-6E8A-4147-A177-3AD203B41FA5}">
                      <a16:colId xmlns:a16="http://schemas.microsoft.com/office/drawing/2014/main" val="1685226000"/>
                    </a:ext>
                  </a:extLst>
                </a:gridCol>
              </a:tblGrid>
              <a:tr h="370840">
                <a:tc>
                  <a:txBody>
                    <a:bodyPr/>
                    <a:lstStyle/>
                    <a:p>
                      <a:r>
                        <a:rPr lang="en-US" sz="1600" dirty="0"/>
                        <a:t>Model</a:t>
                      </a:r>
                    </a:p>
                  </a:txBody>
                  <a:tcPr/>
                </a:tc>
                <a:tc>
                  <a:txBody>
                    <a:bodyPr/>
                    <a:lstStyle/>
                    <a:p>
                      <a:r>
                        <a:rPr lang="en-US" sz="1600" dirty="0"/>
                        <a:t>Accuracy</a:t>
                      </a:r>
                    </a:p>
                  </a:txBody>
                  <a:tcPr/>
                </a:tc>
                <a:tc>
                  <a:txBody>
                    <a:bodyPr/>
                    <a:lstStyle/>
                    <a:p>
                      <a:r>
                        <a:rPr lang="en-US" sz="1600" dirty="0"/>
                        <a:t>Balanced Accuracy</a:t>
                      </a:r>
                    </a:p>
                  </a:txBody>
                  <a:tcPr/>
                </a:tc>
                <a:tc>
                  <a:txBody>
                    <a:bodyPr/>
                    <a:lstStyle/>
                    <a:p>
                      <a:r>
                        <a:rPr lang="en-US" sz="1600" dirty="0"/>
                        <a:t>Macro F1</a:t>
                      </a:r>
                    </a:p>
                  </a:txBody>
                  <a:tcPr/>
                </a:tc>
                <a:tc>
                  <a:txBody>
                    <a:bodyPr/>
                    <a:lstStyle/>
                    <a:p>
                      <a:r>
                        <a:rPr lang="en-US" sz="1600" dirty="0"/>
                        <a:t>ROC AUC</a:t>
                      </a:r>
                    </a:p>
                  </a:txBody>
                  <a:tcPr/>
                </a:tc>
                <a:extLst>
                  <a:ext uri="{0D108BD9-81ED-4DB2-BD59-A6C34878D82A}">
                    <a16:rowId xmlns:a16="http://schemas.microsoft.com/office/drawing/2014/main" val="1574392079"/>
                  </a:ext>
                </a:extLst>
              </a:tr>
              <a:tr h="370840">
                <a:tc>
                  <a:txBody>
                    <a:bodyPr/>
                    <a:lstStyle/>
                    <a:p>
                      <a:r>
                        <a:rPr lang="en-US" sz="1600" dirty="0"/>
                        <a:t>VADER</a:t>
                      </a:r>
                    </a:p>
                  </a:txBody>
                  <a:tcPr/>
                </a:tc>
                <a:tc>
                  <a:txBody>
                    <a:bodyPr/>
                    <a:lstStyle/>
                    <a:p>
                      <a:r>
                        <a:rPr lang="en-US" sz="1600" b="1" dirty="0"/>
                        <a:t>0.784</a:t>
                      </a:r>
                    </a:p>
                  </a:txBody>
                  <a:tcPr/>
                </a:tc>
                <a:tc>
                  <a:txBody>
                    <a:bodyPr/>
                    <a:lstStyle/>
                    <a:p>
                      <a:r>
                        <a:rPr lang="en-US" sz="1600" dirty="0"/>
                        <a:t>0.492</a:t>
                      </a:r>
                    </a:p>
                  </a:txBody>
                  <a:tcPr/>
                </a:tc>
                <a:tc>
                  <a:txBody>
                    <a:bodyPr/>
                    <a:lstStyle/>
                    <a:p>
                      <a:r>
                        <a:rPr lang="en-US" sz="1600" dirty="0"/>
                        <a:t>0.440</a:t>
                      </a:r>
                    </a:p>
                  </a:txBody>
                  <a:tcPr/>
                </a:tc>
                <a:tc>
                  <a:txBody>
                    <a:bodyPr/>
                    <a:lstStyle/>
                    <a:p>
                      <a:r>
                        <a:rPr lang="en-US" sz="1600" dirty="0"/>
                        <a:t>0.549</a:t>
                      </a:r>
                    </a:p>
                  </a:txBody>
                  <a:tcPr/>
                </a:tc>
                <a:extLst>
                  <a:ext uri="{0D108BD9-81ED-4DB2-BD59-A6C34878D82A}">
                    <a16:rowId xmlns:a16="http://schemas.microsoft.com/office/drawing/2014/main" val="1726482185"/>
                  </a:ext>
                </a:extLst>
              </a:tr>
              <a:tr h="370840">
                <a:tc>
                  <a:txBody>
                    <a:bodyPr/>
                    <a:lstStyle/>
                    <a:p>
                      <a:r>
                        <a:rPr lang="en-US" sz="1600" dirty="0" err="1"/>
                        <a:t>RoBERTa</a:t>
                      </a:r>
                      <a:r>
                        <a:rPr lang="en-US" sz="1600" dirty="0"/>
                        <a:t> </a:t>
                      </a:r>
                      <a:r>
                        <a:rPr lang="en-US" sz="1600" dirty="0" err="1"/>
                        <a:t>TRansformer</a:t>
                      </a:r>
                      <a:endParaRPr lang="en-US" sz="1600" dirty="0"/>
                    </a:p>
                  </a:txBody>
                  <a:tcPr/>
                </a:tc>
                <a:tc>
                  <a:txBody>
                    <a:bodyPr/>
                    <a:lstStyle/>
                    <a:p>
                      <a:r>
                        <a:rPr lang="en-US" sz="1600" dirty="0"/>
                        <a:t>0.269</a:t>
                      </a:r>
                    </a:p>
                  </a:txBody>
                  <a:tcPr/>
                </a:tc>
                <a:tc>
                  <a:txBody>
                    <a:bodyPr/>
                    <a:lstStyle/>
                    <a:p>
                      <a:r>
                        <a:rPr lang="en-US" sz="1600" dirty="0"/>
                        <a:t>0.511</a:t>
                      </a:r>
                    </a:p>
                  </a:txBody>
                  <a:tcPr/>
                </a:tc>
                <a:tc>
                  <a:txBody>
                    <a:bodyPr/>
                    <a:lstStyle/>
                    <a:p>
                      <a:r>
                        <a:rPr lang="en-US" sz="1600" dirty="0"/>
                        <a:t>0.261</a:t>
                      </a:r>
                    </a:p>
                  </a:txBody>
                  <a:tcPr/>
                </a:tc>
                <a:tc>
                  <a:txBody>
                    <a:bodyPr/>
                    <a:lstStyle/>
                    <a:p>
                      <a:r>
                        <a:rPr lang="en-US" sz="1600" dirty="0"/>
                        <a:t>0.558</a:t>
                      </a:r>
                    </a:p>
                  </a:txBody>
                  <a:tcPr/>
                </a:tc>
                <a:extLst>
                  <a:ext uri="{0D108BD9-81ED-4DB2-BD59-A6C34878D82A}">
                    <a16:rowId xmlns:a16="http://schemas.microsoft.com/office/drawing/2014/main" val="3406379317"/>
                  </a:ext>
                </a:extLst>
              </a:tr>
              <a:tr h="370840">
                <a:tc>
                  <a:txBody>
                    <a:bodyPr/>
                    <a:lstStyle/>
                    <a:p>
                      <a:r>
                        <a:rPr lang="en-US" sz="1600" dirty="0"/>
                        <a:t>TF-IDF + Logistic Regression</a:t>
                      </a:r>
                    </a:p>
                  </a:txBody>
                  <a:tcPr/>
                </a:tc>
                <a:tc>
                  <a:txBody>
                    <a:bodyPr/>
                    <a:lstStyle/>
                    <a:p>
                      <a:r>
                        <a:rPr lang="en-US" sz="1600" b="0" dirty="0"/>
                        <a:t>0.656</a:t>
                      </a:r>
                    </a:p>
                  </a:txBody>
                  <a:tcPr/>
                </a:tc>
                <a:tc>
                  <a:txBody>
                    <a:bodyPr/>
                    <a:lstStyle/>
                    <a:p>
                      <a:r>
                        <a:rPr lang="en-US" sz="1600" b="1" dirty="0"/>
                        <a:t>0.597</a:t>
                      </a:r>
                    </a:p>
                  </a:txBody>
                  <a:tcPr/>
                </a:tc>
                <a:tc>
                  <a:txBody>
                    <a:bodyPr/>
                    <a:lstStyle/>
                    <a:p>
                      <a:r>
                        <a:rPr lang="en-US" sz="1600" b="1" dirty="0"/>
                        <a:t>0.564</a:t>
                      </a:r>
                    </a:p>
                  </a:txBody>
                  <a:tcPr/>
                </a:tc>
                <a:tc>
                  <a:txBody>
                    <a:bodyPr/>
                    <a:lstStyle/>
                    <a:p>
                      <a:r>
                        <a:rPr lang="en-US" sz="1600" b="1" dirty="0"/>
                        <a:t>0.665</a:t>
                      </a:r>
                    </a:p>
                  </a:txBody>
                  <a:tcPr/>
                </a:tc>
                <a:extLst>
                  <a:ext uri="{0D108BD9-81ED-4DB2-BD59-A6C34878D82A}">
                    <a16:rowId xmlns:a16="http://schemas.microsoft.com/office/drawing/2014/main" val="4236645218"/>
                  </a:ext>
                </a:extLst>
              </a:tr>
            </a:tbl>
          </a:graphicData>
        </a:graphic>
      </p:graphicFrame>
      <p:sp>
        <p:nvSpPr>
          <p:cNvPr id="4" name="Content Placeholder 3">
            <a:extLst>
              <a:ext uri="{FF2B5EF4-FFF2-40B4-BE49-F238E27FC236}">
                <a16:creationId xmlns:a16="http://schemas.microsoft.com/office/drawing/2014/main" id="{D6B93A8E-4EFB-35F6-DEC7-661BE54BA17C}"/>
              </a:ext>
            </a:extLst>
          </p:cNvPr>
          <p:cNvSpPr>
            <a:spLocks noGrp="1"/>
          </p:cNvSpPr>
          <p:nvPr>
            <p:ph sz="half" idx="2"/>
          </p:nvPr>
        </p:nvSpPr>
        <p:spPr/>
        <p:txBody>
          <a:bodyPr>
            <a:normAutofit fontScale="70000" lnSpcReduction="20000"/>
          </a:bodyPr>
          <a:lstStyle/>
          <a:p>
            <a:pPr marL="0" indent="0">
              <a:buNone/>
            </a:pPr>
            <a:r>
              <a:rPr lang="en-US" sz="2000" b="1" dirty="0"/>
              <a:t>Evaluation Metrics</a:t>
            </a:r>
          </a:p>
          <a:p>
            <a:pPr marL="0" indent="0">
              <a:buNone/>
            </a:pPr>
            <a:r>
              <a:rPr lang="en-US" b="1" dirty="0"/>
              <a:t>Accuracy</a:t>
            </a:r>
          </a:p>
          <a:p>
            <a:r>
              <a:rPr lang="en-US" dirty="0"/>
              <a:t>Percentage of correctly classified reviews</a:t>
            </a:r>
          </a:p>
          <a:p>
            <a:pPr marL="0" indent="0">
              <a:buNone/>
            </a:pPr>
            <a:r>
              <a:rPr lang="en-US" b="1" dirty="0"/>
              <a:t>Balanced Accuracy</a:t>
            </a:r>
          </a:p>
          <a:p>
            <a:r>
              <a:rPr lang="en-US" dirty="0"/>
              <a:t>Accounts for class imbalance by averaging recall across both classes.</a:t>
            </a:r>
          </a:p>
          <a:p>
            <a:pPr marL="0" indent="0">
              <a:buNone/>
            </a:pPr>
            <a:r>
              <a:rPr lang="en-US" b="1" dirty="0"/>
              <a:t>Macro F1</a:t>
            </a:r>
          </a:p>
          <a:p>
            <a:r>
              <a:rPr lang="en-US" dirty="0"/>
              <a:t>Balances precision and recall equally across classes</a:t>
            </a:r>
          </a:p>
          <a:p>
            <a:r>
              <a:rPr lang="en-US" dirty="0"/>
              <a:t>Used as the optimization metric during </a:t>
            </a:r>
            <a:r>
              <a:rPr lang="en-US" i="1" dirty="0" err="1"/>
              <a:t>GridSearchCV</a:t>
            </a:r>
            <a:endParaRPr lang="en-US" i="1" dirty="0"/>
          </a:p>
          <a:p>
            <a:pPr marL="0" indent="0">
              <a:buNone/>
            </a:pPr>
            <a:r>
              <a:rPr lang="en-US" b="1" dirty="0"/>
              <a:t>ROC AUC</a:t>
            </a:r>
          </a:p>
          <a:p>
            <a:r>
              <a:rPr lang="en-US" dirty="0"/>
              <a:t>Measures how well the model distinguishes Positive from Not Positive across all decision thresholds</a:t>
            </a:r>
          </a:p>
          <a:p>
            <a:pPr marL="0" indent="0">
              <a:buNone/>
            </a:pPr>
            <a:endParaRPr lang="en-US" dirty="0"/>
          </a:p>
        </p:txBody>
      </p:sp>
      <p:sp>
        <p:nvSpPr>
          <p:cNvPr id="6" name="TextBox 5">
            <a:extLst>
              <a:ext uri="{FF2B5EF4-FFF2-40B4-BE49-F238E27FC236}">
                <a16:creationId xmlns:a16="http://schemas.microsoft.com/office/drawing/2014/main" id="{666C157D-5F6F-BE44-9E99-60445EDE44F4}"/>
              </a:ext>
            </a:extLst>
          </p:cNvPr>
          <p:cNvSpPr txBox="1"/>
          <p:nvPr/>
        </p:nvSpPr>
        <p:spPr>
          <a:xfrm>
            <a:off x="687390" y="4714240"/>
            <a:ext cx="6312268" cy="954107"/>
          </a:xfrm>
          <a:prstGeom prst="rect">
            <a:avLst/>
          </a:prstGeom>
          <a:noFill/>
        </p:spPr>
        <p:txBody>
          <a:bodyPr wrap="square" rtlCol="0">
            <a:spAutoFit/>
          </a:bodyPr>
          <a:lstStyle/>
          <a:p>
            <a:r>
              <a:rPr lang="en-US" sz="1400" b="1" dirty="0"/>
              <a:t>Key Finding:</a:t>
            </a:r>
            <a:r>
              <a:rPr lang="en-US" sz="1400" dirty="0"/>
              <a:t> Although VADER achieved the highest overall accuracy, TF-IDF + Logistic Regression produced the strongest balanced performance, achieving the highest Balanced Accuracy, Macro F1, and ROC AUC.</a:t>
            </a:r>
          </a:p>
        </p:txBody>
      </p:sp>
    </p:spTree>
    <p:extLst>
      <p:ext uri="{BB962C8B-B14F-4D97-AF65-F5344CB8AC3E}">
        <p14:creationId xmlns:p14="http://schemas.microsoft.com/office/powerpoint/2010/main" val="332049086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1251B6-84B4-0314-6FA0-65E0C0CD6042}"/>
              </a:ext>
            </a:extLst>
          </p:cNvPr>
          <p:cNvSpPr>
            <a:spLocks noGrp="1"/>
          </p:cNvSpPr>
          <p:nvPr>
            <p:ph type="title"/>
          </p:nvPr>
        </p:nvSpPr>
        <p:spPr/>
        <p:txBody>
          <a:bodyPr/>
          <a:lstStyle/>
          <a:p>
            <a:r>
              <a:rPr lang="en-US" dirty="0"/>
              <a:t>Error Analysis &amp; Model Interpretability</a:t>
            </a:r>
          </a:p>
        </p:txBody>
      </p:sp>
      <p:pic>
        <p:nvPicPr>
          <p:cNvPr id="6" name="Content Placeholder 5">
            <a:extLst>
              <a:ext uri="{FF2B5EF4-FFF2-40B4-BE49-F238E27FC236}">
                <a16:creationId xmlns:a16="http://schemas.microsoft.com/office/drawing/2014/main" id="{C1CBCFDC-D250-1E4A-92FA-B98688E683E2}"/>
              </a:ext>
            </a:extLst>
          </p:cNvPr>
          <p:cNvPicPr>
            <a:picLocks noGrp="1" noChangeAspect="1"/>
          </p:cNvPicPr>
          <p:nvPr>
            <p:ph sz="half" idx="1"/>
          </p:nvPr>
        </p:nvPicPr>
        <p:blipFill>
          <a:blip r:embed="rId3"/>
          <a:stretch>
            <a:fillRect/>
          </a:stretch>
        </p:blipFill>
        <p:spPr>
          <a:xfrm>
            <a:off x="1782763" y="1264555"/>
            <a:ext cx="4313237" cy="2887225"/>
          </a:xfrm>
          <a:prstGeom prst="rect">
            <a:avLst/>
          </a:prstGeom>
        </p:spPr>
      </p:pic>
      <p:pic>
        <p:nvPicPr>
          <p:cNvPr id="9" name="Content Placeholder 8">
            <a:extLst>
              <a:ext uri="{FF2B5EF4-FFF2-40B4-BE49-F238E27FC236}">
                <a16:creationId xmlns:a16="http://schemas.microsoft.com/office/drawing/2014/main" id="{5E783938-574E-6F6B-1D5D-860271FE1D52}"/>
              </a:ext>
            </a:extLst>
          </p:cNvPr>
          <p:cNvPicPr>
            <a:picLocks noGrp="1" noChangeAspect="1"/>
          </p:cNvPicPr>
          <p:nvPr>
            <p:ph sz="half" idx="2"/>
          </p:nvPr>
        </p:nvPicPr>
        <p:blipFill>
          <a:blip r:embed="rId4"/>
          <a:stretch>
            <a:fillRect/>
          </a:stretch>
        </p:blipFill>
        <p:spPr>
          <a:xfrm>
            <a:off x="7191373" y="1329175"/>
            <a:ext cx="4313238" cy="2887225"/>
          </a:xfrm>
          <a:prstGeom prst="rect">
            <a:avLst/>
          </a:prstGeom>
        </p:spPr>
      </p:pic>
      <p:sp>
        <p:nvSpPr>
          <p:cNvPr id="7" name="TextBox 6">
            <a:extLst>
              <a:ext uri="{FF2B5EF4-FFF2-40B4-BE49-F238E27FC236}">
                <a16:creationId xmlns:a16="http://schemas.microsoft.com/office/drawing/2014/main" id="{BEFACFD3-3E3D-FC86-91F7-A8515BD46065}"/>
              </a:ext>
            </a:extLst>
          </p:cNvPr>
          <p:cNvSpPr txBox="1"/>
          <p:nvPr/>
        </p:nvSpPr>
        <p:spPr>
          <a:xfrm>
            <a:off x="1734207" y="4216400"/>
            <a:ext cx="4361793" cy="1477328"/>
          </a:xfrm>
          <a:prstGeom prst="rect">
            <a:avLst/>
          </a:prstGeom>
          <a:noFill/>
        </p:spPr>
        <p:txBody>
          <a:bodyPr wrap="square" rtlCol="0">
            <a:spAutoFit/>
          </a:bodyPr>
          <a:lstStyle/>
          <a:p>
            <a:r>
              <a:rPr lang="en-US" b="1" dirty="0"/>
              <a:t>Held-Out Test Results</a:t>
            </a:r>
          </a:p>
          <a:p>
            <a:pPr marL="285750" indent="-285750">
              <a:buFont typeface="Arial" panose="020B0604020202020204" pitchFamily="34" charset="0"/>
              <a:buChar char="•"/>
            </a:pPr>
            <a:r>
              <a:rPr lang="en-US" sz="1200" dirty="0"/>
              <a:t>61 test articles</a:t>
            </a:r>
          </a:p>
          <a:p>
            <a:pPr marL="285750" indent="-285750">
              <a:buFont typeface="Arial" panose="020B0604020202020204" pitchFamily="34" charset="0"/>
              <a:buChar char="•"/>
            </a:pPr>
            <a:r>
              <a:rPr lang="en-US" sz="1200" dirty="0"/>
              <a:t>21 misclassified reviews</a:t>
            </a:r>
          </a:p>
          <a:p>
            <a:pPr marL="285750" indent="-285750">
              <a:buFont typeface="Arial" panose="020B0604020202020204" pitchFamily="34" charset="0"/>
              <a:buChar char="•"/>
            </a:pPr>
            <a:r>
              <a:rPr lang="en-US" sz="1200" dirty="0"/>
              <a:t>Most errors occurred when Positive reviews were classified as Not Positive, reflecting the difficulty of separating mixed sentiment from clearly positive reviews.</a:t>
            </a:r>
          </a:p>
        </p:txBody>
      </p:sp>
      <p:sp>
        <p:nvSpPr>
          <p:cNvPr id="10" name="TextBox 9">
            <a:extLst>
              <a:ext uri="{FF2B5EF4-FFF2-40B4-BE49-F238E27FC236}">
                <a16:creationId xmlns:a16="http://schemas.microsoft.com/office/drawing/2014/main" id="{F0A84965-E860-6639-4967-F279C8FCE4CA}"/>
              </a:ext>
            </a:extLst>
          </p:cNvPr>
          <p:cNvSpPr txBox="1"/>
          <p:nvPr/>
        </p:nvSpPr>
        <p:spPr>
          <a:xfrm>
            <a:off x="7048767" y="4216400"/>
            <a:ext cx="4455844" cy="2092881"/>
          </a:xfrm>
          <a:prstGeom prst="rect">
            <a:avLst/>
          </a:prstGeom>
          <a:noFill/>
        </p:spPr>
        <p:txBody>
          <a:bodyPr wrap="square" rtlCol="0">
            <a:spAutoFit/>
          </a:bodyPr>
          <a:lstStyle/>
          <a:p>
            <a:r>
              <a:rPr lang="en-US" b="1" dirty="0"/>
              <a:t>Key Observations</a:t>
            </a:r>
          </a:p>
          <a:p>
            <a:pPr marL="285750" indent="-285750">
              <a:buFont typeface="Arial" panose="020B0604020202020204" pitchFamily="34" charset="0"/>
              <a:buChar char="•"/>
            </a:pPr>
            <a:r>
              <a:rPr lang="en-US" sz="1400" dirty="0"/>
              <a:t>Mixed reviews frequently contained both positive and critical language</a:t>
            </a:r>
          </a:p>
          <a:p>
            <a:pPr marL="285750" indent="-285750">
              <a:buFont typeface="Arial" panose="020B0604020202020204" pitchFamily="34" charset="0"/>
              <a:buChar char="•"/>
            </a:pPr>
            <a:r>
              <a:rPr lang="en-US" sz="1400" dirty="0"/>
              <a:t>Technical product vocabulary became predictive features</a:t>
            </a:r>
          </a:p>
          <a:p>
            <a:pPr marL="285750" indent="-285750">
              <a:buFont typeface="Arial" panose="020B0604020202020204" pitchFamily="34" charset="0"/>
              <a:buChar char="•"/>
            </a:pPr>
            <a:r>
              <a:rPr lang="en-US" sz="1400" dirty="0"/>
              <a:t>Small training dataset increased reliance on domain-specific words</a:t>
            </a:r>
          </a:p>
          <a:p>
            <a:pPr marL="285750" indent="-285750">
              <a:buFont typeface="Arial" panose="020B0604020202020204" pitchFamily="34" charset="0"/>
              <a:buChar char="•"/>
            </a:pPr>
            <a:r>
              <a:rPr lang="en-US" sz="1400" dirty="0"/>
              <a:t>Product-specific terminology limited overall interpretability</a:t>
            </a:r>
          </a:p>
        </p:txBody>
      </p:sp>
      <p:sp>
        <p:nvSpPr>
          <p:cNvPr id="11" name="TextBox 10">
            <a:extLst>
              <a:ext uri="{FF2B5EF4-FFF2-40B4-BE49-F238E27FC236}">
                <a16:creationId xmlns:a16="http://schemas.microsoft.com/office/drawing/2014/main" id="{439093E5-4505-1CAC-89FB-D4BAA9F80D66}"/>
              </a:ext>
            </a:extLst>
          </p:cNvPr>
          <p:cNvSpPr txBox="1"/>
          <p:nvPr/>
        </p:nvSpPr>
        <p:spPr>
          <a:xfrm>
            <a:off x="1734207" y="5693728"/>
            <a:ext cx="4361792" cy="954107"/>
          </a:xfrm>
          <a:prstGeom prst="rect">
            <a:avLst/>
          </a:prstGeom>
          <a:noFill/>
        </p:spPr>
        <p:txBody>
          <a:bodyPr wrap="square" rtlCol="0">
            <a:spAutoFit/>
          </a:bodyPr>
          <a:lstStyle/>
          <a:p>
            <a:r>
              <a:rPr lang="en-US" sz="1400" dirty="0"/>
              <a:t>Most misclassifications occurred in mixed reviews where positive product descriptions and meaningful criticism appeared within the same article, creating ambiguous sentiment signals.</a:t>
            </a:r>
          </a:p>
        </p:txBody>
      </p:sp>
    </p:spTree>
    <p:extLst>
      <p:ext uri="{BB962C8B-B14F-4D97-AF65-F5344CB8AC3E}">
        <p14:creationId xmlns:p14="http://schemas.microsoft.com/office/powerpoint/2010/main" val="5278932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A7E961-B089-297C-2F39-66FAB1792F0F}"/>
              </a:ext>
            </a:extLst>
          </p:cNvPr>
          <p:cNvSpPr>
            <a:spLocks noGrp="1"/>
          </p:cNvSpPr>
          <p:nvPr>
            <p:ph type="title"/>
          </p:nvPr>
        </p:nvSpPr>
        <p:spPr/>
        <p:txBody>
          <a:bodyPr/>
          <a:lstStyle/>
          <a:p>
            <a:r>
              <a:rPr lang="en-US" dirty="0"/>
              <a:t>Business &amp; Research Implications</a:t>
            </a:r>
          </a:p>
        </p:txBody>
      </p:sp>
      <p:sp>
        <p:nvSpPr>
          <p:cNvPr id="3" name="Content Placeholder 2">
            <a:extLst>
              <a:ext uri="{FF2B5EF4-FFF2-40B4-BE49-F238E27FC236}">
                <a16:creationId xmlns:a16="http://schemas.microsoft.com/office/drawing/2014/main" id="{C60E12E3-E088-0E79-B5CF-293582D10952}"/>
              </a:ext>
            </a:extLst>
          </p:cNvPr>
          <p:cNvSpPr>
            <a:spLocks noGrp="1"/>
          </p:cNvSpPr>
          <p:nvPr>
            <p:ph sz="half" idx="1"/>
          </p:nvPr>
        </p:nvSpPr>
        <p:spPr>
          <a:xfrm>
            <a:off x="2592924" y="1540189"/>
            <a:ext cx="4313864" cy="3777622"/>
          </a:xfrm>
        </p:spPr>
        <p:txBody>
          <a:bodyPr>
            <a:normAutofit fontScale="85000" lnSpcReduction="10000"/>
          </a:bodyPr>
          <a:lstStyle/>
          <a:p>
            <a:pPr marL="0" indent="0">
              <a:buNone/>
            </a:pPr>
            <a:r>
              <a:rPr lang="en-US" sz="2400" b="1" dirty="0"/>
              <a:t>Business Insights</a:t>
            </a:r>
          </a:p>
          <a:p>
            <a:r>
              <a:rPr lang="en-US" sz="1900" dirty="0"/>
              <a:t>Supervised learning more effectively captured domain-specific review language than general-purpose sentiment models.</a:t>
            </a:r>
          </a:p>
          <a:p>
            <a:r>
              <a:rPr lang="en-US" sz="1900" dirty="0"/>
              <a:t>Sentiment classification enables comparisons across brands, product categories, and review types.</a:t>
            </a:r>
          </a:p>
          <a:p>
            <a:pPr lvl="0"/>
            <a:r>
              <a:rPr lang="en-US" sz="1900" dirty="0"/>
              <a:t>Automated sentiment analysis provides a scalable alternative to manually reviewing long-form product articles. </a:t>
            </a:r>
          </a:p>
          <a:p>
            <a:pPr lvl="0"/>
            <a:r>
              <a:rPr lang="en-US" sz="1900" dirty="0"/>
              <a:t>Interpretable models help explain </a:t>
            </a:r>
            <a:r>
              <a:rPr lang="en-US" sz="1900" i="1" dirty="0"/>
              <a:t>why</a:t>
            </a:r>
            <a:r>
              <a:rPr lang="en-US" sz="1900" dirty="0"/>
              <a:t> sentiment differs across products. </a:t>
            </a:r>
          </a:p>
        </p:txBody>
      </p:sp>
      <p:sp>
        <p:nvSpPr>
          <p:cNvPr id="4" name="Content Placeholder 3">
            <a:extLst>
              <a:ext uri="{FF2B5EF4-FFF2-40B4-BE49-F238E27FC236}">
                <a16:creationId xmlns:a16="http://schemas.microsoft.com/office/drawing/2014/main" id="{E1D89497-0ACA-DABB-891E-FB926F4C9F3B}"/>
              </a:ext>
            </a:extLst>
          </p:cNvPr>
          <p:cNvSpPr>
            <a:spLocks noGrp="1"/>
          </p:cNvSpPr>
          <p:nvPr>
            <p:ph sz="half" idx="2"/>
          </p:nvPr>
        </p:nvSpPr>
        <p:spPr>
          <a:xfrm>
            <a:off x="7190747" y="1540189"/>
            <a:ext cx="4313864" cy="3777622"/>
          </a:xfrm>
        </p:spPr>
        <p:txBody>
          <a:bodyPr>
            <a:normAutofit fontScale="85000" lnSpcReduction="10000"/>
          </a:bodyPr>
          <a:lstStyle/>
          <a:p>
            <a:pPr marL="0" indent="0">
              <a:buNone/>
            </a:pPr>
            <a:r>
              <a:rPr lang="en-US" sz="2400" b="1" dirty="0"/>
              <a:t>Research Insights</a:t>
            </a:r>
          </a:p>
          <a:p>
            <a:pPr lvl="0"/>
            <a:r>
              <a:rPr lang="en-US" sz="1900" dirty="0"/>
              <a:t>Generic sentiment models transferred poorly to long-form technical reviews. </a:t>
            </a:r>
          </a:p>
          <a:p>
            <a:pPr lvl="0"/>
            <a:r>
              <a:rPr lang="en-US" sz="1900" dirty="0"/>
              <a:t>Manual labeling enabled effective supervised model training.</a:t>
            </a:r>
          </a:p>
          <a:p>
            <a:pPr lvl="0"/>
            <a:r>
              <a:rPr lang="en-US" sz="1900" dirty="0"/>
              <a:t>Class imbalance and limited labeled data constrained predictive performance. </a:t>
            </a:r>
          </a:p>
          <a:p>
            <a:pPr lvl="0"/>
            <a:r>
              <a:rPr lang="en-US" sz="1900" dirty="0"/>
              <a:t>Domain-specific transformer fine-tuning remains a promising future direction. </a:t>
            </a:r>
          </a:p>
        </p:txBody>
      </p:sp>
      <p:sp>
        <p:nvSpPr>
          <p:cNvPr id="5" name="TextBox 4">
            <a:extLst>
              <a:ext uri="{FF2B5EF4-FFF2-40B4-BE49-F238E27FC236}">
                <a16:creationId xmlns:a16="http://schemas.microsoft.com/office/drawing/2014/main" id="{1739ABD5-71E8-35EF-BA42-050F0C5502FE}"/>
              </a:ext>
            </a:extLst>
          </p:cNvPr>
          <p:cNvSpPr txBox="1"/>
          <p:nvPr/>
        </p:nvSpPr>
        <p:spPr>
          <a:xfrm>
            <a:off x="2590799" y="5473700"/>
            <a:ext cx="8911687" cy="738664"/>
          </a:xfrm>
          <a:prstGeom prst="rect">
            <a:avLst/>
          </a:prstGeom>
          <a:noFill/>
        </p:spPr>
        <p:txBody>
          <a:bodyPr wrap="square" rtlCol="0">
            <a:spAutoFit/>
          </a:bodyPr>
          <a:lstStyle/>
          <a:p>
            <a:r>
              <a:rPr lang="en-US" sz="1400" b="1" dirty="0"/>
              <a:t>Key Takeaway</a:t>
            </a:r>
          </a:p>
          <a:p>
            <a:r>
              <a:rPr lang="en-US" sz="1400" dirty="0"/>
              <a:t>The results demonstrate that domain-specific supervised learning provides more actionable sentiment insights than general-purpose NLP methods for technical mountain bike product reviews.</a:t>
            </a:r>
          </a:p>
        </p:txBody>
      </p:sp>
    </p:spTree>
    <p:extLst>
      <p:ext uri="{BB962C8B-B14F-4D97-AF65-F5344CB8AC3E}">
        <p14:creationId xmlns:p14="http://schemas.microsoft.com/office/powerpoint/2010/main" val="148536854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E1313C-037E-384F-A885-30238F323A65}"/>
              </a:ext>
            </a:extLst>
          </p:cNvPr>
          <p:cNvSpPr>
            <a:spLocks noGrp="1"/>
          </p:cNvSpPr>
          <p:nvPr>
            <p:ph type="title"/>
          </p:nvPr>
        </p:nvSpPr>
        <p:spPr/>
        <p:txBody>
          <a:bodyPr/>
          <a:lstStyle/>
          <a:p>
            <a:r>
              <a:rPr lang="en-US" dirty="0"/>
              <a:t>Conclusions &amp; Next Steps</a:t>
            </a:r>
          </a:p>
        </p:txBody>
      </p:sp>
      <p:sp>
        <p:nvSpPr>
          <p:cNvPr id="3" name="Content Placeholder 2">
            <a:extLst>
              <a:ext uri="{FF2B5EF4-FFF2-40B4-BE49-F238E27FC236}">
                <a16:creationId xmlns:a16="http://schemas.microsoft.com/office/drawing/2014/main" id="{4D423B33-A304-8A6C-6772-FFC1A32195C8}"/>
              </a:ext>
            </a:extLst>
          </p:cNvPr>
          <p:cNvSpPr>
            <a:spLocks noGrp="1"/>
          </p:cNvSpPr>
          <p:nvPr>
            <p:ph sz="half" idx="1"/>
          </p:nvPr>
        </p:nvSpPr>
        <p:spPr/>
        <p:txBody>
          <a:bodyPr>
            <a:normAutofit fontScale="70000" lnSpcReduction="20000"/>
          </a:bodyPr>
          <a:lstStyle/>
          <a:p>
            <a:pPr marL="0" indent="0">
              <a:buNone/>
            </a:pPr>
            <a:r>
              <a:rPr lang="en-US" sz="2400" b="1" dirty="0"/>
              <a:t>Conclusions</a:t>
            </a:r>
          </a:p>
          <a:p>
            <a:pPr lvl="0"/>
            <a:r>
              <a:rPr lang="en-US" sz="2100" dirty="0"/>
              <a:t>Three sentiment-analysis approaches were successfully developed and evaluated using a common validation framework. </a:t>
            </a:r>
          </a:p>
          <a:p>
            <a:pPr lvl="0"/>
            <a:r>
              <a:rPr lang="en-US" sz="2100" dirty="0"/>
              <a:t>TF-IDF + Logistic Regression achieved the strongest balanced performance, outperforming both baseline approaches on Balanced Accuracy, Macro F1, and ROC AUC. </a:t>
            </a:r>
          </a:p>
          <a:p>
            <a:pPr lvl="0"/>
            <a:r>
              <a:rPr lang="en-US" sz="2100" dirty="0"/>
              <a:t>Manual labeling enabled supervised learning tailored to long-form technical mountain bike reviews. </a:t>
            </a:r>
          </a:p>
          <a:p>
            <a:pPr lvl="0"/>
            <a:r>
              <a:rPr lang="en-US" sz="2100" dirty="0"/>
              <a:t>Model interpretation and error analysis identified opportunities to improve future sentiment classification.</a:t>
            </a:r>
          </a:p>
        </p:txBody>
      </p:sp>
      <p:sp>
        <p:nvSpPr>
          <p:cNvPr id="4" name="Content Placeholder 3">
            <a:extLst>
              <a:ext uri="{FF2B5EF4-FFF2-40B4-BE49-F238E27FC236}">
                <a16:creationId xmlns:a16="http://schemas.microsoft.com/office/drawing/2014/main" id="{6A7FAA5F-A11D-D945-8068-4E35730848B0}"/>
              </a:ext>
            </a:extLst>
          </p:cNvPr>
          <p:cNvSpPr>
            <a:spLocks noGrp="1"/>
          </p:cNvSpPr>
          <p:nvPr>
            <p:ph sz="half" idx="2"/>
          </p:nvPr>
        </p:nvSpPr>
        <p:spPr/>
        <p:txBody>
          <a:bodyPr>
            <a:normAutofit fontScale="70000" lnSpcReduction="20000"/>
          </a:bodyPr>
          <a:lstStyle/>
          <a:p>
            <a:pPr marL="0" indent="0">
              <a:buNone/>
            </a:pPr>
            <a:r>
              <a:rPr lang="en-US" sz="2400" b="1" dirty="0"/>
              <a:t>Next Step</a:t>
            </a:r>
          </a:p>
          <a:p>
            <a:pPr lvl="0"/>
            <a:r>
              <a:rPr lang="en-US" sz="2300" dirty="0"/>
              <a:t>Expand the manually labeled review dataset to improve model generalization. </a:t>
            </a:r>
          </a:p>
          <a:p>
            <a:pPr lvl="0"/>
            <a:r>
              <a:rPr lang="en-US" sz="2300" dirty="0"/>
              <a:t>Evaluate domain-specific transformer fine-tuning using the expanded dataset. </a:t>
            </a:r>
          </a:p>
          <a:p>
            <a:pPr lvl="0"/>
            <a:r>
              <a:rPr lang="en-US" sz="2300" dirty="0"/>
              <a:t>Apply the final sentiment model to compare brands, product categories, and review types. </a:t>
            </a:r>
          </a:p>
          <a:p>
            <a:pPr lvl="0"/>
            <a:r>
              <a:rPr lang="en-US" sz="2300" dirty="0"/>
              <a:t>Integrate sentiment predictions into exploratory business reporting and visualization.</a:t>
            </a:r>
          </a:p>
        </p:txBody>
      </p:sp>
      <p:sp>
        <p:nvSpPr>
          <p:cNvPr id="5" name="TextBox 4">
            <a:extLst>
              <a:ext uri="{FF2B5EF4-FFF2-40B4-BE49-F238E27FC236}">
                <a16:creationId xmlns:a16="http://schemas.microsoft.com/office/drawing/2014/main" id="{D757CB02-C723-5345-648E-B62552A92F1A}"/>
              </a:ext>
            </a:extLst>
          </p:cNvPr>
          <p:cNvSpPr txBox="1"/>
          <p:nvPr/>
        </p:nvSpPr>
        <p:spPr>
          <a:xfrm>
            <a:off x="2589213" y="5903844"/>
            <a:ext cx="8911688" cy="523220"/>
          </a:xfrm>
          <a:prstGeom prst="rect">
            <a:avLst/>
          </a:prstGeom>
          <a:noFill/>
        </p:spPr>
        <p:txBody>
          <a:bodyPr wrap="square" rtlCol="0">
            <a:spAutoFit/>
          </a:bodyPr>
          <a:lstStyle/>
          <a:p>
            <a:r>
              <a:rPr lang="en-US" sz="1400" dirty="0"/>
              <a:t>This project demonstrates that domain-specific supervised learning provides an effective and interpretable framework for sentiment analysis of long-form technical mountain bike product reviews.</a:t>
            </a:r>
          </a:p>
        </p:txBody>
      </p:sp>
    </p:spTree>
    <p:extLst>
      <p:ext uri="{BB962C8B-B14F-4D97-AF65-F5344CB8AC3E}">
        <p14:creationId xmlns:p14="http://schemas.microsoft.com/office/powerpoint/2010/main" val="2812389693"/>
      </p:ext>
    </p:extLst>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Wisp</Template>
  <TotalTime>585</TotalTime>
  <Words>2793</Words>
  <Application>Microsoft Macintosh PowerPoint</Application>
  <PresentationFormat>Widescreen</PresentationFormat>
  <Paragraphs>211</Paragraphs>
  <Slides>10</Slides>
  <Notes>10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Aptos</vt:lpstr>
      <vt:lpstr>Arial</vt:lpstr>
      <vt:lpstr>Century Gothic</vt:lpstr>
      <vt:lpstr>Wingdings 3</vt:lpstr>
      <vt:lpstr>Wisp</vt:lpstr>
      <vt:lpstr>Sentiment Intelligence for Mountain Bike Product Reviews: Model Building and Evaluation</vt:lpstr>
      <vt:lpstr>Model Strategy &amp; Evaluation Framework</vt:lpstr>
      <vt:lpstr>Model Selection</vt:lpstr>
      <vt:lpstr>Baseline model Comparison</vt:lpstr>
      <vt:lpstr>Supervised model Development</vt:lpstr>
      <vt:lpstr>Hyperparameter Tuning &amp; Cross-Validation</vt:lpstr>
      <vt:lpstr>Model Performance Evaluation</vt:lpstr>
      <vt:lpstr>Error Analysis &amp; Model Interpretability</vt:lpstr>
      <vt:lpstr>Business &amp; Research Implications</vt:lpstr>
      <vt:lpstr>Conclusions &amp; Next Steps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Austin Engstrom</dc:creator>
  <cp:lastModifiedBy>Austin Engstrom</cp:lastModifiedBy>
  <cp:revision>15</cp:revision>
  <dcterms:created xsi:type="dcterms:W3CDTF">2026-06-19T12:15:19Z</dcterms:created>
  <dcterms:modified xsi:type="dcterms:W3CDTF">2026-07-15T21:58:01Z</dcterms:modified>
</cp:coreProperties>
</file>